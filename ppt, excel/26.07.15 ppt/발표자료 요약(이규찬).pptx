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68" r:id="rId2"/>
    <p:sldId id="269" r:id="rId3"/>
  </p:sldIdLst>
  <p:sldSz cx="12192000" cy="6858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Poppins Black" panose="020B0600000101010101" charset="0"/>
      <p:bold r:id="rId9"/>
      <p:boldItalic r:id="rId10"/>
    </p:embeddedFont>
    <p:embeddedFont>
      <p:font typeface="나눔스퀘어_ac Bold" panose="020B0600000101010101" pitchFamily="50" charset="-127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D3E8FD"/>
    <a:srgbClr val="FFFFFF"/>
    <a:srgbClr val="CAE2F7"/>
    <a:srgbClr val="25A7FF"/>
    <a:srgbClr val="F4F9FE"/>
    <a:srgbClr val="F7FCFF"/>
    <a:srgbClr val="FBFBFB"/>
    <a:srgbClr val="5CBEFF"/>
    <a:srgbClr val="F8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77" autoAdjust="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4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4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40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93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06641" y="1365795"/>
            <a:ext cx="10970515" cy="4813063"/>
            <a:chOff x="557784" y="1482771"/>
            <a:chExt cx="11073384" cy="5058561"/>
          </a:xfrm>
        </p:grpSpPr>
        <p:sp>
          <p:nvSpPr>
            <p:cNvPr id="126" name="Shape 87"/>
            <p:cNvSpPr/>
            <p:nvPr/>
          </p:nvSpPr>
          <p:spPr>
            <a:xfrm>
              <a:off x="6217920" y="4419924"/>
              <a:ext cx="5413248" cy="2121408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104" name="Shape 35"/>
            <p:cNvSpPr/>
            <p:nvPr/>
          </p:nvSpPr>
          <p:spPr>
            <a:xfrm>
              <a:off x="557784" y="1917389"/>
              <a:ext cx="5404104" cy="2386585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9" name="Text 8"/>
            <p:cNvSpPr/>
            <p:nvPr/>
          </p:nvSpPr>
          <p:spPr>
            <a:xfrm>
              <a:off x="987552" y="1971676"/>
              <a:ext cx="4450560" cy="791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altLang="ko-KR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1</a:t>
              </a:r>
              <a:r>
                <a:rPr lang="en-US" altLang="ko-KR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. </a:t>
              </a:r>
              <a:r>
                <a:rPr lang="ko-KR" altLang="en-US" sz="1600" b="1" dirty="0" err="1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하이브리드</a:t>
              </a:r>
              <a:r>
                <a:rPr lang="ko-KR" altLang="en-US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 </a:t>
              </a:r>
              <a:r>
                <a:rPr lang="ko-KR" altLang="en-US" sz="1600" b="1" dirty="0" err="1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관제망</a:t>
              </a:r>
              <a:r>
                <a:rPr lang="ko-KR" alt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 구축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" name="Text 11"/>
            <p:cNvSpPr/>
            <p:nvPr/>
          </p:nvSpPr>
          <p:spPr>
            <a:xfrm>
              <a:off x="987552" y="2666619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" name="Text 15"/>
            <p:cNvSpPr/>
            <p:nvPr/>
          </p:nvSpPr>
          <p:spPr>
            <a:xfrm>
              <a:off x="987552" y="3233547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8" name="Text 17"/>
            <p:cNvSpPr/>
            <p:nvPr/>
          </p:nvSpPr>
          <p:spPr>
            <a:xfrm>
              <a:off x="987552" y="3517011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0" name="Text 19"/>
            <p:cNvSpPr/>
            <p:nvPr/>
          </p:nvSpPr>
          <p:spPr>
            <a:xfrm>
              <a:off x="987552" y="3800475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3" name="Text 22"/>
            <p:cNvSpPr/>
            <p:nvPr/>
          </p:nvSpPr>
          <p:spPr>
            <a:xfrm>
              <a:off x="3662172" y="2058543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5" name="Text 34"/>
            <p:cNvSpPr/>
            <p:nvPr/>
          </p:nvSpPr>
          <p:spPr>
            <a:xfrm>
              <a:off x="3794760" y="3800475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0" name="Text 89"/>
            <p:cNvSpPr/>
            <p:nvPr/>
          </p:nvSpPr>
          <p:spPr>
            <a:xfrm>
              <a:off x="6469380" y="4682871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1" name="Text 90"/>
            <p:cNvSpPr/>
            <p:nvPr/>
          </p:nvSpPr>
          <p:spPr>
            <a:xfrm>
              <a:off x="6647688" y="4754845"/>
              <a:ext cx="454456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altLang="ko-KR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4</a:t>
              </a:r>
              <a:r>
                <a:rPr lang="en-US" altLang="ko-KR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. </a:t>
              </a:r>
              <a:r>
                <a:rPr lang="ko-KR" altLang="en-US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통합 </a:t>
              </a:r>
              <a:r>
                <a:rPr lang="ko-KR" alt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데이터 관리 체계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4" name="Text 93"/>
            <p:cNvSpPr/>
            <p:nvPr/>
          </p:nvSpPr>
          <p:spPr>
            <a:xfrm>
              <a:off x="6601968" y="5272659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6" name="Text 95"/>
            <p:cNvSpPr/>
            <p:nvPr/>
          </p:nvSpPr>
          <p:spPr>
            <a:xfrm>
              <a:off x="6601968" y="5601843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8" name="Text 97"/>
            <p:cNvSpPr/>
            <p:nvPr/>
          </p:nvSpPr>
          <p:spPr>
            <a:xfrm>
              <a:off x="6601968" y="5931027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0" name="Text 99"/>
            <p:cNvSpPr/>
            <p:nvPr/>
          </p:nvSpPr>
          <p:spPr>
            <a:xfrm>
              <a:off x="9281160" y="5272659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2" name="Text 101"/>
            <p:cNvSpPr/>
            <p:nvPr/>
          </p:nvSpPr>
          <p:spPr>
            <a:xfrm>
              <a:off x="9281160" y="5601843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54964" y="2825807"/>
              <a:ext cx="3486852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고정형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CCTV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와 이동형 </a:t>
              </a:r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드론을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결합하여</a:t>
              </a:r>
              <a:endPara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감시 사각지대를 완전히 해소</a:t>
              </a:r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지상과 공중의 영상을 통합하여 입체적인 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실시간</a:t>
              </a:r>
              <a:endPara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관제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환경 구현</a:t>
              </a:r>
            </a:p>
          </p:txBody>
        </p:sp>
        <p:sp>
          <p:nvSpPr>
            <p:cNvPr id="110" name="Shape 35"/>
            <p:cNvSpPr/>
            <p:nvPr/>
          </p:nvSpPr>
          <p:spPr>
            <a:xfrm>
              <a:off x="6217920" y="1917389"/>
              <a:ext cx="5404104" cy="2386585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111" name="Text 8"/>
            <p:cNvSpPr/>
            <p:nvPr/>
          </p:nvSpPr>
          <p:spPr>
            <a:xfrm>
              <a:off x="6601968" y="1984389"/>
              <a:ext cx="4450560" cy="791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altLang="ko-KR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2</a:t>
              </a:r>
              <a:r>
                <a:rPr lang="en-US" altLang="ko-KR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. AI </a:t>
              </a:r>
              <a:r>
                <a:rPr lang="ko-KR" alt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기반 자동 식별 프로세스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515100" y="2816476"/>
              <a:ext cx="4771906" cy="1002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딥러닝</a:t>
              </a:r>
              <a:r>
                <a:rPr lang="en-US" altLang="ko-KR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(CNN)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알고리즘이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영상 속 객체를 실시간으로 탐지 및 분석</a:t>
              </a:r>
            </a:p>
            <a:p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등록된 데이터와 실시간 얼굴 대조를 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통해</a:t>
              </a:r>
              <a:endPara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특정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대상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실종자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수배자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즉시 판별</a:t>
              </a:r>
            </a:p>
          </p:txBody>
        </p:sp>
        <p:cxnSp>
          <p:nvCxnSpPr>
            <p:cNvPr id="116" name="직선 연결선 115"/>
            <p:cNvCxnSpPr/>
            <p:nvPr/>
          </p:nvCxnSpPr>
          <p:spPr>
            <a:xfrm>
              <a:off x="854964" y="2679145"/>
              <a:ext cx="4794274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/>
            <p:cNvCxnSpPr/>
            <p:nvPr/>
          </p:nvCxnSpPr>
          <p:spPr>
            <a:xfrm>
              <a:off x="6493752" y="2668707"/>
              <a:ext cx="4794274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Shape 87"/>
            <p:cNvSpPr/>
            <p:nvPr/>
          </p:nvSpPr>
          <p:spPr>
            <a:xfrm>
              <a:off x="566928" y="4419924"/>
              <a:ext cx="5413248" cy="2121408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119" name="Text 89"/>
            <p:cNvSpPr/>
            <p:nvPr/>
          </p:nvSpPr>
          <p:spPr>
            <a:xfrm>
              <a:off x="827532" y="4671384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0" name="Text 90"/>
            <p:cNvSpPr/>
            <p:nvPr/>
          </p:nvSpPr>
          <p:spPr>
            <a:xfrm>
              <a:off x="1024128" y="4753680"/>
              <a:ext cx="454456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altLang="ko-KR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3</a:t>
              </a:r>
              <a:r>
                <a:rPr lang="en-US" altLang="ko-KR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. GIS </a:t>
              </a:r>
              <a:r>
                <a:rPr lang="ko-KR" alt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기반 이동 동선 추적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1" name="Text 93"/>
            <p:cNvSpPr/>
            <p:nvPr/>
          </p:nvSpPr>
          <p:spPr>
            <a:xfrm>
              <a:off x="960120" y="5261172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2" name="Text 95"/>
            <p:cNvSpPr/>
            <p:nvPr/>
          </p:nvSpPr>
          <p:spPr>
            <a:xfrm>
              <a:off x="960120" y="5590356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3" name="Text 97"/>
            <p:cNvSpPr/>
            <p:nvPr/>
          </p:nvSpPr>
          <p:spPr>
            <a:xfrm>
              <a:off x="960120" y="5919540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54964" y="5281622"/>
              <a:ext cx="483717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단순 영상 송출을 넘어 지리정보시스템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(GIS)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과 연동</a:t>
              </a:r>
            </a:p>
            <a:p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지도상에 탐지 대상의 이동 경로를 시각화하여 도주 및 이동 방향 신속 파악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493752" y="5281622"/>
              <a:ext cx="349647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이벤트 발생 시 실시간 알림 서비스 제공</a:t>
              </a:r>
            </a:p>
            <a:p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모든 탐지 상황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시간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장소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신원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의 자동 기록 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및</a:t>
              </a:r>
              <a:endPara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400" dirty="0" err="1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데이터화로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실무 </a:t>
              </a:r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활용성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극대화</a:t>
              </a:r>
            </a:p>
          </p:txBody>
        </p:sp>
        <p:cxnSp>
          <p:nvCxnSpPr>
            <p:cNvPr id="128" name="직선 연결선 127"/>
            <p:cNvCxnSpPr/>
            <p:nvPr/>
          </p:nvCxnSpPr>
          <p:spPr>
            <a:xfrm>
              <a:off x="850392" y="5192337"/>
              <a:ext cx="4794274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>
              <a:off x="6522835" y="5192337"/>
              <a:ext cx="4794274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Shape 35"/>
            <p:cNvSpPr/>
            <p:nvPr/>
          </p:nvSpPr>
          <p:spPr>
            <a:xfrm>
              <a:off x="571500" y="1482771"/>
              <a:ext cx="11050524" cy="339285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131" name="TextBox 130"/>
            <p:cNvSpPr txBox="1"/>
            <p:nvPr/>
          </p:nvSpPr>
          <p:spPr>
            <a:xfrm>
              <a:off x="740664" y="1509052"/>
              <a:ext cx="9137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프로젝트 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컨셉 </a:t>
              </a:r>
              <a:r>
                <a:rPr lang="en-US" altLang="ko-KR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"</a:t>
              </a:r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드론과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CCTV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를 연결하고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AI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 실시간으로 탐지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식별하여 신속한 대응을 지원하는 스마트 통합 관제 시스템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"</a:t>
              </a:r>
              <a:r>
                <a:rPr lang="ko-KR" altLang="en-US" sz="1400" dirty="0" smtClean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 </a:t>
              </a:r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87822" y="1108478"/>
            <a:ext cx="10648950" cy="9525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1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구현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421989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615249" y="1365076"/>
            <a:ext cx="10970514" cy="4811135"/>
            <a:chOff x="594360" y="1664208"/>
            <a:chExt cx="11027664" cy="4745736"/>
          </a:xfrm>
        </p:grpSpPr>
        <p:sp>
          <p:nvSpPr>
            <p:cNvPr id="7" name="Shape 5"/>
            <p:cNvSpPr/>
            <p:nvPr/>
          </p:nvSpPr>
          <p:spPr>
            <a:xfrm>
              <a:off x="594360" y="1664208"/>
              <a:ext cx="2606040" cy="2395728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822960" y="189280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854964" y="1915668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＋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52728" y="1874520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1. 회원가입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822960" y="2304288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822960" y="263804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987552" y="252374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회원가입 기능 구현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822960" y="292150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987552" y="280720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아이디 중복 검사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822960" y="3204972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987552" y="3090672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비밀번호 유효성 검사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822960" y="348843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87552" y="337413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이메일·전화번호 형식 검사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822960" y="3771900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987552" y="3657600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관리자 승인 후 로그인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3401568" y="1664208"/>
              <a:ext cx="2606040" cy="2395728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3630168" y="189280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662172" y="1915668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⚙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4059936" y="1874520"/>
              <a:ext cx="193852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2. 회원 관리 시스템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3630168" y="2304288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630168" y="263804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794760" y="252374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관리자 승인 시스템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3630168" y="292150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794760" y="280720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관리자 / 사용자 권한 분리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630168" y="3204972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3794760" y="3090672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로그인 실패 횟수 관리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630168" y="348843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3794760" y="337413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CAPTCHA 적용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3630168" y="3771900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794760" y="3657600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반복 실패 시 계정 비활성화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208776" y="1664208"/>
              <a:ext cx="2606040" cy="2395728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6437376" y="189280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469380" y="1915668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▣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867144" y="1874520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3. AI 객체 탐지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437376" y="2304288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437376" y="263804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6601968" y="252374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YOLO 기반 실시간 탐지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437376" y="293979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6601968" y="282549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사람 객체 탐지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6437376" y="324154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6601968" y="312724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Bounding Box 표시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6437376" y="3543300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601968" y="3429000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Flask 영상 스트리밍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9015984" y="1664208"/>
              <a:ext cx="2606040" cy="2395728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51" name="Shape 49"/>
            <p:cNvSpPr/>
            <p:nvPr/>
          </p:nvSpPr>
          <p:spPr>
            <a:xfrm>
              <a:off x="9244584" y="189280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9276588" y="1915668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◎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9674352" y="1874520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4. 얼굴 인식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9244584" y="2304288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9244584" y="263804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9409176" y="252374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InsightFace 기반 인식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9244584" y="293979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9409176" y="282549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얼굴 특징 추출 및 비교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9244584" y="324154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9409176" y="312724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실종자·수배자 식별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9244584" y="3543300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9409176" y="3429000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이벤트 자동 생성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594360" y="4288536"/>
              <a:ext cx="2606040" cy="2121408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64" name="Shape 62"/>
            <p:cNvSpPr/>
            <p:nvPr/>
          </p:nvSpPr>
          <p:spPr>
            <a:xfrm>
              <a:off x="822960" y="451713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854964" y="4539996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◷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1252728" y="4498848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5. </a:t>
              </a:r>
              <a:r>
                <a:rPr lang="ko-KR" altLang="en-US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리드 </a:t>
              </a:r>
              <a:r>
                <a:rPr lang="ko-KR" altLang="en-US" sz="1600" b="1" dirty="0" err="1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히스토리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822960" y="4928616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822960" y="5262372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987552" y="5148072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이벤트 로그 열람 이력 관리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822960" y="556412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987552" y="544982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사용자 ID 기록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2" name="Shape 70"/>
            <p:cNvSpPr/>
            <p:nvPr/>
          </p:nvSpPr>
          <p:spPr>
            <a:xfrm>
              <a:off x="822960" y="586587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987552" y="575157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열람 시간 기록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822960" y="616762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987552" y="605332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조회 추적 시스템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3401568" y="4288536"/>
              <a:ext cx="2606040" cy="2121408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77" name="Shape 75"/>
            <p:cNvSpPr/>
            <p:nvPr/>
          </p:nvSpPr>
          <p:spPr>
            <a:xfrm>
              <a:off x="3630168" y="451713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3662172" y="4539996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☑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9" name="Text 77"/>
            <p:cNvSpPr/>
            <p:nvPr/>
          </p:nvSpPr>
          <p:spPr>
            <a:xfrm>
              <a:off x="4059936" y="4498848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6. </a:t>
              </a:r>
              <a:r>
                <a:rPr lang="ko-KR" altLang="en-US" sz="1600" b="1" dirty="0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탐지</a:t>
              </a:r>
              <a:r>
                <a:rPr lang="en-US" altLang="ko-KR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 </a:t>
              </a:r>
              <a:r>
                <a:rPr lang="ko-KR" altLang="en-US" sz="1600" b="1" dirty="0" err="1" smtClean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히스토리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0" name="Shape 78"/>
            <p:cNvSpPr/>
            <p:nvPr/>
          </p:nvSpPr>
          <p:spPr>
            <a:xfrm>
              <a:off x="3630168" y="4928616"/>
              <a:ext cx="2148840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81" name="Shape 79"/>
            <p:cNvSpPr/>
            <p:nvPr/>
          </p:nvSpPr>
          <p:spPr>
            <a:xfrm>
              <a:off x="3630168" y="5262372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3794760" y="5148072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탐지 이벤트 기록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3630168" y="556412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3794760" y="5449824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탐지 시간 저장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5" name="Shape 83"/>
            <p:cNvSpPr/>
            <p:nvPr/>
          </p:nvSpPr>
          <p:spPr>
            <a:xfrm>
              <a:off x="3630168" y="5865876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3794760" y="5751576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탐지 대상 정보 저장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7" name="Shape 85"/>
            <p:cNvSpPr/>
            <p:nvPr/>
          </p:nvSpPr>
          <p:spPr>
            <a:xfrm>
              <a:off x="3630168" y="616762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3794760" y="6053328"/>
              <a:ext cx="19842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이벤트 목록 조회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9" name="Shape 87"/>
            <p:cNvSpPr/>
            <p:nvPr/>
          </p:nvSpPr>
          <p:spPr>
            <a:xfrm>
              <a:off x="6208776" y="4288536"/>
              <a:ext cx="5413248" cy="2121408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2700">
              <a:solidFill>
                <a:srgbClr val="E7EAF1"/>
              </a:solidFill>
              <a:prstDash val="solid"/>
            </a:ln>
            <a:effectLst>
              <a:outerShdw blurRad="25400" dist="50800" dir="2700000" algn="bl" rotWithShape="0">
                <a:srgbClr val="9CA3AF">
                  <a:alpha val="12000"/>
                </a:srgbClr>
              </a:outerShdw>
            </a:effectLst>
          </p:spPr>
        </p:sp>
        <p:sp>
          <p:nvSpPr>
            <p:cNvPr id="90" name="Shape 88"/>
            <p:cNvSpPr/>
            <p:nvPr/>
          </p:nvSpPr>
          <p:spPr>
            <a:xfrm>
              <a:off x="6437376" y="451713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12700">
              <a:solidFill>
                <a:srgbClr val="F3F7FF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6469380" y="4539996"/>
              <a:ext cx="2286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B82F6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▣</a:t>
              </a:r>
              <a:endParaRPr 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2" name="Text 90"/>
            <p:cNvSpPr/>
            <p:nvPr/>
          </p:nvSpPr>
          <p:spPr>
            <a:xfrm>
              <a:off x="6867144" y="4498848"/>
              <a:ext cx="454456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7. 통합 관제 화면</a:t>
              </a:r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3" name="Shape 91"/>
            <p:cNvSpPr/>
            <p:nvPr/>
          </p:nvSpPr>
          <p:spPr>
            <a:xfrm>
              <a:off x="6437376" y="4928616"/>
              <a:ext cx="4956048" cy="0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6437376" y="524408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95" name="Text 93"/>
            <p:cNvSpPr/>
            <p:nvPr/>
          </p:nvSpPr>
          <p:spPr>
            <a:xfrm>
              <a:off x="6601968" y="5129784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실시간 영상 확인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6" name="Shape 94"/>
            <p:cNvSpPr/>
            <p:nvPr/>
          </p:nvSpPr>
          <p:spPr>
            <a:xfrm>
              <a:off x="6437376" y="557326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97" name="Text 95"/>
            <p:cNvSpPr/>
            <p:nvPr/>
          </p:nvSpPr>
          <p:spPr>
            <a:xfrm>
              <a:off x="6601968" y="5458968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탐지 대상 정보 확인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8" name="Shape 96"/>
            <p:cNvSpPr/>
            <p:nvPr/>
          </p:nvSpPr>
          <p:spPr>
            <a:xfrm>
              <a:off x="6437376" y="5902452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99" name="Text 97"/>
            <p:cNvSpPr/>
            <p:nvPr/>
          </p:nvSpPr>
          <p:spPr>
            <a:xfrm>
              <a:off x="6601968" y="5788152"/>
              <a:ext cx="222199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14306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하나의 화면에서 통합 관제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0" name="Shape 98"/>
            <p:cNvSpPr/>
            <p:nvPr/>
          </p:nvSpPr>
          <p:spPr>
            <a:xfrm>
              <a:off x="9116568" y="5244084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01" name="Text 99"/>
            <p:cNvSpPr/>
            <p:nvPr/>
          </p:nvSpPr>
          <p:spPr>
            <a:xfrm>
              <a:off x="9281160" y="5129784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AI 탐지 결과 표시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2" name="Shape 100"/>
            <p:cNvSpPr/>
            <p:nvPr/>
          </p:nvSpPr>
          <p:spPr>
            <a:xfrm>
              <a:off x="9116568" y="5573268"/>
              <a:ext cx="32004" cy="32004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103" name="Text 101"/>
            <p:cNvSpPr/>
            <p:nvPr/>
          </p:nvSpPr>
          <p:spPr>
            <a:xfrm>
              <a:off x="9281160" y="5458968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30" b="1" dirty="0">
                  <a:solidFill>
                    <a:srgbClr val="4B556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이벤트 정보 확인</a:t>
              </a:r>
              <a:endParaRPr lang="en-US" sz="123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07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구현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14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87822" y="1108478"/>
            <a:ext cx="10648950" cy="9525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459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296</Words>
  <Application>Microsoft Office PowerPoint</Application>
  <PresentationFormat>와이드스크린</PresentationFormat>
  <Paragraphs>69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Calibri</vt:lpstr>
      <vt:lpstr>Poppins Black</vt:lpstr>
      <vt:lpstr>나눔스퀘어_ac Bold</vt:lpstr>
      <vt:lpstr>Noto Sans CJK KR</vt:lpstr>
      <vt:lpstr>Arial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495</cp:revision>
  <dcterms:modified xsi:type="dcterms:W3CDTF">2026-07-15T08:10:50Z</dcterms:modified>
</cp:coreProperties>
</file>