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1"/>
  </p:notesMasterIdLst>
  <p:sldIdLst>
    <p:sldId id="256" r:id="rId2"/>
    <p:sldId id="262" r:id="rId3"/>
    <p:sldId id="277" r:id="rId4"/>
    <p:sldId id="278" r:id="rId5"/>
    <p:sldId id="258" r:id="rId6"/>
    <p:sldId id="259" r:id="rId7"/>
    <p:sldId id="261" r:id="rId8"/>
    <p:sldId id="268" r:id="rId9"/>
    <p:sldId id="269" r:id="rId10"/>
    <p:sldId id="270" r:id="rId11"/>
    <p:sldId id="271" r:id="rId12"/>
    <p:sldId id="272" r:id="rId13"/>
    <p:sldId id="273" r:id="rId14"/>
    <p:sldId id="274" r:id="rId15"/>
    <p:sldId id="275" r:id="rId16"/>
    <p:sldId id="276" r:id="rId17"/>
    <p:sldId id="265" r:id="rId18"/>
    <p:sldId id="266" r:id="rId19"/>
    <p:sldId id="267" r:id="rId20"/>
  </p:sldIdLst>
  <p:sldSz cx="12192000" cy="6858000"/>
  <p:notesSz cx="6858000" cy="9144000"/>
  <p:embeddedFontLst>
    <p:embeddedFont>
      <p:font typeface="맑은 고딕" panose="020B0503020000020004" pitchFamily="50" charset="-127"/>
      <p:regular r:id="rId22"/>
      <p:bold r:id="rId23"/>
    </p:embeddedFont>
    <p:embeddedFont>
      <p:font typeface="Poppins" panose="020B0600000101010101" charset="0"/>
      <p:regular r:id="rId24"/>
      <p:bold r:id="rId25"/>
      <p:italic r:id="rId26"/>
      <p:boldItalic r:id="rId27"/>
    </p:embeddedFont>
    <p:embeddedFont>
      <p:font typeface="Poppins Black" panose="020B0600000101010101" charset="0"/>
      <p:bold r:id="rId28"/>
      <p:boldItalic r:id="rId29"/>
    </p:embeddedFont>
    <p:embeddedFont>
      <p:font typeface="나눔스퀘어_ac" panose="020B0600000101010101" pitchFamily="50" charset="-127"/>
      <p:regular r:id="rId30"/>
    </p:embeddedFont>
    <p:embeddedFont>
      <p:font typeface="맑은 고딕" panose="020B0503020000020004" pitchFamily="50" charset="-127"/>
      <p:regular r:id="rId22"/>
      <p:bold r:id="rId23"/>
    </p:embeddedFont>
    <p:embeddedFont>
      <p:font typeface="Calibri" panose="020F0502020204030204" pitchFamily="34" charset="0"/>
      <p:regular r:id="rId31"/>
      <p:bold r:id="rId32"/>
      <p:italic r:id="rId33"/>
      <p:boldItalic r:id="rId34"/>
    </p:embeddedFont>
    <p:embeddedFont>
      <p:font typeface="프리텐다드" panose="020B0600000101010101" charset="-127"/>
      <p:regular r:id="rId35"/>
    </p:embeddedFont>
    <p:embeddedFont>
      <p:font typeface="Gothic A1 Black" panose="020B0600000101010101" charset="-127"/>
      <p:bold r:id="rId36"/>
    </p:embeddedFont>
    <p:embeddedFont>
      <p:font typeface="프리텐다드 Medium" panose="020B0600000101010101" charset="-127"/>
      <p:regular r:id="rId37"/>
    </p:embeddedFont>
    <p:embeddedFont>
      <p:font typeface="Gothic A1" panose="020B0600000101010101" charset="-127"/>
      <p:regular r:id="rId38"/>
      <p:bold r:id="rId39"/>
    </p:embeddedFont>
    <p:embeddedFont>
      <p:font typeface="나눔스퀘어_ac Bold" panose="020B0600000101010101" pitchFamily="50" charset="-127"/>
      <p:bold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443F0"/>
    <a:srgbClr val="B9D0EE"/>
    <a:srgbClr val="254061"/>
    <a:srgbClr val="F5F5F5"/>
    <a:srgbClr val="D3E8FD"/>
    <a:srgbClr val="FFFFFF"/>
    <a:srgbClr val="CAE2F7"/>
    <a:srgbClr val="25A7FF"/>
    <a:srgbClr val="F4F9FE"/>
    <a:srgbClr val="F7F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129593-B734-4C85-9C7D-A55B29953C11}" v="140" dt="2026-07-14T14:30:42.095"/>
    <p1510:client id="{B739DA07-CC4F-4792-A8DC-AA79F63479ED}" v="2957" dt="2026-07-14T16:09:22.4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077" autoAdjust="0"/>
  </p:normalViewPr>
  <p:slideViewPr>
    <p:cSldViewPr snapToGrid="0">
      <p:cViewPr>
        <p:scale>
          <a:sx n="100" d="100"/>
          <a:sy n="100" d="100"/>
        </p:scale>
        <p:origin x="954" y="27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9" Type="http://schemas.openxmlformats.org/officeDocument/2006/relationships/font" Target="fonts/font18.fntdata"/><Relationship Id="rId21" Type="http://schemas.openxmlformats.org/officeDocument/2006/relationships/notesMaster" Target="notesMasters/notesMaster1.xml"/><Relationship Id="rId34" Type="http://schemas.openxmlformats.org/officeDocument/2006/relationships/font" Target="fonts/font13.fntdata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font" Target="fonts/font16.fntdata"/><Relationship Id="rId40" Type="http://schemas.openxmlformats.org/officeDocument/2006/relationships/font" Target="fonts/font19.fntdata"/><Relationship Id="rId45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font" Target="fonts/font1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font" Target="fonts/font14.fntdata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38" Type="http://schemas.openxmlformats.org/officeDocument/2006/relationships/font" Target="fonts/font17.fntdata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438156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302955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9489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605364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535480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1810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Blank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54067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Blank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8931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84;p13" descr="image.png"/>
          <p:cNvPicPr preferRelativeResize="0"/>
          <p:nvPr userDrawn="1"/>
        </p:nvPicPr>
        <p:blipFill rotWithShape="1">
          <a:blip r:embed="rId1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60" r:id="rId11"/>
    <p:sldLayoutId id="2147483661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32.png"/><Relationship Id="rId7" Type="http://schemas.openxmlformats.org/officeDocument/2006/relationships/image" Target="../media/image33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Relationship Id="rId9" Type="http://schemas.openxmlformats.org/officeDocument/2006/relationships/image" Target="../media/image3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jpg"/><Relationship Id="rId3" Type="http://schemas.openxmlformats.org/officeDocument/2006/relationships/image" Target="../media/image37.jpg"/><Relationship Id="rId7" Type="http://schemas.openxmlformats.org/officeDocument/2006/relationships/image" Target="../media/image4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jpg"/><Relationship Id="rId5" Type="http://schemas.openxmlformats.org/officeDocument/2006/relationships/image" Target="../media/image39.jpg"/><Relationship Id="rId4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/>
          <p:nvPr/>
        </p:nvSpPr>
        <p:spPr>
          <a:xfrm>
            <a:off x="771525" y="2635048"/>
            <a:ext cx="11181397" cy="1415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14999"/>
              </a:lnSpc>
            </a:pPr>
            <a:r>
              <a:rPr lang="en-US" sz="4000" b="0" i="0" u="none" strike="noStrike" cap="none" dirty="0" err="1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 Black"/>
                <a:sym typeface="Gothic A1 Black"/>
              </a:rPr>
              <a:t>보행자</a:t>
            </a:r>
            <a:r>
              <a:rPr lang="en-US" sz="4000" b="0" i="0" u="none" strike="noStrike" cap="none" dirty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 Black"/>
                <a:sym typeface="Gothic A1 Black"/>
              </a:rPr>
              <a:t> </a:t>
            </a:r>
            <a:r>
              <a:rPr lang="ko-KR" altLang="en-US" sz="4000" dirty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 Black"/>
                <a:sym typeface="Gothic A1 Black"/>
              </a:rPr>
              <a:t>검색/추적을 위한</a:t>
            </a:r>
            <a:r>
              <a:rPr lang="en-US" sz="4000" b="0" i="0" u="none" strike="noStrike" cap="none" dirty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 Black"/>
                <a:sym typeface="Gothic A1 Black"/>
              </a:rPr>
              <a:t> </a:t>
            </a:r>
            <a:endParaRPr lang="en-US" altLang="ko-KR" dirty="0">
              <a:latin typeface="나눔스퀘어_ac Bold" panose="020B0600000101010101" pitchFamily="50" charset="-127"/>
              <a:ea typeface="나눔스퀘어_ac Bold" panose="020B0600000101010101" pitchFamily="50" charset="-127"/>
              <a:cs typeface="Calibri"/>
              <a:sym typeface="Gothic A1 Black"/>
            </a:endParaRPr>
          </a:p>
          <a:p>
            <a:pPr>
              <a:lnSpc>
                <a:spcPct val="114999"/>
              </a:lnSpc>
            </a:pPr>
            <a:r>
              <a:rPr lang="ko-KR" altLang="en-US" sz="4000" dirty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 Black"/>
                <a:sym typeface="Gothic A1 Black"/>
              </a:rPr>
              <a:t>실시간</a:t>
            </a:r>
            <a:r>
              <a:rPr lang="en-US" sz="4000" dirty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 Black"/>
                <a:sym typeface="Gothic A1 Black"/>
              </a:rPr>
              <a:t> </a:t>
            </a:r>
            <a:r>
              <a:rPr lang="en-US" sz="4000" b="0" i="0" u="none" strike="noStrike" cap="none" dirty="0" err="1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 Black"/>
                <a:sym typeface="Gothic A1 Black"/>
              </a:rPr>
              <a:t>관제</a:t>
            </a:r>
            <a:r>
              <a:rPr lang="en-US" sz="4000" dirty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 Black"/>
                <a:sym typeface="Gothic A1 Black"/>
              </a:rPr>
              <a:t> </a:t>
            </a:r>
            <a:r>
              <a:rPr lang="ko-KR" altLang="en-US" sz="4000" dirty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 Black"/>
                <a:sym typeface="Gothic A1 Black"/>
              </a:rPr>
              <a:t>프로그램</a:t>
            </a:r>
            <a:endParaRPr lang="en-US" dirty="0">
              <a:latin typeface="나눔스퀘어_ac Bold" panose="020B0600000101010101" pitchFamily="50" charset="-127"/>
              <a:ea typeface="나눔스퀘어_ac Bold" panose="020B0600000101010101" pitchFamily="50" charset="-127"/>
              <a:cs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771525" y="4095978"/>
            <a:ext cx="1064895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드론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및 CCTV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동영상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분석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기반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실시간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신원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탐지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</a:t>
            </a:r>
            <a:r>
              <a:rPr lang="en-US" sz="1800" b="0" i="0" u="none" strike="noStrike" cap="none" dirty="0" err="1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시스템</a:t>
            </a:r>
            <a:endParaRPr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771525" y="4500413"/>
            <a:ext cx="238125" cy="1905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Calibri"/>
              <a:sym typeface="Calibri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1968260" y="5387016"/>
            <a:ext cx="2543175" cy="270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ko-KR" altLang="en-US" sz="1100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</a:rPr>
              <a:t>박정호, 이윤호, </a:t>
            </a:r>
            <a:r>
              <a:rPr lang="ko-KR" altLang="en-US" sz="1100" dirty="0" err="1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</a:rPr>
              <a:t>장동근</a:t>
            </a:r>
            <a:r>
              <a:rPr lang="ko-KR" altLang="en-US" sz="1100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</a:rPr>
              <a:t>, </a:t>
            </a:r>
            <a:r>
              <a:rPr lang="ko-KR" altLang="en-US" sz="1100" dirty="0" err="1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</a:rPr>
              <a:t>이규찬</a:t>
            </a:r>
            <a:r>
              <a:rPr lang="ko-KR" altLang="en-US" sz="1100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</a:rPr>
              <a:t>, 김태준</a:t>
            </a:r>
          </a:p>
        </p:txBody>
      </p:sp>
      <p:pic>
        <p:nvPicPr>
          <p:cNvPr id="92" name="Google Shape;92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0511" y="5429879"/>
            <a:ext cx="12382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3"/>
          <p:cNvSpPr txBox="1"/>
          <p:nvPr/>
        </p:nvSpPr>
        <p:spPr>
          <a:xfrm>
            <a:off x="980536" y="5387017"/>
            <a:ext cx="1495425" cy="270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1100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Group</a:t>
            </a:r>
            <a:r>
              <a:rPr lang="en-US" sz="1100" b="0" i="0" u="none" strike="noStrike" cap="none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:</a:t>
            </a:r>
            <a:r>
              <a:rPr lang="en-US" sz="1100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</a:t>
            </a:r>
            <a:r>
              <a:rPr lang="ko-KR" altLang="en-US" sz="1100" dirty="0" err="1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딱코</a:t>
            </a:r>
            <a:endParaRPr lang="en-US" sz="1100" dirty="0">
              <a:solidFill>
                <a:srgbClr val="475569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Gothic A1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3B2655-41CF-A4B9-5793-C510781C3A0B}"/>
              </a:ext>
            </a:extLst>
          </p:cNvPr>
          <p:cNvSpPr txBox="1"/>
          <p:nvPr/>
        </p:nvSpPr>
        <p:spPr>
          <a:xfrm>
            <a:off x="669235" y="1036983"/>
            <a:ext cx="609600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 i="0" u="none" strike="noStrike" dirty="0">
                <a:solidFill>
                  <a:srgbClr val="0284C7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</a:rPr>
              <a:t>AIOT </a:t>
            </a:r>
            <a:r>
              <a:rPr lang="ko-KR" altLang="en-US" sz="1200" b="1" dirty="0" err="1">
                <a:solidFill>
                  <a:srgbClr val="0284C7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</a:rPr>
              <a:t>드론</a:t>
            </a:r>
            <a:r>
              <a:rPr lang="en-US" sz="1200" b="1" dirty="0">
                <a:solidFill>
                  <a:srgbClr val="0284C7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</a:rPr>
              <a:t> </a:t>
            </a:r>
            <a:r>
              <a:rPr lang="en-US" sz="1200" b="1" i="0" u="none" strike="noStrike" dirty="0">
                <a:solidFill>
                  <a:srgbClr val="0284C7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</a:rPr>
              <a:t>5회차</a:t>
            </a:r>
            <a:endParaRPr lang="ko-KR" altLang="en-US" sz="1200" b="1" i="0" u="none" strike="noStrike" dirty="0">
              <a:solidFill>
                <a:srgbClr val="0284C7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Gothic A1"/>
            </a:endParaRPr>
          </a:p>
          <a:p>
            <a:endParaRPr lang="en-US" altLang="ko-KR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ctr"/>
            <a:endParaRPr lang="ko-KR" altLang="en-US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8076247" y="0"/>
            <a:ext cx="4115753" cy="6858000"/>
          </a:xfrm>
          <a:prstGeom prst="rect">
            <a:avLst/>
          </a:prstGeom>
          <a:gradFill flip="none" rotWithShape="1">
            <a:gsLst>
              <a:gs pos="3000">
                <a:srgbClr val="FFFFFF"/>
              </a:gs>
              <a:gs pos="52000">
                <a:srgbClr val="EAF4FE">
                  <a:alpha val="20000"/>
                </a:srgbClr>
              </a:gs>
              <a:gs pos="100000">
                <a:srgbClr val="DAEFFE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ea typeface="나눔스퀘어_ac Bold" panose="020B0600000101010101" pitchFamily="50" charset="-127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771525" y="1365795"/>
            <a:ext cx="106489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모서리가 둥근 직사각형 70"/>
          <p:cNvSpPr/>
          <p:nvPr/>
        </p:nvSpPr>
        <p:spPr>
          <a:xfrm flipH="1">
            <a:off x="7574426" y="274638"/>
            <a:ext cx="45719" cy="6259484"/>
          </a:xfrm>
          <a:prstGeom prst="roundRect">
            <a:avLst>
              <a:gd name="adj" fmla="val 8370"/>
            </a:avLst>
          </a:prstGeom>
          <a:solidFill>
            <a:schemeClr val="bg1"/>
          </a:solidFill>
          <a:ln>
            <a:noFill/>
          </a:ln>
          <a:effectLst>
            <a:outerShdw blurRad="139700" sx="98000" sy="98000" algn="ctr" rotWithShape="0">
              <a:schemeClr val="accent1">
                <a:lumMod val="50000"/>
                <a:alpha val="3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직사각형 65"/>
          <p:cNvSpPr/>
          <p:nvPr/>
        </p:nvSpPr>
        <p:spPr>
          <a:xfrm>
            <a:off x="4282765" y="274638"/>
            <a:ext cx="7566335" cy="6326187"/>
          </a:xfrm>
          <a:prstGeom prst="rect">
            <a:avLst/>
          </a:prstGeom>
          <a:noFill/>
          <a:ln>
            <a:noFill/>
          </a:ln>
          <a:effectLst>
            <a:softEdge rad="2032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3911290" y="274638"/>
            <a:ext cx="3876675" cy="6326187"/>
          </a:xfrm>
          <a:prstGeom prst="rect">
            <a:avLst/>
          </a:prstGeom>
          <a:gradFill flip="none" rotWithShape="1">
            <a:gsLst>
              <a:gs pos="28000">
                <a:srgbClr val="F4F9FE"/>
              </a:gs>
              <a:gs pos="61000">
                <a:srgbClr val="F7FCFF"/>
              </a:gs>
              <a:gs pos="97000">
                <a:srgbClr val="F4F9FE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ea typeface="나눔스퀘어_ac Bold" panose="020B0600000101010101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063690" y="341341"/>
            <a:ext cx="24610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INDEX</a:t>
            </a:r>
            <a:endParaRPr lang="ko-KR" altLang="en-US" sz="2400" b="1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7" name="직선 연결선 6"/>
          <p:cNvCxnSpPr/>
          <p:nvPr/>
        </p:nvCxnSpPr>
        <p:spPr>
          <a:xfrm flipV="1">
            <a:off x="4169566" y="1049226"/>
            <a:ext cx="3309939" cy="1"/>
          </a:xfrm>
          <a:prstGeom prst="line">
            <a:avLst/>
          </a:prstGeom>
          <a:ln w="25400">
            <a:solidFill>
              <a:srgbClr val="CAE2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16"/>
          <p:cNvSpPr txBox="1"/>
          <p:nvPr/>
        </p:nvSpPr>
        <p:spPr>
          <a:xfrm>
            <a:off x="4169566" y="1332036"/>
            <a:ext cx="2791646" cy="49859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spcBef>
                <a:spcPct val="0"/>
              </a:spcBef>
            </a:pPr>
            <a:r>
              <a:rPr lang="en-US" altLang="ko-KR" b="1" dirty="0" smtClean="0">
                <a:solidFill>
                  <a:schemeClr val="accent6">
                    <a:lumMod val="7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프리텐다드 Medium"/>
                <a:sym typeface="프리텐다드 Medium"/>
              </a:rPr>
              <a:t>01</a:t>
            </a:r>
            <a:r>
              <a:rPr lang="en-US" altLang="ko-KR" b="1" dirty="0" smtClean="0">
                <a:solidFill>
                  <a:srgbClr val="282828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프리텐다드 Medium"/>
                <a:sym typeface="프리텐다드 Medium"/>
              </a:rPr>
              <a:t>   </a:t>
            </a:r>
            <a:r>
              <a:rPr lang="ko-KR" altLang="en-US" b="1" dirty="0" smtClean="0">
                <a:solidFill>
                  <a:srgbClr val="282828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프리텐다드 Medium"/>
                <a:sym typeface="프리텐다드 Medium"/>
              </a:rPr>
              <a:t>프로젝트 소개</a:t>
            </a:r>
            <a:endParaRPr lang="en-US" altLang="ko-KR" b="1" dirty="0" smtClean="0">
              <a:solidFill>
                <a:srgbClr val="282828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프리텐다드 Medium"/>
              <a:sym typeface="프리텐다드 Medium"/>
            </a:endParaRPr>
          </a:p>
          <a:p>
            <a:pPr lvl="0" algn="l">
              <a:spcBef>
                <a:spcPct val="0"/>
              </a:spcBef>
            </a:pPr>
            <a:endParaRPr lang="en-US" altLang="ko-KR" b="1" dirty="0" smtClean="0">
              <a:solidFill>
                <a:srgbClr val="282828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프리텐다드 Medium"/>
              <a:sym typeface="프리텐다드 Medium"/>
            </a:endParaRPr>
          </a:p>
          <a:p>
            <a:pPr lvl="0" algn="l">
              <a:spcBef>
                <a:spcPct val="0"/>
              </a:spcBef>
            </a:pPr>
            <a:r>
              <a:rPr lang="en-US" altLang="ko-KR" b="1" dirty="0" smtClean="0">
                <a:solidFill>
                  <a:schemeClr val="accent6">
                    <a:lumMod val="7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프리텐다드 Medium"/>
                <a:sym typeface="프리텐다드 Medium"/>
              </a:rPr>
              <a:t>02</a:t>
            </a:r>
            <a:r>
              <a:rPr lang="en-US" altLang="ko-KR" b="1" dirty="0" smtClean="0">
                <a:solidFill>
                  <a:srgbClr val="282828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프리텐다드 Medium"/>
                <a:sym typeface="프리텐다드 Medium"/>
              </a:rPr>
              <a:t>   </a:t>
            </a:r>
            <a:r>
              <a:rPr lang="ko-KR" altLang="en-US" b="1" dirty="0" smtClean="0">
                <a:solidFill>
                  <a:srgbClr val="282828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프리텐다드 Medium"/>
                <a:sym typeface="프리텐다드 Medium"/>
              </a:rPr>
              <a:t>상용 솔루션 벤치마킹</a:t>
            </a:r>
            <a:endParaRPr lang="en-US" altLang="ko-KR" b="1" dirty="0" smtClean="0">
              <a:solidFill>
                <a:srgbClr val="282828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프리텐다드 Medium"/>
              <a:sym typeface="프리텐다드 Medium"/>
            </a:endParaRPr>
          </a:p>
          <a:p>
            <a:pPr lvl="0"/>
            <a:endParaRPr lang="en-US" altLang="ko-KR" b="1" dirty="0" smtClean="0">
              <a:solidFill>
                <a:srgbClr val="282828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프리텐다드 Medium"/>
              <a:sym typeface="프리텐다드 Medium"/>
            </a:endParaRPr>
          </a:p>
          <a:p>
            <a:pPr lvl="0"/>
            <a:r>
              <a:rPr lang="en-US" altLang="ko-KR" b="1" dirty="0" smtClean="0">
                <a:solidFill>
                  <a:schemeClr val="accent6">
                    <a:lumMod val="7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프리텐다드 Medium"/>
                <a:sym typeface="프리텐다드 Medium"/>
              </a:rPr>
              <a:t>03</a:t>
            </a:r>
            <a:r>
              <a:rPr lang="en-US" altLang="ko-KR" b="1" dirty="0" smtClean="0">
                <a:solidFill>
                  <a:srgbClr val="282828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프리텐다드 Medium"/>
                <a:sym typeface="프리텐다드 Medium"/>
              </a:rPr>
              <a:t>   </a:t>
            </a:r>
            <a:r>
              <a:rPr lang="ko-KR" altLang="en-US" b="1" dirty="0" smtClean="0">
                <a:solidFill>
                  <a:srgbClr val="282828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프리텐다드 Medium"/>
                <a:sym typeface="프리텐다드 Medium"/>
              </a:rPr>
              <a:t>프로젝트 구현</a:t>
            </a:r>
            <a:endParaRPr lang="en-US" altLang="ko-KR" b="1" dirty="0">
              <a:solidFill>
                <a:srgbClr val="282828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프리텐다드 Medium"/>
              <a:sym typeface="프리텐다드 Medium"/>
            </a:endParaRPr>
          </a:p>
          <a:p>
            <a:pPr lvl="0"/>
            <a:endParaRPr lang="en-US" altLang="ko-KR" b="1" dirty="0">
              <a:solidFill>
                <a:srgbClr val="282828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프리텐다드 Medium"/>
              <a:sym typeface="프리텐다드 Medium"/>
            </a:endParaRPr>
          </a:p>
          <a:p>
            <a:pPr lvl="0"/>
            <a:r>
              <a:rPr lang="en-US" altLang="ko-KR" b="1" dirty="0" smtClean="0">
                <a:solidFill>
                  <a:schemeClr val="accent6">
                    <a:lumMod val="7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프리텐다드 Medium"/>
                <a:sym typeface="프리텐다드 Medium"/>
              </a:rPr>
              <a:t>04</a:t>
            </a:r>
            <a:r>
              <a:rPr lang="en-US" altLang="ko-KR" b="1" dirty="0" smtClean="0">
                <a:solidFill>
                  <a:srgbClr val="282828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프리텐다드 Medium"/>
                <a:sym typeface="프리텐다드 Medium"/>
              </a:rPr>
              <a:t>   </a:t>
            </a:r>
            <a:r>
              <a:rPr lang="ko-KR" altLang="en-US" b="1" dirty="0" smtClean="0">
                <a:solidFill>
                  <a:srgbClr val="282828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프리텐다드 Medium"/>
                <a:sym typeface="프리텐다드 Medium"/>
              </a:rPr>
              <a:t>사용 툴 및 개발환경</a:t>
            </a:r>
            <a:endParaRPr lang="en-US" altLang="ko-KR" b="1" dirty="0">
              <a:solidFill>
                <a:srgbClr val="282828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프리텐다드 Medium"/>
              <a:sym typeface="프리텐다드 Medium"/>
            </a:endParaRPr>
          </a:p>
          <a:p>
            <a:pPr lvl="0"/>
            <a:endParaRPr lang="en-US" altLang="ko-KR" b="1" dirty="0">
              <a:solidFill>
                <a:srgbClr val="282828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프리텐다드 Medium"/>
              <a:sym typeface="프리텐다드 Medium"/>
            </a:endParaRPr>
          </a:p>
          <a:p>
            <a:pPr lvl="0"/>
            <a:r>
              <a:rPr lang="en-US" altLang="ko-KR" b="1" dirty="0" smtClean="0">
                <a:solidFill>
                  <a:schemeClr val="accent6">
                    <a:lumMod val="7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프리텐다드 Medium"/>
                <a:sym typeface="프리텐다드 Medium"/>
              </a:rPr>
              <a:t>05</a:t>
            </a:r>
            <a:r>
              <a:rPr lang="en-US" altLang="ko-KR" b="1" dirty="0" smtClean="0">
                <a:solidFill>
                  <a:srgbClr val="282828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프리텐다드 Medium"/>
                <a:sym typeface="프리텐다드 Medium"/>
              </a:rPr>
              <a:t>   </a:t>
            </a:r>
            <a:r>
              <a:rPr lang="ko-KR" altLang="en-US" b="1" dirty="0" smtClean="0">
                <a:solidFill>
                  <a:srgbClr val="282828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프리텐다드 Medium"/>
                <a:sym typeface="프리텐다드 Medium"/>
              </a:rPr>
              <a:t>활용방안 및 기대 효과</a:t>
            </a:r>
            <a:endParaRPr lang="en-US" altLang="ko-KR" b="1" dirty="0" smtClean="0">
              <a:solidFill>
                <a:srgbClr val="282828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프리텐다드 Medium"/>
              <a:sym typeface="프리텐다드 Medium"/>
            </a:endParaRPr>
          </a:p>
          <a:p>
            <a:pPr lvl="0"/>
            <a:endParaRPr lang="en-US" altLang="ko-KR" b="1" dirty="0" smtClean="0">
              <a:solidFill>
                <a:srgbClr val="282828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프리텐다드 Medium"/>
              <a:sym typeface="프리텐다드 Medium"/>
            </a:endParaRPr>
          </a:p>
          <a:p>
            <a:pPr lvl="0"/>
            <a:r>
              <a:rPr lang="en-US" altLang="ko-KR" b="1" dirty="0">
                <a:solidFill>
                  <a:schemeClr val="accent6">
                    <a:lumMod val="7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프리텐다드 Medium"/>
                <a:sym typeface="프리텐다드 Medium"/>
              </a:rPr>
              <a:t>07</a:t>
            </a:r>
            <a:r>
              <a:rPr lang="en-US" altLang="ko-KR" b="1" dirty="0">
                <a:solidFill>
                  <a:srgbClr val="282828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프리텐다드 Medium"/>
                <a:sym typeface="프리텐다드 Medium"/>
              </a:rPr>
              <a:t>   </a:t>
            </a:r>
            <a:r>
              <a:rPr lang="ko-KR" altLang="en-US" b="1" dirty="0">
                <a:solidFill>
                  <a:srgbClr val="282828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프리텐다드 Medium"/>
                <a:sym typeface="프리텐다드 Medium"/>
              </a:rPr>
              <a:t>테스트 및 시연</a:t>
            </a:r>
            <a:endParaRPr lang="en-US" altLang="ko-KR" b="1" dirty="0">
              <a:solidFill>
                <a:srgbClr val="282828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프리텐다드 Medium"/>
              <a:sym typeface="프리텐다드 Medium"/>
            </a:endParaRPr>
          </a:p>
          <a:p>
            <a:pPr lvl="0"/>
            <a:endParaRPr lang="en-US" altLang="ko-KR" b="1" dirty="0">
              <a:solidFill>
                <a:srgbClr val="282828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프리텐다드 Medium"/>
              <a:sym typeface="프리텐다드 Medium"/>
            </a:endParaRPr>
          </a:p>
          <a:p>
            <a:pPr lvl="0"/>
            <a:r>
              <a:rPr lang="en-US" altLang="ko-KR" b="1" dirty="0">
                <a:solidFill>
                  <a:schemeClr val="accent6">
                    <a:lumMod val="7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프리텐다드 Medium"/>
                <a:sym typeface="프리텐다드 Medium"/>
              </a:rPr>
              <a:t>08</a:t>
            </a:r>
            <a:r>
              <a:rPr lang="en-US" altLang="ko-KR" b="1" dirty="0">
                <a:solidFill>
                  <a:srgbClr val="282828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프리텐다드 Medium"/>
                <a:sym typeface="프리텐다드 Medium"/>
              </a:rPr>
              <a:t>   </a:t>
            </a:r>
            <a:r>
              <a:rPr lang="ko-KR" altLang="en-US" b="1" dirty="0">
                <a:solidFill>
                  <a:srgbClr val="282828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프리텐다드 Medium"/>
                <a:sym typeface="프리텐다드 Medium"/>
              </a:rPr>
              <a:t>문제점</a:t>
            </a:r>
            <a:endParaRPr lang="en-US" altLang="ko-KR" b="1" dirty="0">
              <a:solidFill>
                <a:srgbClr val="282828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프리텐다드 Medium"/>
              <a:sym typeface="프리텐다드 Medium"/>
            </a:endParaRPr>
          </a:p>
          <a:p>
            <a:pPr lvl="0"/>
            <a:endParaRPr lang="en-US" altLang="ko-KR" b="1" dirty="0">
              <a:solidFill>
                <a:srgbClr val="282828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프리텐다드 Medium"/>
              <a:sym typeface="프리텐다드 Medium"/>
            </a:endParaRPr>
          </a:p>
          <a:p>
            <a:pPr lvl="0"/>
            <a:r>
              <a:rPr lang="en-US" altLang="ko-KR" b="1" dirty="0" smtClean="0">
                <a:solidFill>
                  <a:schemeClr val="accent6">
                    <a:lumMod val="7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프리텐다드 Medium"/>
                <a:sym typeface="프리텐다드 Medium"/>
              </a:rPr>
              <a:t>09</a:t>
            </a:r>
            <a:r>
              <a:rPr lang="en-US" altLang="ko-KR" b="1" dirty="0" smtClean="0">
                <a:solidFill>
                  <a:srgbClr val="282828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프리텐다드 Medium"/>
                <a:sym typeface="프리텐다드 Medium"/>
              </a:rPr>
              <a:t>   Q&amp;A</a:t>
            </a:r>
          </a:p>
          <a:p>
            <a:pPr lvl="0"/>
            <a:endParaRPr lang="en-US" altLang="ko-KR" b="1" dirty="0" smtClean="0">
              <a:solidFill>
                <a:srgbClr val="282828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프리텐다드 Medium"/>
              <a:sym typeface="프리텐다드 Medium"/>
            </a:endParaRPr>
          </a:p>
          <a:p>
            <a:pPr lvl="0"/>
            <a:r>
              <a:rPr lang="en-US" altLang="ko-KR" b="1" dirty="0" smtClean="0">
                <a:solidFill>
                  <a:schemeClr val="accent6">
                    <a:lumMod val="7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프리텐다드 Medium"/>
                <a:sym typeface="프리텐다드 Medium"/>
              </a:rPr>
              <a:t>10</a:t>
            </a:r>
            <a:r>
              <a:rPr lang="en-US" altLang="ko-KR" b="1" dirty="0" smtClean="0">
                <a:solidFill>
                  <a:srgbClr val="282828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프리텐다드 Medium"/>
                <a:sym typeface="프리텐다드 Medium"/>
              </a:rPr>
              <a:t>   </a:t>
            </a:r>
            <a:r>
              <a:rPr lang="ko-KR" altLang="en-US" b="1" dirty="0" smtClean="0">
                <a:solidFill>
                  <a:srgbClr val="282828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프리텐다드 Medium"/>
                <a:sym typeface="프리텐다드 Medium"/>
              </a:rPr>
              <a:t>팀 소개</a:t>
            </a:r>
            <a:endParaRPr lang="en-US" altLang="ko-KR" b="1" dirty="0">
              <a:solidFill>
                <a:srgbClr val="282828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프리텐다드 Medium"/>
              <a:sym typeface="프리텐다드 Medium"/>
            </a:endParaRPr>
          </a:p>
          <a:p>
            <a:pPr lvl="0"/>
            <a:endParaRPr lang="en-US" altLang="ko-KR" b="1" dirty="0">
              <a:solidFill>
                <a:srgbClr val="282828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프리텐다드 Medium"/>
              <a:sym typeface="프리텐다드 Medium"/>
            </a:endParaRPr>
          </a:p>
        </p:txBody>
      </p:sp>
    </p:spTree>
    <p:extLst>
      <p:ext uri="{BB962C8B-B14F-4D97-AF65-F5344CB8AC3E}">
        <p14:creationId xmlns:p14="http://schemas.microsoft.com/office/powerpoint/2010/main" val="2423005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139;p15"/>
          <p:cNvSpPr txBox="1"/>
          <p:nvPr/>
        </p:nvSpPr>
        <p:spPr>
          <a:xfrm>
            <a:off x="771525" y="581025"/>
            <a:ext cx="11181397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altLang="ko-KR" sz="2850" b="1" dirty="0" smtClean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Poppins Black"/>
              </a:rPr>
              <a:t>01   </a:t>
            </a:r>
            <a:r>
              <a:rPr lang="ko-KR" altLang="en-US" sz="2850" b="1" dirty="0" smtClean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Poppins Black"/>
              </a:rPr>
              <a:t>프로젝트 소개</a:t>
            </a:r>
            <a:endParaRPr lang="en-US" altLang="ko-KR" sz="2850" b="1" dirty="0">
              <a:solidFill>
                <a:srgbClr val="0F172A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Poppins Black"/>
            </a:endParaRPr>
          </a:p>
        </p:txBody>
      </p:sp>
      <p:cxnSp>
        <p:nvCxnSpPr>
          <p:cNvPr id="27" name="직선 연결선 26"/>
          <p:cNvCxnSpPr/>
          <p:nvPr/>
        </p:nvCxnSpPr>
        <p:spPr>
          <a:xfrm flipV="1">
            <a:off x="606641" y="1145219"/>
            <a:ext cx="10979123" cy="9327"/>
          </a:xfrm>
          <a:prstGeom prst="line">
            <a:avLst/>
          </a:prstGeom>
          <a:ln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그룹 6"/>
          <p:cNvGrpSpPr/>
          <p:nvPr/>
        </p:nvGrpSpPr>
        <p:grpSpPr>
          <a:xfrm>
            <a:off x="1347472" y="1375321"/>
            <a:ext cx="9478168" cy="4805857"/>
            <a:chOff x="1042672" y="1373001"/>
            <a:chExt cx="9478168" cy="4805857"/>
          </a:xfrm>
        </p:grpSpPr>
        <p:sp>
          <p:nvSpPr>
            <p:cNvPr id="8" name="TextBox 20"/>
            <p:cNvSpPr txBox="1"/>
            <p:nvPr/>
          </p:nvSpPr>
          <p:spPr>
            <a:xfrm>
              <a:off x="7464425" y="4847441"/>
              <a:ext cx="2784475" cy="110799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2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프리텐다드"/>
                  <a:sym typeface="프리텐다드"/>
                </a:rPr>
                <a:t>1. </a:t>
              </a:r>
              <a:r>
                <a:rPr lang="ko-KR" altLang="en-US" sz="1200" dirty="0" err="1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프리텐다드"/>
                  <a:sym typeface="프리텐다드"/>
                </a:rPr>
                <a:t>드론과</a:t>
              </a:r>
              <a:r>
                <a:rPr lang="ko-KR" altLang="en-US" sz="12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프리텐다드"/>
                  <a:sym typeface="프리텐다드"/>
                </a:rPr>
                <a:t> </a:t>
              </a:r>
              <a:r>
                <a:rPr lang="en-US" altLang="ko-KR" sz="12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프리텐다드"/>
                  <a:sym typeface="프리텐다드"/>
                </a:rPr>
                <a:t>CCTV</a:t>
              </a:r>
              <a:r>
                <a:rPr lang="ko-KR" altLang="en-US" sz="12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프리텐다드"/>
                  <a:sym typeface="프리텐다드"/>
                </a:rPr>
                <a:t>등의 매체로부터 영상물 수집</a:t>
              </a:r>
              <a:endParaRPr lang="en-US" altLang="ko-KR" sz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프리텐다드"/>
                <a:sym typeface="프리텐다드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12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프리텐다드"/>
                  <a:sym typeface="프리텐다드"/>
                </a:rPr>
                <a:t>2. AI </a:t>
              </a:r>
              <a:r>
                <a:rPr lang="ko-KR" altLang="en-US" sz="12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프리텐다드"/>
                  <a:sym typeface="프리텐다드"/>
                </a:rPr>
                <a:t>모델로 객체 탐지 및 얼굴 인식 </a:t>
              </a:r>
              <a:endParaRPr lang="en-US" altLang="ko-KR" sz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프리텐다드"/>
                <a:sym typeface="프리텐다드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12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프리텐다드"/>
                  <a:sym typeface="프리텐다드"/>
                </a:rPr>
                <a:t>3. </a:t>
              </a:r>
              <a:r>
                <a:rPr lang="ko-KR" altLang="en-US" sz="12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프리텐다드"/>
                  <a:sym typeface="프리텐다드"/>
                </a:rPr>
                <a:t>실종자</a:t>
              </a: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프리텐다드"/>
                  <a:sym typeface="프리텐다드"/>
                </a:rPr>
                <a:t>·</a:t>
              </a:r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프리텐다드"/>
                  <a:sym typeface="프리텐다드"/>
                </a:rPr>
                <a:t>수배자</a:t>
              </a: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프리텐다드"/>
                  <a:sym typeface="프리텐다드"/>
                </a:rPr>
                <a:t>·</a:t>
              </a:r>
              <a:r>
                <a:rPr lang="ko-KR" altLang="en-US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프리텐다드"/>
                  <a:sym typeface="프리텐다드"/>
                </a:rPr>
                <a:t>관심 </a:t>
              </a:r>
              <a:r>
                <a:rPr lang="ko-KR" altLang="en-US" sz="12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프리텐다드"/>
                  <a:sym typeface="프리텐다드"/>
                </a:rPr>
                <a:t>인물 식별</a:t>
              </a:r>
              <a:r>
                <a:rPr lang="en-US" altLang="ko-KR" sz="1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프리텐다드"/>
                  <a:sym typeface="프리텐다드"/>
                </a:rPr>
                <a:t> </a:t>
              </a:r>
              <a:r>
                <a:rPr lang="ko-KR" altLang="en-US" sz="12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프리텐다드"/>
                  <a:sym typeface="프리텐다드"/>
                </a:rPr>
                <a:t>및</a:t>
              </a:r>
              <a:r>
                <a:rPr lang="en-US" altLang="ko-KR" sz="12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프리텐다드"/>
                  <a:sym typeface="프리텐다드"/>
                </a:rPr>
                <a:t> </a:t>
              </a:r>
              <a:r>
                <a:rPr lang="ko-KR" altLang="en-US" sz="12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프리텐다드"/>
                  <a:sym typeface="프리텐다드"/>
                </a:rPr>
                <a:t>로깅</a:t>
              </a:r>
              <a:endParaRPr lang="en-US" altLang="ko-KR" sz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프리텐다드"/>
                <a:sym typeface="프리텐다드"/>
              </a:endParaRPr>
            </a:p>
            <a:p>
              <a:pPr>
                <a:lnSpc>
                  <a:spcPct val="150000"/>
                </a:lnSpc>
              </a:pPr>
              <a:r>
                <a:rPr lang="en-US" altLang="ko-KR" sz="12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프리텐다드"/>
                  <a:sym typeface="프리텐다드"/>
                </a:rPr>
                <a:t>4. </a:t>
              </a:r>
              <a:r>
                <a:rPr lang="ko-KR" altLang="en-US" sz="1200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나눔스퀘어_ac Bold" panose="020B0600000101010101" pitchFamily="50" charset="-127"/>
                  <a:ea typeface="나눔스퀘어_ac Bold" panose="020B0600000101010101" pitchFamily="50" charset="-127"/>
                  <a:cs typeface="프리텐다드"/>
                  <a:sym typeface="프리텐다드"/>
                </a:rPr>
                <a:t>위치 기반 추적</a:t>
              </a:r>
              <a:endParaRPr 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프리텐다드"/>
                <a:sym typeface="프리텐다드"/>
              </a:endParaRPr>
            </a:p>
          </p:txBody>
        </p:sp>
        <p:pic>
          <p:nvPicPr>
            <p:cNvPr id="2" name="그림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42672" y="1373001"/>
              <a:ext cx="4361084" cy="4805857"/>
            </a:xfrm>
            <a:prstGeom prst="rect">
              <a:avLst/>
            </a:prstGeom>
          </p:spPr>
        </p:pic>
        <p:pic>
          <p:nvPicPr>
            <p:cNvPr id="3" name="그림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91146" y="1562354"/>
              <a:ext cx="5129694" cy="2877279"/>
            </a:xfrm>
            <a:prstGeom prst="rect">
              <a:avLst/>
            </a:prstGeom>
          </p:spPr>
        </p:pic>
        <p:cxnSp>
          <p:nvCxnSpPr>
            <p:cNvPr id="5" name="직선 연결선 4"/>
            <p:cNvCxnSpPr/>
            <p:nvPr/>
          </p:nvCxnSpPr>
          <p:spPr>
            <a:xfrm flipV="1">
              <a:off x="1181100" y="1562354"/>
              <a:ext cx="4222656" cy="132054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직사각형 14"/>
          <p:cNvSpPr/>
          <p:nvPr/>
        </p:nvSpPr>
        <p:spPr>
          <a:xfrm>
            <a:off x="606641" y="1375321"/>
            <a:ext cx="10979123" cy="479687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0683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62687" y="2684264"/>
            <a:ext cx="5157787" cy="2365771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/>
          <p:nvPr/>
        </p:nvSpPr>
        <p:spPr>
          <a:xfrm>
            <a:off x="6272212" y="3848100"/>
            <a:ext cx="5138737" cy="3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Calibri"/>
              <a:sym typeface="Calibri"/>
            </a:endParaRPr>
          </a:p>
        </p:txBody>
      </p:sp>
      <p:sp>
        <p:nvSpPr>
          <p:cNvPr id="106" name="Google Shape;106;p14"/>
          <p:cNvSpPr txBox="1"/>
          <p:nvPr/>
        </p:nvSpPr>
        <p:spPr>
          <a:xfrm>
            <a:off x="6929437" y="3027164"/>
            <a:ext cx="4355544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ko-KR" altLang="en-US" sz="1800" b="1" dirty="0" err="1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</a:rPr>
              <a:t>환경적</a:t>
            </a:r>
            <a:r>
              <a:rPr lang="ko-KR" altLang="en-US" sz="1800" b="1" dirty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</a:rPr>
              <a:t> </a:t>
            </a:r>
            <a:r>
              <a:rPr lang="ko-KR" altLang="en-US" sz="1800" b="1" dirty="0" err="1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</a:rPr>
              <a:t>필요</a:t>
            </a:r>
            <a:r>
              <a:rPr lang="ko-KR" altLang="en-US" sz="1800" b="1" dirty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</a:rPr>
              <a:t>성</a:t>
            </a:r>
          </a:p>
        </p:txBody>
      </p:sp>
      <p:pic>
        <p:nvPicPr>
          <p:cNvPr id="110" name="Google Shape;110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91210" y="3067421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4"/>
          <p:cNvSpPr txBox="1"/>
          <p:nvPr/>
        </p:nvSpPr>
        <p:spPr>
          <a:xfrm>
            <a:off x="6796087" y="3503414"/>
            <a:ext cx="4281487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ko-KR" altLang="en-US" sz="1200" b="1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공공</a:t>
            </a:r>
            <a:r>
              <a:rPr lang="en-US" sz="1200" b="1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</a:t>
            </a:r>
            <a:r>
              <a:rPr lang="ko-KR" altLang="en-US" sz="1200" b="1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안전</a:t>
            </a:r>
            <a:r>
              <a:rPr lang="en-US" sz="1200" b="1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</a:t>
            </a:r>
            <a:r>
              <a:rPr lang="ko-KR" altLang="en-US" sz="1200" b="1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선호</a:t>
            </a:r>
            <a:r>
              <a:rPr lang="en-US" sz="1200" b="1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:</a:t>
            </a:r>
            <a:r>
              <a:rPr lang="en-US" altLang="ko-KR" sz="1200" b="1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</a:t>
            </a:r>
            <a:r>
              <a:rPr lang="ko-KR" altLang="en-US" sz="1200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주민등록제도 기반 인프라와 개인정보 이용에 대한 높은 수용성</a:t>
            </a:r>
            <a:endParaRPr lang="ko-KR" altLang="en-US" sz="1200" dirty="0">
              <a:solidFill>
                <a:srgbClr val="475569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Gothic A1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6796087" y="4105275"/>
            <a:ext cx="4281487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ko-KR" altLang="en-US" sz="1200" b="1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서비스 실현 환경</a:t>
            </a:r>
            <a:r>
              <a:rPr lang="en-US" sz="1200" b="1" i="0" u="none" strike="noStrike" cap="none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:</a:t>
            </a:r>
            <a:r>
              <a:rPr lang="en-US" sz="1200" b="0" i="0" u="none" strike="noStrike" cap="none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</a:t>
            </a:r>
            <a:r>
              <a:rPr lang="ko-KR" altLang="en-US" sz="1200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조밀한 국토면적 대비 높은 인구 밀집도</a:t>
            </a:r>
            <a:endParaRPr lang="en-US" sz="1200" dirty="0">
              <a:solidFill>
                <a:srgbClr val="475569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Gothic A1"/>
            </a:endParaRPr>
          </a:p>
        </p:txBody>
      </p:sp>
      <p:sp>
        <p:nvSpPr>
          <p:cNvPr id="115" name="Google Shape;115;p14"/>
          <p:cNvSpPr txBox="1"/>
          <p:nvPr/>
        </p:nvSpPr>
        <p:spPr>
          <a:xfrm>
            <a:off x="6605587" y="3484364"/>
            <a:ext cx="85725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0284C7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•</a:t>
            </a:r>
            <a:endParaRPr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16" name="Google Shape;116;p14"/>
          <p:cNvSpPr txBox="1"/>
          <p:nvPr/>
        </p:nvSpPr>
        <p:spPr>
          <a:xfrm>
            <a:off x="6605587" y="4086225"/>
            <a:ext cx="85725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0284C7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•</a:t>
            </a:r>
            <a:endParaRPr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3" name="Google Shape;139;p15"/>
          <p:cNvSpPr txBox="1"/>
          <p:nvPr/>
        </p:nvSpPr>
        <p:spPr>
          <a:xfrm>
            <a:off x="771525" y="581025"/>
            <a:ext cx="11181397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altLang="ko-KR" sz="2850" b="1" dirty="0" smtClean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Poppins Black"/>
              </a:rPr>
              <a:t>01   </a:t>
            </a:r>
            <a:r>
              <a:rPr lang="ko-KR" altLang="en-US" sz="2850" b="1" dirty="0" smtClean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Poppins Black"/>
              </a:rPr>
              <a:t>프로젝트 소개</a:t>
            </a:r>
            <a:endParaRPr lang="en-US" altLang="ko-KR" sz="2850" b="1" dirty="0">
              <a:solidFill>
                <a:srgbClr val="0F172A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Poppins Black"/>
            </a:endParaRPr>
          </a:p>
        </p:txBody>
      </p:sp>
      <p:pic>
        <p:nvPicPr>
          <p:cNvPr id="21" name="Google Shape;101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1525" y="2684264"/>
            <a:ext cx="5157787" cy="2365771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103;p14"/>
          <p:cNvSpPr/>
          <p:nvPr/>
        </p:nvSpPr>
        <p:spPr>
          <a:xfrm>
            <a:off x="781050" y="3848100"/>
            <a:ext cx="5138737" cy="3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Calibri"/>
              <a:sym typeface="Calibri"/>
            </a:endParaRPr>
          </a:p>
        </p:txBody>
      </p:sp>
      <p:sp>
        <p:nvSpPr>
          <p:cNvPr id="24" name="Google Shape;104;p14"/>
          <p:cNvSpPr txBox="1"/>
          <p:nvPr/>
        </p:nvSpPr>
        <p:spPr>
          <a:xfrm>
            <a:off x="1438275" y="3027164"/>
            <a:ext cx="4355544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sz="1800" b="1" i="0" u="none" strike="noStrike" cap="none" dirty="0" err="1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기존</a:t>
            </a:r>
            <a:r>
              <a:rPr lang="en-US" sz="1800" b="1" dirty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 </a:t>
            </a:r>
            <a:r>
              <a:rPr lang="ko-KR" altLang="en-US" sz="1800" b="1" dirty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수색</a:t>
            </a:r>
            <a:r>
              <a:rPr lang="en-US" altLang="ko-KR" sz="1800" b="1" dirty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</a:t>
            </a:r>
            <a:r>
              <a:rPr lang="ko-KR" altLang="en-US" sz="1800" b="1" dirty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시스템의</a:t>
            </a:r>
            <a:r>
              <a:rPr lang="en-US" sz="1800" b="1" i="0" u="none" strike="noStrike" cap="none" dirty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</a:t>
            </a:r>
            <a:r>
              <a:rPr lang="en-US" sz="1800" b="1" i="0" u="none" strike="noStrike" cap="none" dirty="0" err="1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한계</a:t>
            </a:r>
            <a:endParaRPr lang="ko-KR" altLang="en-US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pic>
        <p:nvPicPr>
          <p:cNvPr id="25" name="Google Shape;107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49727" y="3067421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108;p14"/>
          <p:cNvSpPr txBox="1"/>
          <p:nvPr/>
        </p:nvSpPr>
        <p:spPr>
          <a:xfrm>
            <a:off x="1304925" y="3503414"/>
            <a:ext cx="4281487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1200" b="1" i="0" u="none" strike="noStrike" cap="none" dirty="0" err="1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수색</a:t>
            </a:r>
            <a:r>
              <a:rPr lang="en-US" sz="1200" b="1" i="0" u="none" strike="noStrike" cap="none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</a:t>
            </a:r>
            <a:r>
              <a:rPr lang="en-US" sz="1200" b="1" i="0" u="none" strike="noStrike" cap="none" dirty="0" err="1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인력의</a:t>
            </a:r>
            <a:r>
              <a:rPr lang="en-US" sz="1200" b="1" i="0" u="none" strike="noStrike" cap="none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</a:t>
            </a:r>
            <a:r>
              <a:rPr lang="en-US" sz="1200" b="1" i="0" u="none" strike="noStrike" cap="none" dirty="0" err="1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한계</a:t>
            </a:r>
            <a:r>
              <a:rPr lang="en-US" sz="1200" b="1" i="0" u="none" strike="noStrike" cap="none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:</a:t>
            </a:r>
            <a:r>
              <a:rPr lang="en-US" sz="1200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 </a:t>
            </a:r>
            <a:r>
              <a:rPr lang="ko-KR" altLang="en-US" sz="1200" dirty="0" err="1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보행자</a:t>
            </a:r>
            <a:r>
              <a:rPr lang="en-US" sz="1200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</a:t>
            </a:r>
            <a:r>
              <a:rPr lang="ko-KR" altLang="en-US" sz="1200" dirty="0" err="1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전체를</a:t>
            </a:r>
            <a:r>
              <a:rPr lang="en-US" sz="1200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</a:t>
            </a:r>
            <a:r>
              <a:rPr lang="ko-KR" altLang="en-US" sz="1200" dirty="0" err="1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상대로</a:t>
            </a:r>
            <a:r>
              <a:rPr lang="en-US" sz="1200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</a:t>
            </a:r>
            <a:r>
              <a:rPr lang="ko-KR" altLang="en-US" sz="1200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수색</a:t>
            </a:r>
            <a:r>
              <a:rPr lang="en-US" sz="1200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</a:t>
            </a:r>
            <a:r>
              <a:rPr lang="ko-KR" altLang="en-US" sz="1200" dirty="0" smtClean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검문</a:t>
            </a:r>
            <a:r>
              <a:rPr lang="en-US" sz="1200" dirty="0" smtClean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</a:t>
            </a:r>
            <a:r>
              <a:rPr lang="ko-KR" altLang="en-US" sz="1200" dirty="0" err="1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불가능</a:t>
            </a:r>
            <a:r>
              <a:rPr lang="en-US" altLang="ko-KR" sz="1200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.</a:t>
            </a:r>
            <a:endParaRPr lang="en-US" altLang="ko-KR" sz="1200" dirty="0">
              <a:solidFill>
                <a:srgbClr val="475569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Gothic A1"/>
            </a:endParaRPr>
          </a:p>
          <a:p>
            <a:pPr>
              <a:lnSpc>
                <a:spcPct val="160000"/>
              </a:lnSpc>
            </a:pPr>
            <a:r>
              <a:rPr lang="ko-KR" altLang="en-US" sz="1200" dirty="0" smtClean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목격자</a:t>
            </a:r>
            <a:r>
              <a:rPr lang="en-US" sz="1200" dirty="0" smtClean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</a:t>
            </a:r>
            <a:r>
              <a:rPr lang="ko-KR" altLang="en-US" sz="1200" dirty="0" err="1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신고에</a:t>
            </a:r>
            <a:r>
              <a:rPr lang="en-US" sz="1200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</a:t>
            </a:r>
            <a:r>
              <a:rPr lang="ko-KR" altLang="en-US" sz="1200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의존할 수밖에 없는 현행 수색 체계.</a:t>
            </a:r>
            <a:endParaRPr lang="ko-KR" altLang="en-US" sz="1200" dirty="0">
              <a:solidFill>
                <a:srgbClr val="475569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Gothic A1"/>
            </a:endParaRPr>
          </a:p>
        </p:txBody>
      </p:sp>
      <p:sp>
        <p:nvSpPr>
          <p:cNvPr id="27" name="Google Shape;109;p14"/>
          <p:cNvSpPr txBox="1"/>
          <p:nvPr/>
        </p:nvSpPr>
        <p:spPr>
          <a:xfrm>
            <a:off x="1304925" y="4105275"/>
            <a:ext cx="4281487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ko-KR" altLang="en-US" sz="1200" b="1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수동 관제 시스템의 한계</a:t>
            </a:r>
            <a:r>
              <a:rPr lang="en-US" sz="1200" b="1" i="0" u="none" strike="noStrike" cap="none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:</a:t>
            </a:r>
            <a:r>
              <a:rPr lang="en-US" sz="1200" b="1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</a:t>
            </a:r>
            <a:r>
              <a:rPr lang="ko-KR" altLang="en-US" sz="1200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요원 1인이 감당해야 하는 과다한 영상 수로 인해 모니터링 공백 </a:t>
            </a:r>
            <a:r>
              <a:rPr lang="ko-KR" altLang="en-US" sz="1200" dirty="0" smtClean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발생</a:t>
            </a:r>
            <a:endParaRPr lang="ko-KR" altLang="en-US" sz="1200" dirty="0">
              <a:solidFill>
                <a:srgbClr val="475569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Gothic A1"/>
            </a:endParaRPr>
          </a:p>
        </p:txBody>
      </p:sp>
      <p:sp>
        <p:nvSpPr>
          <p:cNvPr id="28" name="Google Shape;113;p14"/>
          <p:cNvSpPr txBox="1"/>
          <p:nvPr/>
        </p:nvSpPr>
        <p:spPr>
          <a:xfrm>
            <a:off x="1114425" y="3484364"/>
            <a:ext cx="85725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0284C7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•</a:t>
            </a:r>
            <a:endParaRPr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9" name="Google Shape;114;p14"/>
          <p:cNvSpPr txBox="1"/>
          <p:nvPr/>
        </p:nvSpPr>
        <p:spPr>
          <a:xfrm>
            <a:off x="1114425" y="4086225"/>
            <a:ext cx="85725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0284C7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•</a:t>
            </a:r>
            <a:endParaRPr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606641" y="1375321"/>
            <a:ext cx="10979123" cy="479687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3" name="직선 연결선 32"/>
          <p:cNvCxnSpPr/>
          <p:nvPr/>
        </p:nvCxnSpPr>
        <p:spPr>
          <a:xfrm flipV="1">
            <a:off x="606641" y="1145219"/>
            <a:ext cx="10979123" cy="9327"/>
          </a:xfrm>
          <a:prstGeom prst="line">
            <a:avLst/>
          </a:prstGeom>
          <a:ln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61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5"/>
          <p:cNvSpPr txBox="1"/>
          <p:nvPr/>
        </p:nvSpPr>
        <p:spPr>
          <a:xfrm>
            <a:off x="771525" y="581025"/>
            <a:ext cx="11181397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altLang="ko-KR" sz="2850" b="1" dirty="0" smtClean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Poppins Black"/>
              </a:rPr>
              <a:t>01   </a:t>
            </a:r>
            <a:r>
              <a:rPr lang="ko-KR" altLang="en-US" sz="2850" b="1" dirty="0" smtClean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Poppins Black"/>
              </a:rPr>
              <a:t>프로젝트 소개</a:t>
            </a:r>
            <a:endParaRPr lang="en-US" altLang="ko-KR" sz="2850" b="1" dirty="0">
              <a:solidFill>
                <a:srgbClr val="0F172A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Poppins Black"/>
            </a:endParaRPr>
          </a:p>
        </p:txBody>
      </p:sp>
      <p:sp>
        <p:nvSpPr>
          <p:cNvPr id="140" name="Google Shape;140;p15"/>
          <p:cNvSpPr/>
          <p:nvPr/>
        </p:nvSpPr>
        <p:spPr>
          <a:xfrm>
            <a:off x="771525" y="1123950"/>
            <a:ext cx="76200" cy="36195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Calibri"/>
              <a:sym typeface="Calibri"/>
            </a:endParaRPr>
          </a:p>
        </p:txBody>
      </p:sp>
      <p:sp>
        <p:nvSpPr>
          <p:cNvPr id="3" name="Google Shape;86;p13">
            <a:extLst>
              <a:ext uri="{FF2B5EF4-FFF2-40B4-BE49-F238E27FC236}">
                <a16:creationId xmlns:a16="http://schemas.microsoft.com/office/drawing/2014/main" id="{C5538C10-544B-3730-3EEC-56978A2CD659}"/>
              </a:ext>
            </a:extLst>
          </p:cNvPr>
          <p:cNvSpPr/>
          <p:nvPr/>
        </p:nvSpPr>
        <p:spPr>
          <a:xfrm>
            <a:off x="771525" y="1365795"/>
            <a:ext cx="106489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Calibri"/>
              <a:sym typeface="Calibri"/>
            </a:endParaRPr>
          </a:p>
        </p:txBody>
      </p:sp>
      <p:pic>
        <p:nvPicPr>
          <p:cNvPr id="21" name="Google Shape;124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1525" y="2014611"/>
            <a:ext cx="3390900" cy="265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125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00550" y="2014611"/>
            <a:ext cx="3390900" cy="265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126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29575" y="2014611"/>
            <a:ext cx="3390900" cy="265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127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133600" y="2357511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128;p15"/>
          <p:cNvSpPr txBox="1"/>
          <p:nvPr/>
        </p:nvSpPr>
        <p:spPr>
          <a:xfrm>
            <a:off x="1716881" y="3262386"/>
            <a:ext cx="1500187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사회</a:t>
            </a:r>
            <a:r>
              <a:rPr lang="en-US" sz="1500" b="1" i="0" u="none" strike="noStrike" cap="none" dirty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</a:t>
            </a:r>
            <a:r>
              <a:rPr lang="en-US" sz="1500" b="1" i="0" u="none" strike="noStrike" cap="none" dirty="0" err="1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안전망</a:t>
            </a:r>
            <a:r>
              <a:rPr lang="en-US" sz="1500" b="1" i="0" u="none" strike="noStrike" cap="none" dirty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</a:t>
            </a:r>
            <a:r>
              <a:rPr lang="en-US" sz="1500" b="1" i="0" u="none" strike="noStrike" cap="none" dirty="0" err="1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강화</a:t>
            </a:r>
            <a:endParaRPr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6" name="Google Shape;129;p15"/>
          <p:cNvSpPr txBox="1"/>
          <p:nvPr/>
        </p:nvSpPr>
        <p:spPr>
          <a:xfrm>
            <a:off x="1019175" y="3643386"/>
            <a:ext cx="2895600" cy="812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60000"/>
              </a:lnSpc>
            </a:pPr>
            <a:r>
              <a:rPr lang="ko-KR" altLang="en-US" sz="1100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골든</a:t>
            </a:r>
            <a:r>
              <a:rPr lang="en-US" sz="1100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</a:t>
            </a:r>
            <a:r>
              <a:rPr lang="ko-KR" altLang="en-US" sz="1100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타임</a:t>
            </a:r>
            <a:r>
              <a:rPr lang="en-US" altLang="ko-KR" sz="1100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</a:t>
            </a:r>
            <a:r>
              <a:rPr lang="en-US" altLang="ko-KR" sz="1100" dirty="0" err="1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이내에</a:t>
            </a:r>
            <a:r>
              <a:rPr lang="en-US" altLang="ko-KR" sz="1100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</a:t>
            </a:r>
            <a:r>
              <a:rPr lang="ko-KR" altLang="en-US" sz="1100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치매</a:t>
            </a:r>
            <a:r>
              <a:rPr lang="en-US" sz="1100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 </a:t>
            </a:r>
            <a:r>
              <a:rPr lang="ko-KR" altLang="en-US" sz="1100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환자와</a:t>
            </a:r>
            <a:r>
              <a:rPr lang="en-US" sz="1100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 </a:t>
            </a:r>
            <a:r>
              <a:rPr lang="en-US" sz="1100" b="0" i="0" u="none" strike="noStrike" cap="none" dirty="0" err="1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아동</a:t>
            </a:r>
            <a:r>
              <a:rPr lang="en-US" sz="1100" b="0" i="0" u="none" strike="noStrike" cap="none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등 </a:t>
            </a:r>
            <a:r>
              <a:rPr lang="ko-KR" altLang="en-US" sz="1100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실종자를</a:t>
            </a:r>
            <a:r>
              <a:rPr lang="en-US" sz="1100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</a:t>
            </a:r>
            <a:r>
              <a:rPr lang="ko-KR" altLang="en-US" sz="1100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수색하여</a:t>
            </a:r>
            <a:r>
              <a:rPr lang="en-US" sz="1100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</a:t>
            </a:r>
            <a:r>
              <a:rPr lang="ko-KR" altLang="en-US" sz="1100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구조하고</a:t>
            </a:r>
            <a:r>
              <a:rPr lang="en-US" sz="1100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,</a:t>
            </a:r>
            <a:r>
              <a:rPr lang="en-US" sz="1100" b="0" i="0" u="none" strike="noStrike" cap="none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</a:t>
            </a:r>
            <a:r>
              <a:rPr lang="ko-KR" altLang="en-US" sz="1100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위험인자를</a:t>
            </a:r>
            <a:r>
              <a:rPr lang="en-US" sz="1100" b="0" i="0" u="none" strike="noStrike" cap="none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</a:t>
            </a:r>
            <a:r>
              <a:rPr lang="en-US" sz="1100" b="0" i="0" u="none" strike="noStrike" cap="none" dirty="0" err="1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조기</a:t>
            </a:r>
            <a:r>
              <a:rPr lang="en-US" sz="1100" b="0" i="0" u="none" strike="noStrike" cap="none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</a:t>
            </a:r>
            <a:r>
              <a:rPr lang="ko-KR" altLang="en-US" sz="1100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탐지하여</a:t>
            </a:r>
            <a:r>
              <a:rPr lang="en-US" sz="1100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 </a:t>
            </a:r>
            <a:r>
              <a:rPr lang="ko-KR" altLang="en-US" sz="1100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초동대처</a:t>
            </a:r>
            <a:r>
              <a:rPr lang="en-US" sz="1100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</a:t>
            </a:r>
            <a:r>
              <a:rPr lang="en-US" sz="1100" b="0" i="0" u="none" strike="noStrike" cap="none" dirty="0" err="1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지원</a:t>
            </a:r>
            <a:endParaRPr lang="ko-KR" altLang="en-US" sz="11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pic>
        <p:nvPicPr>
          <p:cNvPr id="27" name="Google Shape;130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62625" y="2357511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131;p15"/>
          <p:cNvSpPr txBox="1"/>
          <p:nvPr/>
        </p:nvSpPr>
        <p:spPr>
          <a:xfrm>
            <a:off x="5245893" y="3262386"/>
            <a:ext cx="1700212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관제</a:t>
            </a:r>
            <a:r>
              <a:rPr lang="en-US" sz="1500" b="1" i="0" u="none" strike="noStrike" cap="none" dirty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</a:t>
            </a:r>
            <a:r>
              <a:rPr lang="en-US" sz="1500" b="1" i="0" u="none" strike="noStrike" cap="none" dirty="0" err="1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시스템</a:t>
            </a:r>
            <a:r>
              <a:rPr lang="en-US" sz="1500" b="1" i="0" u="none" strike="noStrike" cap="none" dirty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</a:t>
            </a:r>
            <a:r>
              <a:rPr lang="en-US" sz="1500" b="1" i="0" u="none" strike="noStrike" cap="none" dirty="0" err="1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효율화</a:t>
            </a:r>
            <a:endParaRPr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9" name="Google Shape;132;p15"/>
          <p:cNvSpPr txBox="1"/>
          <p:nvPr/>
        </p:nvSpPr>
        <p:spPr>
          <a:xfrm>
            <a:off x="4648200" y="3643386"/>
            <a:ext cx="2895600" cy="812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60000"/>
              </a:lnSpc>
            </a:pPr>
            <a:r>
              <a:rPr lang="ko-KR" altLang="en-US" sz="1100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육안을 통한 탐지에 의존하던  </a:t>
            </a:r>
            <a:r>
              <a:rPr lang="en-US" sz="1100" b="0" i="0" u="none" strike="noStrike" cap="none" dirty="0" err="1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수동</a:t>
            </a:r>
            <a:r>
              <a:rPr lang="en-US" sz="1100" b="0" i="0" u="none" strike="noStrike" cap="none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</a:t>
            </a:r>
            <a:r>
              <a:rPr lang="en-US" sz="1100" b="0" i="0" u="none" strike="noStrike" cap="none" dirty="0" err="1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모니터링</a:t>
            </a:r>
            <a:r>
              <a:rPr lang="en-US" sz="1100" b="0" i="0" u="none" strike="noStrike" cap="none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</a:t>
            </a:r>
            <a:r>
              <a:rPr lang="en-US" sz="1100" b="0" i="0" u="none" strike="noStrike" cap="none" dirty="0" err="1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방식에서</a:t>
            </a:r>
            <a:r>
              <a:rPr lang="en-US" sz="1100" b="0" i="0" u="none" strike="noStrike" cap="none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</a:t>
            </a:r>
            <a:r>
              <a:rPr lang="en-US" sz="1100" b="0" i="0" u="none" strike="noStrike" cap="none" dirty="0" err="1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탈피하여</a:t>
            </a:r>
            <a:r>
              <a:rPr lang="en-US" sz="1100" b="0" i="0" u="none" strike="noStrike" cap="none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AI </a:t>
            </a:r>
            <a:r>
              <a:rPr lang="en-US" sz="1100" b="0" i="0" u="none" strike="noStrike" cap="none" dirty="0" err="1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기반</a:t>
            </a:r>
            <a:r>
              <a:rPr lang="en-US" sz="1100" b="0" i="0" u="none" strike="noStrike" cap="none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</a:t>
            </a:r>
            <a:r>
              <a:rPr lang="en-US" sz="1100" b="0" i="0" u="none" strike="noStrike" cap="none" dirty="0" err="1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실시간</a:t>
            </a:r>
            <a:r>
              <a:rPr lang="en-US" sz="1100" b="0" i="0" u="none" strike="noStrike" cap="none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</a:t>
            </a:r>
            <a:r>
              <a:rPr lang="en-US" sz="1100" b="0" i="0" u="none" strike="noStrike" cap="none" dirty="0" err="1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탐지</a:t>
            </a:r>
            <a:r>
              <a:rPr lang="en-US" sz="1100" b="0" i="0" u="none" strike="noStrike" cap="none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</a:t>
            </a:r>
            <a:r>
              <a:rPr lang="ko-KR" altLang="en-US" sz="1100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및</a:t>
            </a:r>
            <a:r>
              <a:rPr lang="en-US" altLang="ko-KR" sz="1100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</a:t>
            </a:r>
            <a:endParaRPr lang="ko-KR" sz="1100" dirty="0" err="1">
              <a:latin typeface="나눔스퀘어_ac Bold" panose="020B0600000101010101" pitchFamily="50" charset="-127"/>
              <a:ea typeface="나눔스퀘어_ac Bold" panose="020B0600000101010101" pitchFamily="50" charset="-127"/>
              <a:sym typeface="Gothic A1"/>
            </a:endParaRPr>
          </a:p>
          <a:p>
            <a:pPr algn="ctr">
              <a:lnSpc>
                <a:spcPct val="160000"/>
              </a:lnSpc>
            </a:pPr>
            <a:r>
              <a:rPr lang="ko-KR" altLang="en-US" sz="1100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알림</a:t>
            </a:r>
            <a:r>
              <a:rPr lang="en-US" sz="1100" b="0" i="0" u="none" strike="noStrike" cap="none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</a:t>
            </a:r>
            <a:r>
              <a:rPr lang="en-US" sz="1100" b="0" i="0" u="none" strike="noStrike" cap="none" dirty="0" err="1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체계</a:t>
            </a:r>
            <a:r>
              <a:rPr lang="en-US" sz="1100" b="0" i="0" u="none" strike="noStrike" cap="none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</a:t>
            </a:r>
            <a:r>
              <a:rPr lang="en-US" sz="1100" b="0" i="0" u="none" strike="noStrike" cap="none" dirty="0" err="1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구축</a:t>
            </a:r>
            <a:endParaRPr sz="11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pic>
        <p:nvPicPr>
          <p:cNvPr id="30" name="Google Shape;133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391650" y="2357511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134;p15"/>
          <p:cNvSpPr txBox="1"/>
          <p:nvPr/>
        </p:nvSpPr>
        <p:spPr>
          <a:xfrm>
            <a:off x="8874918" y="3262386"/>
            <a:ext cx="1700212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en-US" sz="1500" b="1" i="0" u="none" strike="noStrike" cap="none" dirty="0" err="1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모빌리티</a:t>
            </a:r>
            <a:r>
              <a:rPr lang="en-US" sz="1500" b="1" dirty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</a:t>
            </a:r>
            <a:r>
              <a:rPr lang="ko-KR" altLang="en-US" sz="1500" b="1" dirty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확보</a:t>
            </a:r>
            <a:endParaRPr lang="ko-KR" altLang="en-US" sz="1500" b="1" dirty="0">
              <a:solidFill>
                <a:srgbClr val="0F172A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Gothic A1"/>
            </a:endParaRPr>
          </a:p>
        </p:txBody>
      </p:sp>
      <p:sp>
        <p:nvSpPr>
          <p:cNvPr id="32" name="Google Shape;135;p15"/>
          <p:cNvSpPr txBox="1"/>
          <p:nvPr/>
        </p:nvSpPr>
        <p:spPr>
          <a:xfrm>
            <a:off x="8277225" y="3643386"/>
            <a:ext cx="2895600" cy="1083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60000"/>
              </a:lnSpc>
            </a:pPr>
            <a:r>
              <a:rPr lang="en-US" sz="1100" b="0" i="0" u="none" strike="noStrike" cap="none" dirty="0" err="1" smtClean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무인기</a:t>
            </a:r>
            <a:r>
              <a:rPr lang="en-US" sz="1100" b="0" i="0" u="none" strike="noStrike" cap="none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(</a:t>
            </a:r>
            <a:r>
              <a:rPr lang="en-US" sz="1100" b="0" i="0" u="none" strike="noStrike" cap="none" dirty="0" err="1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드론</a:t>
            </a:r>
            <a:r>
              <a:rPr lang="en-US" sz="1100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), </a:t>
            </a:r>
            <a:r>
              <a:rPr lang="ko-KR" altLang="en-US" sz="1100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스마트</a:t>
            </a:r>
            <a:r>
              <a:rPr lang="en-US" sz="1100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</a:t>
            </a:r>
            <a:r>
              <a:rPr lang="ko-KR" altLang="en-US" sz="1100" dirty="0" err="1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글라스</a:t>
            </a:r>
            <a:r>
              <a:rPr lang="en-US" altLang="ko-KR" sz="1100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</a:t>
            </a:r>
            <a:r>
              <a:rPr lang="ko-KR" altLang="en-US" sz="1100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등 이동형 매체를 통한 입체적인 시야 확보와 탐지 체계 </a:t>
            </a:r>
            <a:r>
              <a:rPr lang="ko-KR" altLang="en-US" sz="1100" dirty="0" smtClean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구축으로 </a:t>
            </a:r>
            <a:endParaRPr lang="en-US" altLang="ko-KR" sz="1100" dirty="0" smtClean="0">
              <a:solidFill>
                <a:srgbClr val="475569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Gothic A1"/>
              <a:sym typeface="Gothic A1"/>
            </a:endParaRPr>
          </a:p>
          <a:p>
            <a:pPr algn="ctr">
              <a:lnSpc>
                <a:spcPct val="160000"/>
              </a:lnSpc>
            </a:pPr>
            <a:r>
              <a:rPr lang="en-US" altLang="ko-KR" sz="1100" dirty="0" err="1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고정식</a:t>
            </a:r>
            <a:r>
              <a:rPr lang="en-US" altLang="ko-KR" sz="1100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CCTV</a:t>
            </a:r>
            <a:r>
              <a:rPr lang="ko-KR" altLang="en-US" sz="1100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의</a:t>
            </a:r>
            <a:r>
              <a:rPr lang="en-US" altLang="ko-KR" sz="1100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</a:t>
            </a:r>
            <a:r>
              <a:rPr lang="en-US" altLang="ko-KR" sz="1100" dirty="0" smtClean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한</a:t>
            </a:r>
            <a:r>
              <a:rPr lang="ko-KR" altLang="en-US" sz="1100" dirty="0" smtClean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계</a:t>
            </a:r>
            <a:r>
              <a:rPr lang="en-US" altLang="ko-KR" sz="1100" dirty="0" smtClean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</a:t>
            </a:r>
            <a:r>
              <a:rPr lang="ko-KR" altLang="en-US" sz="1100" dirty="0" smtClean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극복</a:t>
            </a:r>
            <a:endParaRPr lang="ko-KR" altLang="en-US" sz="1100" dirty="0">
              <a:latin typeface="나눔스퀘어_ac Bold" panose="020B0600000101010101" pitchFamily="50" charset="-127"/>
              <a:ea typeface="나눔스퀘어_ac Bold" panose="020B0600000101010101" pitchFamily="50" charset="-127"/>
              <a:sym typeface="Gothic A1"/>
            </a:endParaRPr>
          </a:p>
          <a:p>
            <a:pPr algn="ctr">
              <a:lnSpc>
                <a:spcPct val="160000"/>
              </a:lnSpc>
            </a:pPr>
            <a:endParaRPr lang="en-US" altLang="ko-KR" sz="1100" dirty="0">
              <a:solidFill>
                <a:srgbClr val="475569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Gothic A1"/>
            </a:endParaRPr>
          </a:p>
        </p:txBody>
      </p:sp>
      <p:pic>
        <p:nvPicPr>
          <p:cNvPr id="33" name="Google Shape;136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333625" y="2557536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137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962650" y="2557536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138;p15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558337" y="2557536"/>
            <a:ext cx="33337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직사각형 35"/>
          <p:cNvSpPr/>
          <p:nvPr/>
        </p:nvSpPr>
        <p:spPr>
          <a:xfrm>
            <a:off x="606641" y="1375321"/>
            <a:ext cx="10979123" cy="479687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7" name="직선 연결선 36"/>
          <p:cNvCxnSpPr/>
          <p:nvPr/>
        </p:nvCxnSpPr>
        <p:spPr>
          <a:xfrm flipV="1">
            <a:off x="606641" y="1145219"/>
            <a:ext cx="10979123" cy="9327"/>
          </a:xfrm>
          <a:prstGeom prst="line">
            <a:avLst/>
          </a:prstGeom>
          <a:ln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1525" y="1993407"/>
            <a:ext cx="3390900" cy="244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00550" y="1993407"/>
            <a:ext cx="3390900" cy="244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29575" y="1993407"/>
            <a:ext cx="3390900" cy="24479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6"/>
          <p:cNvSpPr txBox="1"/>
          <p:nvPr/>
        </p:nvSpPr>
        <p:spPr>
          <a:xfrm>
            <a:off x="1066800" y="2288682"/>
            <a:ext cx="2940367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 err="1">
                <a:solidFill>
                  <a:srgbClr val="0284C7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Poppins"/>
                <a:sym typeface="Poppins"/>
              </a:rPr>
              <a:t>BriefCam</a:t>
            </a:r>
            <a:endParaRPr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50" name="Google Shape;150;p16"/>
          <p:cNvSpPr/>
          <p:nvPr/>
        </p:nvSpPr>
        <p:spPr>
          <a:xfrm>
            <a:off x="1066800" y="2542981"/>
            <a:ext cx="2800350" cy="9525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Calibri"/>
              <a:sym typeface="Calibri"/>
            </a:endParaRPr>
          </a:p>
        </p:txBody>
      </p:sp>
      <p:sp>
        <p:nvSpPr>
          <p:cNvPr id="151" name="Google Shape;151;p16"/>
          <p:cNvSpPr txBox="1"/>
          <p:nvPr/>
        </p:nvSpPr>
        <p:spPr>
          <a:xfrm>
            <a:off x="4695825" y="2288682"/>
            <a:ext cx="2940367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 err="1">
                <a:solidFill>
                  <a:srgbClr val="0284C7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Poppins"/>
                <a:sym typeface="Poppins"/>
              </a:rPr>
              <a:t>IntelliVIX</a:t>
            </a:r>
            <a:endParaRPr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52" name="Google Shape;152;p16"/>
          <p:cNvSpPr/>
          <p:nvPr/>
        </p:nvSpPr>
        <p:spPr>
          <a:xfrm>
            <a:off x="4695825" y="2619181"/>
            <a:ext cx="2800350" cy="9525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Calibri"/>
              <a:sym typeface="Calibri"/>
            </a:endParaRPr>
          </a:p>
        </p:txBody>
      </p:sp>
      <p:sp>
        <p:nvSpPr>
          <p:cNvPr id="153" name="Google Shape;153;p16"/>
          <p:cNvSpPr txBox="1"/>
          <p:nvPr/>
        </p:nvSpPr>
        <p:spPr>
          <a:xfrm>
            <a:off x="8324850" y="2288682"/>
            <a:ext cx="2940367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0284C7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Poppins"/>
                <a:sym typeface="Poppins"/>
              </a:rPr>
              <a:t>ANDURIL</a:t>
            </a:r>
            <a:endParaRPr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54" name="Google Shape;154;p16"/>
          <p:cNvSpPr/>
          <p:nvPr/>
        </p:nvSpPr>
        <p:spPr>
          <a:xfrm>
            <a:off x="8324850" y="2619181"/>
            <a:ext cx="2800350" cy="9525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Calibri"/>
              <a:sym typeface="Calibri"/>
            </a:endParaRPr>
          </a:p>
        </p:txBody>
      </p:sp>
      <p:sp>
        <p:nvSpPr>
          <p:cNvPr id="156" name="Google Shape;156;p16"/>
          <p:cNvSpPr txBox="1"/>
          <p:nvPr/>
        </p:nvSpPr>
        <p:spPr>
          <a:xfrm>
            <a:off x="1209675" y="2832470"/>
            <a:ext cx="2657475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 err="1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대용량</a:t>
            </a:r>
            <a:r>
              <a:rPr lang="en-US" b="0" i="0" u="none" strike="noStrike" cap="none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</a:t>
            </a:r>
            <a:r>
              <a:rPr lang="en-US" b="0" i="0" u="none" strike="noStrike" cap="none" dirty="0" err="1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녹화</a:t>
            </a:r>
            <a:r>
              <a:rPr lang="en-US" b="0" i="0" u="none" strike="noStrike" cap="none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</a:t>
            </a:r>
            <a:r>
              <a:rPr lang="en-US" b="0" i="0" u="none" strike="noStrike" cap="none" dirty="0" err="1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영상</a:t>
            </a:r>
            <a:r>
              <a:rPr lang="en-US" b="0" i="0" u="none" strike="noStrike" cap="none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</a:t>
            </a:r>
            <a:r>
              <a:rPr lang="en-US" b="0" i="0" u="none" strike="noStrike" cap="none" dirty="0" err="1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압축</a:t>
            </a:r>
            <a:r>
              <a:rPr lang="en-US" b="0" i="0" u="none" strike="noStrike" cap="none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</a:t>
            </a:r>
            <a:r>
              <a:rPr lang="en-US" b="0" i="0" u="none" strike="noStrike" cap="none" dirty="0" err="1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요약</a:t>
            </a:r>
            <a:r>
              <a:rPr lang="en-US" b="0" i="0" u="none" strike="noStrike" cap="none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</a:t>
            </a:r>
            <a:r>
              <a:rPr lang="en-US" b="0" i="0" u="none" strike="noStrike" cap="none" dirty="0" err="1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기술</a:t>
            </a:r>
            <a:endParaRPr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57" name="Google Shape;157;p16"/>
          <p:cNvSpPr txBox="1"/>
          <p:nvPr/>
        </p:nvSpPr>
        <p:spPr>
          <a:xfrm>
            <a:off x="1209675" y="3515754"/>
            <a:ext cx="2657475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ko-KR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탐색,</a:t>
            </a:r>
            <a:r>
              <a:rPr lang="ko-KR" altLang="en-US" b="0" i="0" u="none" strike="noStrike" cap="none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</a:t>
            </a:r>
            <a:r>
              <a:rPr lang="ko-KR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보고서 작성 전체 자동화</a:t>
            </a:r>
            <a:endParaRPr lang="ko-KR" dirty="0">
              <a:latin typeface="나눔스퀘어_ac Bold" panose="020B0600000101010101" pitchFamily="50" charset="-127"/>
              <a:ea typeface="나눔스퀘어_ac Bold" panose="020B0600000101010101" pitchFamily="50" charset="-127"/>
              <a:cs typeface="Gothic A1"/>
              <a:sym typeface="Gothic A1"/>
            </a:endParaRPr>
          </a:p>
        </p:txBody>
      </p:sp>
      <p:sp>
        <p:nvSpPr>
          <p:cNvPr id="158" name="Google Shape;158;p16"/>
          <p:cNvSpPr txBox="1"/>
          <p:nvPr/>
        </p:nvSpPr>
        <p:spPr>
          <a:xfrm>
            <a:off x="1209675" y="3149491"/>
            <a:ext cx="2657475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b="0" i="0" u="none" strike="noStrike" cap="none" dirty="0" err="1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분석</a:t>
            </a:r>
            <a:r>
              <a:rPr lang="en-US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 </a:t>
            </a:r>
            <a:r>
              <a:rPr lang="ko-KR" altLang="en-US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자료</a:t>
            </a:r>
            <a:r>
              <a:rPr lang="en-US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</a:t>
            </a:r>
            <a:r>
              <a:rPr lang="ko-KR" altLang="en-US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가공</a:t>
            </a:r>
            <a:r>
              <a:rPr lang="en-US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</a:t>
            </a:r>
            <a:r>
              <a:rPr lang="ko-KR" altLang="en-US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및</a:t>
            </a:r>
            <a:r>
              <a:rPr lang="en-US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</a:t>
            </a:r>
            <a:r>
              <a:rPr lang="ko-KR" altLang="en-US" dirty="0" err="1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통계화</a:t>
            </a:r>
            <a:r>
              <a:rPr lang="en-US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</a:t>
            </a:r>
            <a:r>
              <a:rPr lang="ko-KR" altLang="en-US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서비스</a:t>
            </a:r>
            <a:endParaRPr lang="ko-KR" altLang="en-US" dirty="0">
              <a:solidFill>
                <a:srgbClr val="475569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Gothic A1"/>
            </a:endParaRPr>
          </a:p>
        </p:txBody>
      </p:sp>
      <p:sp>
        <p:nvSpPr>
          <p:cNvPr id="160" name="Google Shape;160;p16"/>
          <p:cNvSpPr txBox="1"/>
          <p:nvPr/>
        </p:nvSpPr>
        <p:spPr>
          <a:xfrm>
            <a:off x="4838700" y="2832470"/>
            <a:ext cx="2657475" cy="270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1100" b="0" i="0" u="none" strike="noStrike" cap="none" dirty="0" err="1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화재</a:t>
            </a:r>
            <a:r>
              <a:rPr lang="en-US" sz="1100" b="0" i="0" u="none" strike="noStrike" cap="none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, </a:t>
            </a:r>
            <a:r>
              <a:rPr lang="ko-KR" altLang="en-US" sz="1100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쓰러짐 등 위험</a:t>
            </a:r>
            <a:r>
              <a:rPr lang="en-US" sz="1100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 </a:t>
            </a:r>
            <a:r>
              <a:rPr lang="en-US" sz="1100" b="0" i="0" u="none" strike="noStrike" cap="none" dirty="0" err="1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상황</a:t>
            </a:r>
            <a:r>
              <a:rPr lang="en-US" sz="1100" b="0" i="0" u="none" strike="noStrike" cap="none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</a:t>
            </a:r>
            <a:r>
              <a:rPr lang="en-US" sz="1100" b="0" i="0" u="none" strike="noStrike" cap="none" dirty="0" err="1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인지</a:t>
            </a:r>
            <a:r>
              <a:rPr lang="en-US" sz="1100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</a:t>
            </a:r>
            <a:r>
              <a:rPr lang="ko-KR" altLang="en-US" sz="1100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및</a:t>
            </a:r>
            <a:r>
              <a:rPr lang="en-US" sz="1100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</a:t>
            </a:r>
            <a:r>
              <a:rPr lang="ko-KR" altLang="en-US" sz="1100" dirty="0" err="1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알람</a:t>
            </a:r>
            <a:endParaRPr lang="ko-KR" altLang="en-US" sz="1100" dirty="0" err="1">
              <a:solidFill>
                <a:srgbClr val="475569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Gothic A1"/>
            </a:endParaRPr>
          </a:p>
        </p:txBody>
      </p:sp>
      <p:sp>
        <p:nvSpPr>
          <p:cNvPr id="162" name="Google Shape;162;p16"/>
          <p:cNvSpPr txBox="1"/>
          <p:nvPr/>
        </p:nvSpPr>
        <p:spPr>
          <a:xfrm>
            <a:off x="4838700" y="3207000"/>
            <a:ext cx="2657475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ko-KR" sz="1100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</a:rPr>
              <a:t>복장을</a:t>
            </a:r>
            <a:r>
              <a:rPr lang="en-US" altLang="ko-KR" sz="1100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</a:rPr>
              <a:t> </a:t>
            </a:r>
            <a:r>
              <a:rPr lang="en-US" altLang="ko-KR" sz="1100" dirty="0" err="1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</a:rPr>
              <a:t>통한</a:t>
            </a:r>
            <a:r>
              <a:rPr lang="ko-KR" sz="1100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</a:rPr>
              <a:t> 신원</a:t>
            </a:r>
            <a:r>
              <a:rPr lang="en-US" altLang="ko-KR" sz="1100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</a:rPr>
              <a:t> </a:t>
            </a:r>
            <a:r>
              <a:rPr lang="ko-KR" sz="1100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</a:rPr>
              <a:t>식별,</a:t>
            </a:r>
            <a:r>
              <a:rPr lang="en-US" altLang="ko-KR" sz="1100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</a:rPr>
              <a:t> </a:t>
            </a:r>
            <a:r>
              <a:rPr lang="ko-KR" altLang="en-US" sz="1100" dirty="0" err="1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</a:rPr>
              <a:t>침입</a:t>
            </a:r>
            <a:r>
              <a:rPr lang="en-US" altLang="ko-KR" sz="1100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</a:rPr>
              <a:t> </a:t>
            </a:r>
            <a:r>
              <a:rPr lang="ko-KR" altLang="en-US" sz="1100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</a:rPr>
              <a:t>알람</a:t>
            </a:r>
            <a:endParaRPr lang="ko-KR" sz="1100" dirty="0">
              <a:latin typeface="나눔스퀘어_ac Bold" panose="020B0600000101010101" pitchFamily="50" charset="-127"/>
              <a:ea typeface="나눔스퀘어_ac Bold" panose="020B0600000101010101" pitchFamily="50" charset="-127"/>
              <a:cs typeface="Gothic A1"/>
            </a:endParaRPr>
          </a:p>
        </p:txBody>
      </p:sp>
      <p:sp>
        <p:nvSpPr>
          <p:cNvPr id="164" name="Google Shape;164;p16"/>
          <p:cNvSpPr txBox="1"/>
          <p:nvPr/>
        </p:nvSpPr>
        <p:spPr>
          <a:xfrm>
            <a:off x="8467725" y="2832470"/>
            <a:ext cx="2786871" cy="270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ko-KR" altLang="en-US" sz="1100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전용</a:t>
            </a:r>
            <a:r>
              <a:rPr lang="en-US" altLang="ko-KR" sz="1100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</a:t>
            </a:r>
            <a:r>
              <a:rPr lang="en-US" sz="1100" b="0" i="0" u="none" strike="noStrike" cap="none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CCTV, </a:t>
            </a:r>
            <a:r>
              <a:rPr lang="en-US" sz="1100" b="0" i="0" u="none" strike="noStrike" cap="none" dirty="0" err="1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레이더</a:t>
            </a:r>
            <a:r>
              <a:rPr lang="en-US" sz="1100" b="0" i="0" u="none" strike="noStrike" cap="none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, </a:t>
            </a:r>
            <a:r>
              <a:rPr lang="ko-KR" altLang="en-US" sz="1100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센서로 방대한 정보 수집</a:t>
            </a:r>
            <a:endParaRPr lang="en-US" sz="1100" dirty="0">
              <a:solidFill>
                <a:srgbClr val="475569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Gothic A1"/>
            </a:endParaRPr>
          </a:p>
        </p:txBody>
      </p:sp>
      <p:sp>
        <p:nvSpPr>
          <p:cNvPr id="165" name="Google Shape;165;p16"/>
          <p:cNvSpPr txBox="1"/>
          <p:nvPr/>
        </p:nvSpPr>
        <p:spPr>
          <a:xfrm>
            <a:off x="8467725" y="3156320"/>
            <a:ext cx="2657475" cy="270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en-US" sz="1100" b="0" i="0" u="none" strike="noStrike" cap="none" dirty="0" err="1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다기종</a:t>
            </a:r>
            <a:r>
              <a:rPr lang="en-US" sz="1100" b="0" i="0" u="none" strike="noStrike" cap="none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</a:t>
            </a:r>
            <a:r>
              <a:rPr lang="en-US" sz="1100" b="0" i="0" u="none" strike="noStrike" cap="none" dirty="0" err="1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무인</a:t>
            </a:r>
            <a:r>
              <a:rPr lang="en-US" sz="1100" b="0" i="0" u="none" strike="noStrike" cap="none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</a:t>
            </a:r>
            <a:r>
              <a:rPr lang="ko-KR" altLang="en-US" sz="1100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자산의</a:t>
            </a:r>
            <a:r>
              <a:rPr lang="en-US" sz="1100" b="0" i="0" u="none" strike="noStrike" cap="none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</a:t>
            </a:r>
            <a:r>
              <a:rPr lang="ko-KR" altLang="en-US" sz="1100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유기적인 정보 공유</a:t>
            </a:r>
            <a:endParaRPr lang="en-US" sz="1100" dirty="0">
              <a:solidFill>
                <a:srgbClr val="475569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Gothic A1"/>
            </a:endParaRPr>
          </a:p>
        </p:txBody>
      </p:sp>
      <p:sp>
        <p:nvSpPr>
          <p:cNvPr id="168" name="Google Shape;168;p16"/>
          <p:cNvSpPr txBox="1"/>
          <p:nvPr/>
        </p:nvSpPr>
        <p:spPr>
          <a:xfrm>
            <a:off x="1066800" y="2832470"/>
            <a:ext cx="47625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>
                <a:solidFill>
                  <a:srgbClr val="0284C7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▫</a:t>
            </a:r>
            <a:endParaRPr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69" name="Google Shape;169;p16"/>
          <p:cNvSpPr txBox="1"/>
          <p:nvPr/>
        </p:nvSpPr>
        <p:spPr>
          <a:xfrm>
            <a:off x="1066800" y="3443867"/>
            <a:ext cx="47625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>
                <a:solidFill>
                  <a:srgbClr val="0284C7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▫</a:t>
            </a:r>
            <a:endParaRPr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70" name="Google Shape;170;p16"/>
          <p:cNvSpPr txBox="1"/>
          <p:nvPr/>
        </p:nvSpPr>
        <p:spPr>
          <a:xfrm>
            <a:off x="1066800" y="3149491"/>
            <a:ext cx="47625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u="none" strike="noStrike" cap="none" dirty="0">
                <a:solidFill>
                  <a:srgbClr val="0284C7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▫</a:t>
            </a:r>
            <a:endParaRPr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72" name="Google Shape;172;p16"/>
          <p:cNvSpPr txBox="1"/>
          <p:nvPr/>
        </p:nvSpPr>
        <p:spPr>
          <a:xfrm>
            <a:off x="4695825" y="2832470"/>
            <a:ext cx="4762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>
                <a:solidFill>
                  <a:srgbClr val="0284C7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▫</a:t>
            </a:r>
            <a:endParaRPr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74" name="Google Shape;174;p16"/>
          <p:cNvSpPr txBox="1"/>
          <p:nvPr/>
        </p:nvSpPr>
        <p:spPr>
          <a:xfrm>
            <a:off x="4695825" y="3127925"/>
            <a:ext cx="4762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>
                <a:solidFill>
                  <a:srgbClr val="0284C7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▫</a:t>
            </a:r>
            <a:endParaRPr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76" name="Google Shape;176;p16"/>
          <p:cNvSpPr txBox="1"/>
          <p:nvPr/>
        </p:nvSpPr>
        <p:spPr>
          <a:xfrm>
            <a:off x="8324850" y="2832470"/>
            <a:ext cx="4762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>
                <a:solidFill>
                  <a:srgbClr val="0284C7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▫</a:t>
            </a:r>
            <a:endParaRPr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77" name="Google Shape;177;p16"/>
          <p:cNvSpPr txBox="1"/>
          <p:nvPr/>
        </p:nvSpPr>
        <p:spPr>
          <a:xfrm>
            <a:off x="8324850" y="3156320"/>
            <a:ext cx="4762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>
                <a:solidFill>
                  <a:srgbClr val="0284C7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▫</a:t>
            </a:r>
            <a:endParaRPr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79" name="Google Shape;179;p16"/>
          <p:cNvSpPr txBox="1"/>
          <p:nvPr/>
        </p:nvSpPr>
        <p:spPr>
          <a:xfrm>
            <a:off x="771525" y="581025"/>
            <a:ext cx="11181397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altLang="ko-KR" sz="2850" b="1" dirty="0" smtClean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Poppins Black"/>
              </a:rPr>
              <a:t>02   </a:t>
            </a:r>
            <a:r>
              <a:rPr lang="ko-KR" altLang="en-US" sz="2850" b="1" dirty="0" smtClean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Poppins Black"/>
              </a:rPr>
              <a:t>상용 솔루션 </a:t>
            </a:r>
            <a:r>
              <a:rPr lang="ko-KR" altLang="en-US" sz="2850" b="1" dirty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Poppins Black"/>
              </a:rPr>
              <a:t>벤치마킹</a:t>
            </a:r>
          </a:p>
        </p:txBody>
      </p:sp>
      <p:sp>
        <p:nvSpPr>
          <p:cNvPr id="180" name="Google Shape;180;p16"/>
          <p:cNvSpPr/>
          <p:nvPr/>
        </p:nvSpPr>
        <p:spPr>
          <a:xfrm>
            <a:off x="771525" y="1123950"/>
            <a:ext cx="76200" cy="36195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Calibri"/>
              <a:sym typeface="Calibri"/>
            </a:endParaRPr>
          </a:p>
        </p:txBody>
      </p:sp>
      <p:sp>
        <p:nvSpPr>
          <p:cNvPr id="3" name="Google Shape;86;p13">
            <a:extLst>
              <a:ext uri="{FF2B5EF4-FFF2-40B4-BE49-F238E27FC236}">
                <a16:creationId xmlns:a16="http://schemas.microsoft.com/office/drawing/2014/main" id="{E3B3190E-7AD4-C8EC-A68A-01B06F0E0ADA}"/>
              </a:ext>
            </a:extLst>
          </p:cNvPr>
          <p:cNvSpPr/>
          <p:nvPr/>
        </p:nvSpPr>
        <p:spPr>
          <a:xfrm>
            <a:off x="771525" y="1365795"/>
            <a:ext cx="106489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Calibri"/>
              <a:sym typeface="Calibri"/>
            </a:endParaRPr>
          </a:p>
        </p:txBody>
      </p:sp>
      <p:sp>
        <p:nvSpPr>
          <p:cNvPr id="6" name="Google Shape;165;p16">
            <a:extLst>
              <a:ext uri="{FF2B5EF4-FFF2-40B4-BE49-F238E27FC236}">
                <a16:creationId xmlns:a16="http://schemas.microsoft.com/office/drawing/2014/main" id="{9A177A7F-B261-ADA6-0FBC-0BA38B6FCAB8}"/>
              </a:ext>
            </a:extLst>
          </p:cNvPr>
          <p:cNvSpPr txBox="1"/>
          <p:nvPr/>
        </p:nvSpPr>
        <p:spPr>
          <a:xfrm>
            <a:off x="8482101" y="3486999"/>
            <a:ext cx="2657475" cy="270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ko-KR" altLang="en-US" sz="1100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</a:rPr>
              <a:t>노이즈 제어로 높은 정확도 확보</a:t>
            </a:r>
          </a:p>
        </p:txBody>
      </p:sp>
      <p:sp>
        <p:nvSpPr>
          <p:cNvPr id="7" name="Google Shape;177;p16">
            <a:extLst>
              <a:ext uri="{FF2B5EF4-FFF2-40B4-BE49-F238E27FC236}">
                <a16:creationId xmlns:a16="http://schemas.microsoft.com/office/drawing/2014/main" id="{09DF8712-2067-1956-A066-EF8DF24F2856}"/>
              </a:ext>
            </a:extLst>
          </p:cNvPr>
          <p:cNvSpPr txBox="1"/>
          <p:nvPr/>
        </p:nvSpPr>
        <p:spPr>
          <a:xfrm>
            <a:off x="8339226" y="3486999"/>
            <a:ext cx="4762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>
                <a:solidFill>
                  <a:srgbClr val="0284C7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▫</a:t>
            </a:r>
            <a:endParaRPr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pic>
        <p:nvPicPr>
          <p:cNvPr id="31" name="Google Shape;187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54913" y="4826830"/>
            <a:ext cx="3152254" cy="1113293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188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539623" y="4851516"/>
            <a:ext cx="3096569" cy="1055782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191;p17"/>
          <p:cNvSpPr txBox="1"/>
          <p:nvPr/>
        </p:nvSpPr>
        <p:spPr>
          <a:xfrm>
            <a:off x="1026005" y="5027215"/>
            <a:ext cx="4950618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ko-KR" altLang="en-US" sz="1250" b="1" dirty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정보 수집 성향</a:t>
            </a:r>
            <a:endParaRPr lang="en-US" sz="1250" b="1" dirty="0">
              <a:solidFill>
                <a:srgbClr val="0F172A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Gothic A1"/>
            </a:endParaRPr>
          </a:p>
        </p:txBody>
      </p:sp>
      <p:sp>
        <p:nvSpPr>
          <p:cNvPr id="34" name="Google Shape;192;p17"/>
          <p:cNvSpPr txBox="1"/>
          <p:nvPr/>
        </p:nvSpPr>
        <p:spPr>
          <a:xfrm>
            <a:off x="1026006" y="5310808"/>
            <a:ext cx="2981162" cy="787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9904"/>
              </a:lnSpc>
            </a:pPr>
            <a:r>
              <a:rPr lang="ko-KR" altLang="en-US" sz="1050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</a:rPr>
              <a:t>정보 수집 후 2차 가공하고 통계 분석하기 위한 시스템</a:t>
            </a:r>
          </a:p>
          <a:p>
            <a:pPr>
              <a:lnSpc>
                <a:spcPct val="159904"/>
              </a:lnSpc>
            </a:pPr>
            <a:r>
              <a:rPr lang="ko-KR" sz="1100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</a:rPr>
              <a:t>솔루션이 신원 확인을 목적으로 하지 않음</a:t>
            </a:r>
            <a:endParaRPr lang="ko-KR" sz="1100" dirty="0">
              <a:latin typeface="나눔스퀘어_ac Bold" panose="020B0600000101010101" pitchFamily="50" charset="-127"/>
              <a:ea typeface="나눔스퀘어_ac Bold" panose="020B0600000101010101" pitchFamily="50" charset="-127"/>
              <a:cs typeface="Gothic A1"/>
            </a:endParaRPr>
          </a:p>
          <a:p>
            <a:pPr>
              <a:lnSpc>
                <a:spcPct val="159904"/>
              </a:lnSpc>
            </a:pPr>
            <a:endParaRPr lang="ko-KR" altLang="en-US" sz="1050" dirty="0">
              <a:solidFill>
                <a:srgbClr val="475569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Gothic A1"/>
            </a:endParaRPr>
          </a:p>
        </p:txBody>
      </p:sp>
      <p:sp>
        <p:nvSpPr>
          <p:cNvPr id="35" name="Google Shape;193;p17"/>
          <p:cNvSpPr txBox="1"/>
          <p:nvPr/>
        </p:nvSpPr>
        <p:spPr>
          <a:xfrm>
            <a:off x="4739469" y="5044711"/>
            <a:ext cx="4950618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ko-KR" altLang="en-US" sz="1250" b="1" dirty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</a:rPr>
              <a:t>수동적인 탐지 솔루션</a:t>
            </a:r>
          </a:p>
        </p:txBody>
      </p:sp>
      <p:sp>
        <p:nvSpPr>
          <p:cNvPr id="36" name="Google Shape;194;p17"/>
          <p:cNvSpPr txBox="1"/>
          <p:nvPr/>
        </p:nvSpPr>
        <p:spPr>
          <a:xfrm>
            <a:off x="4739470" y="5292361"/>
            <a:ext cx="2537810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9904"/>
              </a:lnSpc>
            </a:pPr>
            <a:r>
              <a:rPr lang="ko-KR" altLang="en-US" sz="1050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</a:rPr>
              <a:t>사전 설정한 </a:t>
            </a:r>
            <a:r>
              <a:rPr lang="en-US" altLang="ko-KR" sz="1050" dirty="0" err="1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</a:rPr>
              <a:t>Z</a:t>
            </a:r>
            <a:r>
              <a:rPr lang="ko-KR" altLang="en-US" sz="1050" dirty="0" err="1" smtClean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</a:rPr>
              <a:t>one</a:t>
            </a:r>
            <a:r>
              <a:rPr lang="ko-KR" altLang="en-US" sz="1050" dirty="0" smtClean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</a:rPr>
              <a:t> </a:t>
            </a:r>
            <a:r>
              <a:rPr lang="ko-KR" altLang="en-US" sz="1050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</a:rPr>
              <a:t>안으로의 침입을 감지</a:t>
            </a:r>
          </a:p>
          <a:p>
            <a:pPr>
              <a:lnSpc>
                <a:spcPct val="159904"/>
              </a:lnSpc>
            </a:pPr>
            <a:r>
              <a:rPr lang="ko-KR" altLang="en-US" sz="1050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</a:rPr>
              <a:t>시설 내, 범위 내 활용 제한으로 능동성 결여</a:t>
            </a:r>
            <a:endParaRPr lang="ko-KR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pic>
        <p:nvPicPr>
          <p:cNvPr id="37" name="Google Shape;188;p17" descr="image.png">
            <a:extLst>
              <a:ext uri="{FF2B5EF4-FFF2-40B4-BE49-F238E27FC236}">
                <a16:creationId xmlns:a16="http://schemas.microsoft.com/office/drawing/2014/main" id="{49390A55-551C-AE4C-EDD4-7146637BE07E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156523" y="4851516"/>
            <a:ext cx="3156319" cy="1048593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193;p17">
            <a:extLst>
              <a:ext uri="{FF2B5EF4-FFF2-40B4-BE49-F238E27FC236}">
                <a16:creationId xmlns:a16="http://schemas.microsoft.com/office/drawing/2014/main" id="{CBE53451-65B3-1CDB-E534-BF8E457CB750}"/>
              </a:ext>
            </a:extLst>
          </p:cNvPr>
          <p:cNvSpPr txBox="1"/>
          <p:nvPr/>
        </p:nvSpPr>
        <p:spPr>
          <a:xfrm>
            <a:off x="8356369" y="5044711"/>
            <a:ext cx="4950618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ko-KR" altLang="en-US" sz="1250" b="1" dirty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</a:rPr>
              <a:t>높은 도입 </a:t>
            </a:r>
            <a:r>
              <a:rPr lang="ko-KR" altLang="en-US" sz="1250" b="1" dirty="0" smtClean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</a:rPr>
              <a:t>비용과 까다로운 시설 적합도 판별</a:t>
            </a:r>
            <a:endParaRPr lang="ko-KR" altLang="en-US" sz="1250" b="1" dirty="0">
              <a:solidFill>
                <a:srgbClr val="0F172A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Gothic A1"/>
            </a:endParaRPr>
          </a:p>
        </p:txBody>
      </p:sp>
      <p:sp>
        <p:nvSpPr>
          <p:cNvPr id="39" name="Google Shape;194;p17">
            <a:extLst>
              <a:ext uri="{FF2B5EF4-FFF2-40B4-BE49-F238E27FC236}">
                <a16:creationId xmlns:a16="http://schemas.microsoft.com/office/drawing/2014/main" id="{23EDA6B5-052F-5928-199A-DD72064626A8}"/>
              </a:ext>
            </a:extLst>
          </p:cNvPr>
          <p:cNvSpPr txBox="1"/>
          <p:nvPr/>
        </p:nvSpPr>
        <p:spPr>
          <a:xfrm>
            <a:off x="8356369" y="5292361"/>
            <a:ext cx="2768831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59904"/>
              </a:lnSpc>
            </a:pPr>
            <a:r>
              <a:rPr lang="ko-KR" altLang="en-US" sz="1050" dirty="0" smtClean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</a:rPr>
              <a:t>고품질의 영상 분석을 위한 높은 도입 비용</a:t>
            </a:r>
            <a:endParaRPr lang="en-US" altLang="ko-KR" sz="1050" dirty="0" smtClean="0">
              <a:solidFill>
                <a:srgbClr val="475569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Gothic A1"/>
            </a:endParaRPr>
          </a:p>
          <a:p>
            <a:pPr>
              <a:lnSpc>
                <a:spcPct val="159904"/>
              </a:lnSpc>
            </a:pPr>
            <a:r>
              <a:rPr lang="ko-KR" altLang="en-US" sz="1050" dirty="0" smtClean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</a:rPr>
              <a:t>카메라 설치 각도 등이 분석 품질에 큰 영향을 줌</a:t>
            </a:r>
            <a:endParaRPr lang="ko-KR" altLang="en-US" sz="1050" dirty="0">
              <a:solidFill>
                <a:srgbClr val="475569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Gothic A1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606641" y="1375321"/>
            <a:ext cx="10979123" cy="479687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2" name="직선 연결선 41"/>
          <p:cNvCxnSpPr/>
          <p:nvPr/>
        </p:nvCxnSpPr>
        <p:spPr>
          <a:xfrm flipV="1">
            <a:off x="606641" y="1145219"/>
            <a:ext cx="10979123" cy="9327"/>
          </a:xfrm>
          <a:prstGeom prst="line">
            <a:avLst/>
          </a:prstGeom>
          <a:ln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2259457" y="2305621"/>
            <a:ext cx="17267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>
                <a:solidFill>
                  <a:schemeClr val="bg1">
                    <a:lumMod val="50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(</a:t>
            </a:r>
            <a:r>
              <a:rPr lang="ko-KR" altLang="en-US" sz="1200" dirty="0" smtClean="0">
                <a:solidFill>
                  <a:schemeClr val="bg1">
                    <a:lumMod val="50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이스라엘</a:t>
            </a:r>
            <a:r>
              <a:rPr lang="en-US" altLang="ko-KR" sz="1200" dirty="0" smtClean="0">
                <a:solidFill>
                  <a:schemeClr val="bg1">
                    <a:lumMod val="50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, </a:t>
            </a:r>
            <a:r>
              <a:rPr lang="ko-KR" altLang="en-US" sz="1200" dirty="0" smtClean="0">
                <a:solidFill>
                  <a:schemeClr val="bg1">
                    <a:lumMod val="50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비즈니스 통계</a:t>
            </a:r>
            <a:r>
              <a:rPr lang="en-US" altLang="ko-KR" sz="1200" dirty="0" smtClean="0">
                <a:solidFill>
                  <a:schemeClr val="bg1">
                    <a:lumMod val="50000"/>
                  </a:schemeClr>
                </a:solidFill>
                <a:latin typeface="나눔스퀘어_ac" panose="020B0600000101010101" pitchFamily="50" charset="-127"/>
                <a:ea typeface="나눔스퀘어_ac" panose="020B0600000101010101" pitchFamily="50" charset="-127"/>
              </a:rPr>
              <a:t>)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  <a:latin typeface="나눔스퀘어_ac" panose="020B0600000101010101" pitchFamily="50" charset="-127"/>
              <a:ea typeface="나눔스퀘어_ac" panose="020B0600000101010101" pitchFamily="50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8"/>
          <p:cNvSpPr/>
          <p:nvPr/>
        </p:nvSpPr>
        <p:spPr>
          <a:xfrm>
            <a:off x="771525" y="1123950"/>
            <a:ext cx="76200" cy="36195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Calibri"/>
              <a:sym typeface="Calibri"/>
            </a:endParaRPr>
          </a:p>
        </p:txBody>
      </p:sp>
      <p:sp>
        <p:nvSpPr>
          <p:cNvPr id="7" name="Google Shape;86;p13">
            <a:extLst>
              <a:ext uri="{FF2B5EF4-FFF2-40B4-BE49-F238E27FC236}">
                <a16:creationId xmlns:a16="http://schemas.microsoft.com/office/drawing/2014/main" id="{E04A4474-2736-C460-A196-B7B307E30FD3}"/>
              </a:ext>
            </a:extLst>
          </p:cNvPr>
          <p:cNvSpPr/>
          <p:nvPr/>
        </p:nvSpPr>
        <p:spPr>
          <a:xfrm>
            <a:off x="771525" y="1365795"/>
            <a:ext cx="106489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Calibri"/>
              <a:sym typeface="Calibri"/>
            </a:endParaRPr>
          </a:p>
        </p:txBody>
      </p:sp>
      <p:sp>
        <p:nvSpPr>
          <p:cNvPr id="9" name="Google Shape;179;p16">
            <a:extLst>
              <a:ext uri="{FF2B5EF4-FFF2-40B4-BE49-F238E27FC236}">
                <a16:creationId xmlns:a16="http://schemas.microsoft.com/office/drawing/2014/main" id="{C61A91A3-870B-7D10-34CB-703CF2F67625}"/>
              </a:ext>
            </a:extLst>
          </p:cNvPr>
          <p:cNvSpPr txBox="1"/>
          <p:nvPr/>
        </p:nvSpPr>
        <p:spPr>
          <a:xfrm>
            <a:off x="771525" y="581025"/>
            <a:ext cx="11181397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altLang="ko-KR" sz="2850" b="1" dirty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Poppins Black"/>
              </a:rPr>
              <a:t>02   </a:t>
            </a:r>
            <a:r>
              <a:rPr lang="ko-KR" altLang="en-US" sz="2850" b="1" dirty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Poppins Black"/>
              </a:rPr>
              <a:t>상용 솔루션 벤치마킹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1895475" y="2561874"/>
            <a:ext cx="3695696" cy="1238250"/>
          </a:xfrm>
          <a:prstGeom prst="rect">
            <a:avLst/>
          </a:prstGeom>
          <a:solidFill>
            <a:srgbClr val="F5FAFD"/>
          </a:solidFill>
          <a:ln w="19050">
            <a:solidFill>
              <a:srgbClr val="0286C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ea typeface="나눔스퀘어_ac Bold" panose="020B0600000101010101" pitchFamily="50" charset="-127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1895475" y="2548322"/>
            <a:ext cx="3695695" cy="519805"/>
          </a:xfrm>
          <a:prstGeom prst="rect">
            <a:avLst/>
          </a:prstGeom>
          <a:gradFill flip="none" rotWithShape="1">
            <a:gsLst>
              <a:gs pos="49000">
                <a:srgbClr val="0286CA"/>
              </a:gs>
              <a:gs pos="97000">
                <a:srgbClr val="387DEC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ea typeface="나눔스퀘어_ac Bold" panose="020B0600000101010101" pitchFamily="50" charset="-127"/>
            </a:endParaRPr>
          </a:p>
        </p:txBody>
      </p:sp>
      <p:sp>
        <p:nvSpPr>
          <p:cNvPr id="22" name="Google Shape;210;p18"/>
          <p:cNvSpPr txBox="1"/>
          <p:nvPr/>
        </p:nvSpPr>
        <p:spPr>
          <a:xfrm>
            <a:off x="2076450" y="2708211"/>
            <a:ext cx="351472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ko-KR" altLang="en-US" sz="1250" b="1" dirty="0" smtClean="0">
                <a:solidFill>
                  <a:schemeClr val="bg1">
                    <a:lumMod val="9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직접적인 신원</a:t>
            </a:r>
            <a:r>
              <a:rPr lang="en-US" sz="1250" b="1" dirty="0" smtClean="0">
                <a:solidFill>
                  <a:schemeClr val="bg1">
                    <a:lumMod val="9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</a:t>
            </a:r>
            <a:r>
              <a:rPr lang="ko-KR" altLang="en-US" sz="1250" b="1" dirty="0">
                <a:solidFill>
                  <a:schemeClr val="bg1">
                    <a:lumMod val="9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식별</a:t>
            </a:r>
            <a:r>
              <a:rPr lang="en-US" altLang="ko-KR" sz="1250" b="1" dirty="0">
                <a:solidFill>
                  <a:schemeClr val="bg1">
                    <a:lumMod val="9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, </a:t>
            </a:r>
            <a:r>
              <a:rPr lang="ko-KR" altLang="en-US" sz="1250" b="1" dirty="0">
                <a:solidFill>
                  <a:schemeClr val="bg1">
                    <a:lumMod val="9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실시간</a:t>
            </a:r>
            <a:r>
              <a:rPr lang="en-US" sz="1250" b="1" i="0" u="none" strike="noStrike" cap="none" dirty="0">
                <a:solidFill>
                  <a:schemeClr val="bg1">
                    <a:lumMod val="9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</a:t>
            </a:r>
            <a:r>
              <a:rPr lang="en-US" sz="1250" b="1" i="0" u="none" strike="noStrike" cap="none" dirty="0" err="1" smtClean="0">
                <a:solidFill>
                  <a:schemeClr val="bg1">
                    <a:lumMod val="9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추적</a:t>
            </a:r>
            <a:endParaRPr sz="1250" dirty="0">
              <a:solidFill>
                <a:schemeClr val="bg1">
                  <a:lumMod val="9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3" name="Google Shape;211;p18"/>
          <p:cNvSpPr txBox="1"/>
          <p:nvPr/>
        </p:nvSpPr>
        <p:spPr>
          <a:xfrm>
            <a:off x="2076449" y="3114679"/>
            <a:ext cx="3514725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ko-KR" altLang="en-US" sz="1200" b="0" i="0" u="none" strike="noStrike" cap="none" dirty="0" smtClean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탐지 대상으로 등록된 </a:t>
            </a:r>
            <a:r>
              <a:rPr lang="en-US" sz="1200" b="0" i="0" u="none" strike="noStrike" cap="none" dirty="0" err="1" smtClean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피사체</a:t>
            </a:r>
            <a:r>
              <a:rPr lang="ko-KR" altLang="en-US" sz="1200" b="0" i="0" u="none" strike="noStrike" cap="none" dirty="0" smtClean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의 신원을</a:t>
            </a:r>
            <a:r>
              <a:rPr lang="en-US" altLang="ko-KR" sz="1200" dirty="0" smtClean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</a:t>
            </a:r>
            <a:r>
              <a:rPr lang="ko-KR" altLang="en-US" sz="1200" dirty="0" smtClean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식별</a:t>
            </a:r>
          </a:p>
          <a:p>
            <a:pPr>
              <a:lnSpc>
                <a:spcPct val="160000"/>
              </a:lnSpc>
            </a:pPr>
            <a:r>
              <a:rPr lang="ko-KR" altLang="en-US" sz="1200" dirty="0" err="1" smtClean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</a:rPr>
              <a:t>재식별</a:t>
            </a:r>
            <a:r>
              <a:rPr lang="ko-KR" altLang="en-US" sz="1200" dirty="0" smtClean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</a:rPr>
              <a:t> 기술을 사용하여 영상 내의 대상 추적</a:t>
            </a:r>
            <a:endParaRPr lang="ko-KR" altLang="en-US" sz="1200" dirty="0">
              <a:solidFill>
                <a:srgbClr val="475569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Gothic A1"/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1895473" y="4091034"/>
            <a:ext cx="3695699" cy="1238250"/>
          </a:xfrm>
          <a:prstGeom prst="rect">
            <a:avLst/>
          </a:prstGeom>
          <a:solidFill>
            <a:srgbClr val="F5FAFD"/>
          </a:solidFill>
          <a:ln w="19050">
            <a:solidFill>
              <a:srgbClr val="0286C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ea typeface="나눔스퀘어_ac Bold" panose="020B0600000101010101" pitchFamily="50" charset="-127"/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1895474" y="4077482"/>
            <a:ext cx="3695697" cy="519805"/>
          </a:xfrm>
          <a:prstGeom prst="rect">
            <a:avLst/>
          </a:prstGeom>
          <a:gradFill flip="none" rotWithShape="1">
            <a:gsLst>
              <a:gs pos="49000">
                <a:srgbClr val="0286CA"/>
              </a:gs>
              <a:gs pos="97000">
                <a:srgbClr val="387DEC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ea typeface="나눔스퀘어_ac Bold" panose="020B0600000101010101" pitchFamily="50" charset="-127"/>
            </a:endParaRPr>
          </a:p>
        </p:txBody>
      </p:sp>
      <p:sp>
        <p:nvSpPr>
          <p:cNvPr id="34" name="Google Shape;210;p18"/>
          <p:cNvSpPr txBox="1"/>
          <p:nvPr/>
        </p:nvSpPr>
        <p:spPr>
          <a:xfrm>
            <a:off x="2076449" y="4237371"/>
            <a:ext cx="351472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ko-KR" altLang="en-US" sz="1250" b="1" dirty="0" err="1" smtClean="0">
                <a:solidFill>
                  <a:schemeClr val="bg1">
                    <a:lumMod val="9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경량형</a:t>
            </a:r>
            <a:r>
              <a:rPr lang="ko-KR" altLang="en-US" sz="1250" b="1" dirty="0" smtClean="0">
                <a:solidFill>
                  <a:schemeClr val="bg1">
                    <a:lumMod val="9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설계</a:t>
            </a:r>
            <a:r>
              <a:rPr lang="en-US" altLang="ko-KR" sz="1250" b="1" dirty="0" smtClean="0">
                <a:solidFill>
                  <a:schemeClr val="bg1">
                    <a:lumMod val="9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sz="1250" b="1" dirty="0" smtClean="0">
                <a:solidFill>
                  <a:schemeClr val="bg1">
                    <a:lumMod val="9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호환성</a:t>
            </a:r>
            <a:endParaRPr sz="1250" b="1" dirty="0">
              <a:solidFill>
                <a:schemeClr val="bg1">
                  <a:lumMod val="9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35" name="Google Shape;211;p18"/>
          <p:cNvSpPr txBox="1"/>
          <p:nvPr/>
        </p:nvSpPr>
        <p:spPr>
          <a:xfrm>
            <a:off x="2076448" y="4643839"/>
            <a:ext cx="3514725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ko-KR" altLang="en-US" sz="1200" dirty="0" smtClean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경량 모델로 고성능 하드웨어에 대한 종속성 일부 해소</a:t>
            </a:r>
            <a:endParaRPr lang="en-US" altLang="ko-KR" sz="1200" dirty="0" smtClean="0">
              <a:solidFill>
                <a:srgbClr val="475569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Gothic A1"/>
              <a:sym typeface="Gothic A1"/>
            </a:endParaRPr>
          </a:p>
          <a:p>
            <a:pPr>
              <a:lnSpc>
                <a:spcPct val="160000"/>
              </a:lnSpc>
            </a:pPr>
            <a:r>
              <a:rPr lang="ko-KR" altLang="en-US" sz="1200" dirty="0" smtClean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노후화된 </a:t>
            </a:r>
            <a:r>
              <a:rPr lang="ko-KR" altLang="en-US" sz="1200" dirty="0" err="1" smtClean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레거시</a:t>
            </a:r>
            <a:r>
              <a:rPr lang="ko-KR" altLang="en-US" sz="1200" dirty="0" smtClean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</a:t>
            </a:r>
            <a:r>
              <a:rPr lang="ko-KR" altLang="en-US" sz="1200" dirty="0" err="1" smtClean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장비와도</a:t>
            </a:r>
            <a:r>
              <a:rPr lang="ko-KR" altLang="en-US" sz="1200" dirty="0" smtClean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 호환 가능</a:t>
            </a:r>
            <a:endParaRPr lang="ko-KR" altLang="en-US" sz="1200" dirty="0">
              <a:solidFill>
                <a:srgbClr val="475569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Gothic A1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5915016" y="4383816"/>
            <a:ext cx="3695699" cy="940670"/>
          </a:xfrm>
          <a:prstGeom prst="rect">
            <a:avLst/>
          </a:prstGeom>
          <a:solidFill>
            <a:srgbClr val="F5FAFD"/>
          </a:solidFill>
          <a:ln w="19050">
            <a:solidFill>
              <a:srgbClr val="0286C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ea typeface="나눔스퀘어_ac Bold" panose="020B0600000101010101" pitchFamily="50" charset="-127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5915017" y="4370264"/>
            <a:ext cx="3695697" cy="519805"/>
          </a:xfrm>
          <a:prstGeom prst="rect">
            <a:avLst/>
          </a:prstGeom>
          <a:gradFill flip="none" rotWithShape="1">
            <a:gsLst>
              <a:gs pos="49000">
                <a:srgbClr val="0286CA"/>
              </a:gs>
              <a:gs pos="97000">
                <a:srgbClr val="387DEC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ea typeface="나눔스퀘어_ac Bold" panose="020B0600000101010101" pitchFamily="50" charset="-127"/>
            </a:endParaRPr>
          </a:p>
        </p:txBody>
      </p:sp>
      <p:sp>
        <p:nvSpPr>
          <p:cNvPr id="38" name="Google Shape;210;p18"/>
          <p:cNvSpPr txBox="1"/>
          <p:nvPr/>
        </p:nvSpPr>
        <p:spPr>
          <a:xfrm>
            <a:off x="6095992" y="4530153"/>
            <a:ext cx="351472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ko-KR" altLang="en-US" sz="1250" b="1" dirty="0" smtClean="0">
                <a:solidFill>
                  <a:schemeClr val="bg1">
                    <a:lumMod val="9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수집 매체에 따른 이동성 확보</a:t>
            </a:r>
            <a:endParaRPr sz="1250" b="1" dirty="0">
              <a:solidFill>
                <a:schemeClr val="bg1">
                  <a:lumMod val="9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39" name="Google Shape;211;p18"/>
          <p:cNvSpPr txBox="1"/>
          <p:nvPr/>
        </p:nvSpPr>
        <p:spPr>
          <a:xfrm>
            <a:off x="6095991" y="4936621"/>
            <a:ext cx="3514725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ko-KR" altLang="en-US" sz="1200" dirty="0" smtClean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  <a:sym typeface="Gothic A1"/>
              </a:rPr>
              <a:t>이동형 카메라를 통한 입체적인 탐색 반경 확보</a:t>
            </a:r>
            <a:endParaRPr lang="ko-KR" altLang="en-US" sz="1200" dirty="0">
              <a:solidFill>
                <a:srgbClr val="475569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Gothic A1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5915019" y="2561874"/>
            <a:ext cx="3695699" cy="1529160"/>
          </a:xfrm>
          <a:prstGeom prst="rect">
            <a:avLst/>
          </a:prstGeom>
          <a:solidFill>
            <a:srgbClr val="F5FAFD"/>
          </a:solidFill>
          <a:ln w="19050">
            <a:solidFill>
              <a:srgbClr val="0286C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ea typeface="나눔스퀘어_ac Bold" panose="020B0600000101010101" pitchFamily="50" charset="-127"/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5915020" y="2548322"/>
            <a:ext cx="3695697" cy="519805"/>
          </a:xfrm>
          <a:prstGeom prst="rect">
            <a:avLst/>
          </a:prstGeom>
          <a:gradFill flip="none" rotWithShape="1">
            <a:gsLst>
              <a:gs pos="49000">
                <a:srgbClr val="0286CA"/>
              </a:gs>
              <a:gs pos="97000">
                <a:srgbClr val="387DEC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ea typeface="나눔스퀘어_ac Bold" panose="020B0600000101010101" pitchFamily="50" charset="-127"/>
            </a:endParaRPr>
          </a:p>
        </p:txBody>
      </p:sp>
      <p:sp>
        <p:nvSpPr>
          <p:cNvPr id="45" name="Google Shape;210;p18"/>
          <p:cNvSpPr txBox="1"/>
          <p:nvPr/>
        </p:nvSpPr>
        <p:spPr>
          <a:xfrm>
            <a:off x="6095995" y="2708211"/>
            <a:ext cx="351472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altLang="ko-KR" sz="1250" b="1" dirty="0" smtClean="0">
                <a:solidFill>
                  <a:schemeClr val="bg1">
                    <a:lumMod val="9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Zero-Delay </a:t>
            </a:r>
            <a:r>
              <a:rPr lang="ko-KR" altLang="en-US" sz="1250" b="1" dirty="0" smtClean="0">
                <a:solidFill>
                  <a:schemeClr val="bg1">
                    <a:lumMod val="9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표적 등록 및 실시간 관제</a:t>
            </a:r>
            <a:endParaRPr sz="1250" b="1" dirty="0">
              <a:solidFill>
                <a:schemeClr val="bg1">
                  <a:lumMod val="9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46" name="Google Shape;211;p18"/>
          <p:cNvSpPr txBox="1"/>
          <p:nvPr/>
        </p:nvSpPr>
        <p:spPr>
          <a:xfrm>
            <a:off x="6095994" y="3114679"/>
            <a:ext cx="3514725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60000"/>
              </a:lnSpc>
            </a:pPr>
            <a:r>
              <a:rPr lang="ko-KR" altLang="en-US" sz="1200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</a:rPr>
              <a:t>데이터 학습에 시간이 걸리는 보편적인 시스템과 달리</a:t>
            </a:r>
            <a:r>
              <a:rPr lang="en-US" altLang="ko-KR" sz="1200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</a:rPr>
              <a:t>,</a:t>
            </a:r>
          </a:p>
          <a:p>
            <a:pPr>
              <a:lnSpc>
                <a:spcPct val="160000"/>
              </a:lnSpc>
            </a:pPr>
            <a:r>
              <a:rPr lang="ko-KR" altLang="en-US" sz="1200" dirty="0">
                <a:solidFill>
                  <a:srgbClr val="475569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Gothic A1"/>
              </a:rPr>
              <a:t>간편한 등록 프로세스로 단 몇 장의 사진만으로 새로운 감시 대상 반영</a:t>
            </a:r>
          </a:p>
        </p:txBody>
      </p:sp>
      <p:sp>
        <p:nvSpPr>
          <p:cNvPr id="24" name="직사각형 23"/>
          <p:cNvSpPr/>
          <p:nvPr/>
        </p:nvSpPr>
        <p:spPr>
          <a:xfrm>
            <a:off x="606641" y="1375321"/>
            <a:ext cx="10979123" cy="479687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5" name="직선 연결선 24"/>
          <p:cNvCxnSpPr/>
          <p:nvPr/>
        </p:nvCxnSpPr>
        <p:spPr>
          <a:xfrm flipV="1">
            <a:off x="606641" y="1145219"/>
            <a:ext cx="10979123" cy="9327"/>
          </a:xfrm>
          <a:prstGeom prst="line">
            <a:avLst/>
          </a:prstGeom>
          <a:ln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87"/>
          <p:cNvSpPr/>
          <p:nvPr/>
        </p:nvSpPr>
        <p:spPr>
          <a:xfrm>
            <a:off x="6217920" y="4419924"/>
            <a:ext cx="5413248" cy="2121408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25400" dist="50800" dir="2700000" algn="bl" rotWithShape="0">
              <a:srgbClr val="9CA3AF">
                <a:alpha val="12000"/>
              </a:srgbClr>
            </a:outerShdw>
          </a:effectLst>
        </p:spPr>
      </p:sp>
      <p:sp>
        <p:nvSpPr>
          <p:cNvPr id="104" name="Shape 35"/>
          <p:cNvSpPr/>
          <p:nvPr/>
        </p:nvSpPr>
        <p:spPr>
          <a:xfrm>
            <a:off x="557784" y="1917389"/>
            <a:ext cx="5404104" cy="2386585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25400" dist="50800" dir="2700000" algn="bl" rotWithShape="0">
              <a:srgbClr val="9CA3AF">
                <a:alpha val="12000"/>
              </a:srgbClr>
            </a:outerShdw>
          </a:effectLst>
        </p:spPr>
      </p:sp>
      <p:sp>
        <p:nvSpPr>
          <p:cNvPr id="2" name="Text 1"/>
          <p:cNvSpPr/>
          <p:nvPr/>
        </p:nvSpPr>
        <p:spPr>
          <a:xfrm>
            <a:off x="557784" y="47548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endParaRPr lang="en-US" sz="1700" dirty="0"/>
          </a:p>
        </p:txBody>
      </p:sp>
      <p:sp>
        <p:nvSpPr>
          <p:cNvPr id="9" name="Text 8"/>
          <p:cNvSpPr/>
          <p:nvPr/>
        </p:nvSpPr>
        <p:spPr>
          <a:xfrm>
            <a:off x="987552" y="1971676"/>
            <a:ext cx="4450560" cy="7919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altLang="ko-KR" sz="1600" b="1" dirty="0">
                <a:solidFill>
                  <a:srgbClr val="14306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1</a:t>
            </a:r>
            <a:r>
              <a:rPr lang="en-US" altLang="ko-KR" sz="1600" b="1" dirty="0" smtClean="0">
                <a:solidFill>
                  <a:srgbClr val="14306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. </a:t>
            </a:r>
            <a:r>
              <a:rPr lang="ko-KR" altLang="en-US" sz="1600" b="1" dirty="0" err="1" smtClean="0">
                <a:solidFill>
                  <a:srgbClr val="14306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하이브리드</a:t>
            </a:r>
            <a:r>
              <a:rPr lang="ko-KR" altLang="en-US" sz="1600" b="1" dirty="0" smtClean="0">
                <a:solidFill>
                  <a:srgbClr val="14306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 </a:t>
            </a:r>
            <a:r>
              <a:rPr lang="ko-KR" altLang="en-US" sz="1600" b="1" dirty="0" err="1">
                <a:solidFill>
                  <a:srgbClr val="14306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관제망</a:t>
            </a:r>
            <a:r>
              <a:rPr lang="ko-KR" altLang="en-US" sz="1600" b="1" dirty="0">
                <a:solidFill>
                  <a:srgbClr val="14306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 구축</a:t>
            </a:r>
            <a:endParaRPr lang="en-US" sz="16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2" name="Text 11"/>
          <p:cNvSpPr/>
          <p:nvPr/>
        </p:nvSpPr>
        <p:spPr>
          <a:xfrm>
            <a:off x="987552" y="2666619"/>
            <a:ext cx="1984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endParaRPr lang="en-US" sz="123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6" name="Text 15"/>
          <p:cNvSpPr/>
          <p:nvPr/>
        </p:nvSpPr>
        <p:spPr>
          <a:xfrm>
            <a:off x="987552" y="3233547"/>
            <a:ext cx="1984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endParaRPr lang="en-US" sz="123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8" name="Text 17"/>
          <p:cNvSpPr/>
          <p:nvPr/>
        </p:nvSpPr>
        <p:spPr>
          <a:xfrm>
            <a:off x="987552" y="3517011"/>
            <a:ext cx="1984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endParaRPr lang="en-US" sz="123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0" name="Text 19"/>
          <p:cNvSpPr/>
          <p:nvPr/>
        </p:nvSpPr>
        <p:spPr>
          <a:xfrm>
            <a:off x="987552" y="3800475"/>
            <a:ext cx="1984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endParaRPr lang="en-US" sz="123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3" name="Text 22"/>
          <p:cNvSpPr/>
          <p:nvPr/>
        </p:nvSpPr>
        <p:spPr>
          <a:xfrm>
            <a:off x="3662172" y="2058543"/>
            <a:ext cx="228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35" name="Text 34"/>
          <p:cNvSpPr/>
          <p:nvPr/>
        </p:nvSpPr>
        <p:spPr>
          <a:xfrm>
            <a:off x="3794760" y="3800475"/>
            <a:ext cx="1984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endParaRPr lang="en-US" sz="123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90" name="Text 89"/>
          <p:cNvSpPr/>
          <p:nvPr/>
        </p:nvSpPr>
        <p:spPr>
          <a:xfrm>
            <a:off x="6469380" y="4682871"/>
            <a:ext cx="228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91" name="Text 90"/>
          <p:cNvSpPr/>
          <p:nvPr/>
        </p:nvSpPr>
        <p:spPr>
          <a:xfrm>
            <a:off x="6647688" y="4754845"/>
            <a:ext cx="4544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altLang="ko-KR" sz="1600" b="1" dirty="0">
                <a:solidFill>
                  <a:srgbClr val="14306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4</a:t>
            </a:r>
            <a:r>
              <a:rPr lang="en-US" altLang="ko-KR" sz="1600" b="1" dirty="0" smtClean="0">
                <a:solidFill>
                  <a:srgbClr val="14306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. </a:t>
            </a:r>
            <a:r>
              <a:rPr lang="ko-KR" altLang="en-US" sz="1600" b="1" dirty="0" smtClean="0">
                <a:solidFill>
                  <a:srgbClr val="14306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통합 </a:t>
            </a:r>
            <a:r>
              <a:rPr lang="ko-KR" altLang="en-US" sz="1600" b="1" dirty="0">
                <a:solidFill>
                  <a:srgbClr val="14306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데이터 관리 체계</a:t>
            </a:r>
            <a:endParaRPr lang="en-US" sz="16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94" name="Text 93"/>
          <p:cNvSpPr/>
          <p:nvPr/>
        </p:nvSpPr>
        <p:spPr>
          <a:xfrm>
            <a:off x="6601968" y="5272659"/>
            <a:ext cx="2221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endParaRPr lang="en-US" sz="123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96" name="Text 95"/>
          <p:cNvSpPr/>
          <p:nvPr/>
        </p:nvSpPr>
        <p:spPr>
          <a:xfrm>
            <a:off x="6601968" y="5601843"/>
            <a:ext cx="2221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endParaRPr lang="en-US" sz="123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98" name="Text 97"/>
          <p:cNvSpPr/>
          <p:nvPr/>
        </p:nvSpPr>
        <p:spPr>
          <a:xfrm>
            <a:off x="6601968" y="5931027"/>
            <a:ext cx="2221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endParaRPr lang="en-US" sz="123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00" name="Text 99"/>
          <p:cNvSpPr/>
          <p:nvPr/>
        </p:nvSpPr>
        <p:spPr>
          <a:xfrm>
            <a:off x="9281160" y="5272659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endParaRPr lang="en-US" sz="123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02" name="Text 101"/>
          <p:cNvSpPr/>
          <p:nvPr/>
        </p:nvSpPr>
        <p:spPr>
          <a:xfrm>
            <a:off x="9281160" y="5601843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endParaRPr lang="en-US" sz="123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05" name="TextBox 104"/>
          <p:cNvSpPr txBox="1"/>
          <p:nvPr/>
        </p:nvSpPr>
        <p:spPr>
          <a:xfrm>
            <a:off x="854964" y="2937777"/>
            <a:ext cx="3486852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고정형 </a:t>
            </a:r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CCTV</a:t>
            </a:r>
            <a:r>
              <a:rPr lang="ko-KR" alt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와 이동형 </a:t>
            </a:r>
            <a:r>
              <a:rPr lang="ko-KR" altLang="en-US" sz="1400" dirty="0" err="1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드론을</a:t>
            </a:r>
            <a:r>
              <a:rPr lang="ko-KR" alt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결합하여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감시 사각지대를 완전히 해소</a:t>
            </a:r>
            <a:endParaRPr lang="ko-KR" altLang="en-US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endParaRPr lang="ko-KR" altLang="en-US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ko-KR" alt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지상과 공중의 영상을 통합하여 입체적인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실시간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관제 </a:t>
            </a:r>
            <a:r>
              <a:rPr lang="ko-KR" alt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환경 구현</a:t>
            </a:r>
          </a:p>
        </p:txBody>
      </p:sp>
      <p:sp>
        <p:nvSpPr>
          <p:cNvPr id="110" name="Shape 35"/>
          <p:cNvSpPr/>
          <p:nvPr/>
        </p:nvSpPr>
        <p:spPr>
          <a:xfrm>
            <a:off x="6217920" y="1917389"/>
            <a:ext cx="5404104" cy="2386585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25400" dist="50800" dir="2700000" algn="bl" rotWithShape="0">
              <a:srgbClr val="9CA3AF">
                <a:alpha val="12000"/>
              </a:srgbClr>
            </a:outerShdw>
          </a:effectLst>
        </p:spPr>
      </p:sp>
      <p:sp>
        <p:nvSpPr>
          <p:cNvPr id="111" name="Text 8"/>
          <p:cNvSpPr/>
          <p:nvPr/>
        </p:nvSpPr>
        <p:spPr>
          <a:xfrm>
            <a:off x="6601968" y="1984389"/>
            <a:ext cx="4450560" cy="79195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altLang="ko-KR" sz="1600" b="1" dirty="0">
                <a:solidFill>
                  <a:srgbClr val="14306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2</a:t>
            </a:r>
            <a:r>
              <a:rPr lang="en-US" altLang="ko-KR" sz="1600" b="1" dirty="0" smtClean="0">
                <a:solidFill>
                  <a:srgbClr val="14306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. AI </a:t>
            </a:r>
            <a:r>
              <a:rPr lang="ko-KR" altLang="en-US" sz="1600" b="1" dirty="0">
                <a:solidFill>
                  <a:srgbClr val="14306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기반 자동 식별 프로세스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515100" y="2937777"/>
            <a:ext cx="429797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 err="1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딥러닝</a:t>
            </a:r>
            <a:r>
              <a:rPr lang="ko-KR" alt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알고리즘이 </a:t>
            </a:r>
            <a:r>
              <a:rPr lang="ko-KR" alt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영상 속 객체를 실시간으로 탐지 및 분석</a:t>
            </a:r>
          </a:p>
          <a:p>
            <a:endParaRPr lang="ko-KR" altLang="en-US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ko-KR" alt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등록된 데이터와 실시간 얼굴 대조를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통해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특정 </a:t>
            </a:r>
            <a:r>
              <a:rPr lang="ko-KR" alt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대상</a:t>
            </a:r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(</a:t>
            </a:r>
            <a:r>
              <a:rPr lang="ko-KR" alt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실종자</a:t>
            </a:r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·</a:t>
            </a:r>
            <a:r>
              <a:rPr lang="ko-KR" alt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수배자</a:t>
            </a:r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) </a:t>
            </a:r>
            <a:r>
              <a:rPr lang="ko-KR" alt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즉시 판별</a:t>
            </a:r>
          </a:p>
        </p:txBody>
      </p:sp>
      <p:cxnSp>
        <p:nvCxnSpPr>
          <p:cNvPr id="116" name="직선 연결선 115"/>
          <p:cNvCxnSpPr/>
          <p:nvPr/>
        </p:nvCxnSpPr>
        <p:spPr>
          <a:xfrm>
            <a:off x="854964" y="2679145"/>
            <a:ext cx="4794274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직선 연결선 116"/>
          <p:cNvCxnSpPr/>
          <p:nvPr/>
        </p:nvCxnSpPr>
        <p:spPr>
          <a:xfrm>
            <a:off x="6493752" y="2668707"/>
            <a:ext cx="4794274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Shape 87"/>
          <p:cNvSpPr/>
          <p:nvPr/>
        </p:nvSpPr>
        <p:spPr>
          <a:xfrm>
            <a:off x="566928" y="4419924"/>
            <a:ext cx="5413248" cy="2121408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25400" dist="50800" dir="2700000" algn="bl" rotWithShape="0">
              <a:srgbClr val="9CA3AF">
                <a:alpha val="12000"/>
              </a:srgbClr>
            </a:outerShdw>
          </a:effectLst>
        </p:spPr>
      </p:sp>
      <p:sp>
        <p:nvSpPr>
          <p:cNvPr id="119" name="Text 89"/>
          <p:cNvSpPr/>
          <p:nvPr/>
        </p:nvSpPr>
        <p:spPr>
          <a:xfrm>
            <a:off x="827532" y="4671384"/>
            <a:ext cx="228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20" name="Text 90"/>
          <p:cNvSpPr/>
          <p:nvPr/>
        </p:nvSpPr>
        <p:spPr>
          <a:xfrm>
            <a:off x="1024128" y="4753680"/>
            <a:ext cx="4544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altLang="ko-KR" sz="1600" b="1" dirty="0">
                <a:solidFill>
                  <a:srgbClr val="14306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3</a:t>
            </a:r>
            <a:r>
              <a:rPr lang="en-US" altLang="ko-KR" sz="1600" b="1" dirty="0" smtClean="0">
                <a:solidFill>
                  <a:srgbClr val="14306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. GIS </a:t>
            </a:r>
            <a:r>
              <a:rPr lang="ko-KR" altLang="en-US" sz="1600" b="1" dirty="0">
                <a:solidFill>
                  <a:srgbClr val="14306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기반 이동 동선 추적</a:t>
            </a:r>
            <a:endParaRPr lang="en-US" sz="16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21" name="Text 93"/>
          <p:cNvSpPr/>
          <p:nvPr/>
        </p:nvSpPr>
        <p:spPr>
          <a:xfrm>
            <a:off x="960120" y="5261172"/>
            <a:ext cx="2221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endParaRPr lang="en-US" sz="123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22" name="Text 95"/>
          <p:cNvSpPr/>
          <p:nvPr/>
        </p:nvSpPr>
        <p:spPr>
          <a:xfrm>
            <a:off x="960120" y="5590356"/>
            <a:ext cx="2221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endParaRPr lang="en-US" sz="123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23" name="Text 97"/>
          <p:cNvSpPr/>
          <p:nvPr/>
        </p:nvSpPr>
        <p:spPr>
          <a:xfrm>
            <a:off x="960120" y="5919540"/>
            <a:ext cx="2221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endParaRPr lang="en-US" sz="123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25" name="TextBox 124"/>
          <p:cNvSpPr txBox="1"/>
          <p:nvPr/>
        </p:nvSpPr>
        <p:spPr>
          <a:xfrm>
            <a:off x="854964" y="5281622"/>
            <a:ext cx="483717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단순 영상 송출을 넘어 지리정보시스템</a:t>
            </a:r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(GIS)</a:t>
            </a:r>
            <a:r>
              <a:rPr lang="ko-KR" alt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과 연동</a:t>
            </a:r>
          </a:p>
          <a:p>
            <a:endParaRPr lang="ko-KR" altLang="en-US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ko-KR" alt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지도상에 탐지 대상의 이동 경로를 시각화하여 도주 및 이동 방향 신속 파악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6493752" y="5281622"/>
            <a:ext cx="349647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탐지 이벤트 발생 시 실시간 알림 서비스 제공</a:t>
            </a:r>
          </a:p>
          <a:p>
            <a:endParaRPr lang="ko-KR" altLang="en-US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ko-KR" alt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모든 탐지 상황</a:t>
            </a:r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(</a:t>
            </a:r>
            <a:r>
              <a:rPr lang="ko-KR" alt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시간</a:t>
            </a:r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장소</a:t>
            </a:r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신원</a:t>
            </a:r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)</a:t>
            </a:r>
            <a:r>
              <a:rPr lang="ko-KR" alt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의 자동 기록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및</a:t>
            </a:r>
            <a:endParaRPr lang="en-US" altLang="ko-KR" sz="1400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r>
              <a:rPr lang="ko-KR" altLang="en-US" sz="1400" dirty="0" err="1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데이터화로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ko-KR" alt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실무 </a:t>
            </a:r>
            <a:r>
              <a:rPr lang="ko-KR" altLang="en-US" sz="1400" dirty="0" err="1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활용성</a:t>
            </a:r>
            <a:r>
              <a:rPr lang="ko-KR" alt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극대화</a:t>
            </a:r>
          </a:p>
        </p:txBody>
      </p:sp>
      <p:cxnSp>
        <p:nvCxnSpPr>
          <p:cNvPr id="128" name="직선 연결선 127"/>
          <p:cNvCxnSpPr/>
          <p:nvPr/>
        </p:nvCxnSpPr>
        <p:spPr>
          <a:xfrm>
            <a:off x="850392" y="5192337"/>
            <a:ext cx="4794274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직선 연결선 128"/>
          <p:cNvCxnSpPr/>
          <p:nvPr/>
        </p:nvCxnSpPr>
        <p:spPr>
          <a:xfrm>
            <a:off x="6522835" y="5192337"/>
            <a:ext cx="4794274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Shape 35"/>
          <p:cNvSpPr/>
          <p:nvPr/>
        </p:nvSpPr>
        <p:spPr>
          <a:xfrm>
            <a:off x="571500" y="1482771"/>
            <a:ext cx="11050524" cy="339285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25400" dist="50800" dir="2700000" algn="bl" rotWithShape="0">
              <a:srgbClr val="9CA3AF">
                <a:alpha val="12000"/>
              </a:srgbClr>
            </a:outerShdw>
          </a:effectLst>
        </p:spPr>
      </p:sp>
      <p:sp>
        <p:nvSpPr>
          <p:cNvPr id="131" name="TextBox 130"/>
          <p:cNvSpPr txBox="1"/>
          <p:nvPr/>
        </p:nvSpPr>
        <p:spPr>
          <a:xfrm>
            <a:off x="740664" y="1509052"/>
            <a:ext cx="9137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프로젝트 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컨셉 </a:t>
            </a:r>
            <a:r>
              <a:rPr lang="en-US" altLang="ko-KR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:  </a:t>
            </a:r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"</a:t>
            </a:r>
            <a:r>
              <a:rPr lang="ko-KR" altLang="en-US" sz="1400" dirty="0" err="1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드론과</a:t>
            </a:r>
            <a:r>
              <a:rPr lang="ko-KR" alt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</a:t>
            </a:r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CCTV</a:t>
            </a:r>
            <a:r>
              <a:rPr lang="ko-KR" alt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를 연결하고</a:t>
            </a:r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AI</a:t>
            </a:r>
            <a:r>
              <a:rPr lang="ko-KR" alt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가 실시간으로 탐지</a:t>
            </a:r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·</a:t>
            </a:r>
            <a:r>
              <a:rPr lang="ko-KR" alt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식별하여 신속한 대응을 지원하는 스마트 통합 관제 시스템</a:t>
            </a:r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"</a:t>
            </a:r>
            <a:r>
              <a:rPr lang="ko-KR" altLang="en-US" sz="14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 </a:t>
            </a:r>
            <a:endParaRPr lang="ko-KR" altLang="en-US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40" name="Google Shape;86;p13">
            <a:extLst>
              <a:ext uri="{FF2B5EF4-FFF2-40B4-BE49-F238E27FC236}">
                <a16:creationId xmlns:a16="http://schemas.microsoft.com/office/drawing/2014/main" id="{E04A4474-2736-C460-A196-B7B307E30FD3}"/>
              </a:ext>
            </a:extLst>
          </p:cNvPr>
          <p:cNvSpPr/>
          <p:nvPr/>
        </p:nvSpPr>
        <p:spPr>
          <a:xfrm>
            <a:off x="771525" y="1365795"/>
            <a:ext cx="106489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Calibri"/>
              <a:sym typeface="Calibri"/>
            </a:endParaRPr>
          </a:p>
        </p:txBody>
      </p:sp>
      <p:sp>
        <p:nvSpPr>
          <p:cNvPr id="41" name="Google Shape;179;p16">
            <a:extLst>
              <a:ext uri="{FF2B5EF4-FFF2-40B4-BE49-F238E27FC236}">
                <a16:creationId xmlns:a16="http://schemas.microsoft.com/office/drawing/2014/main" id="{C61A91A3-870B-7D10-34CB-703CF2F67625}"/>
              </a:ext>
            </a:extLst>
          </p:cNvPr>
          <p:cNvSpPr txBox="1"/>
          <p:nvPr/>
        </p:nvSpPr>
        <p:spPr>
          <a:xfrm>
            <a:off x="771525" y="581025"/>
            <a:ext cx="11181397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altLang="ko-KR" sz="2850" b="1" dirty="0" smtClean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Poppins Black"/>
              </a:rPr>
              <a:t>03   </a:t>
            </a:r>
            <a:r>
              <a:rPr lang="ko-KR" altLang="en-US" sz="2850" b="1" dirty="0" smtClean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Poppins Black"/>
              </a:rPr>
              <a:t>프로젝트 구현</a:t>
            </a:r>
            <a:endParaRPr lang="ko-KR" altLang="en-US" sz="2850" b="1" dirty="0">
              <a:solidFill>
                <a:srgbClr val="0F172A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Poppins Black"/>
            </a:endParaRPr>
          </a:p>
        </p:txBody>
      </p:sp>
      <p:sp>
        <p:nvSpPr>
          <p:cNvPr id="42" name="직사각형 41"/>
          <p:cNvSpPr/>
          <p:nvPr/>
        </p:nvSpPr>
        <p:spPr>
          <a:xfrm>
            <a:off x="606641" y="1375321"/>
            <a:ext cx="10979123" cy="479687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3" name="직선 연결선 42"/>
          <p:cNvCxnSpPr/>
          <p:nvPr/>
        </p:nvCxnSpPr>
        <p:spPr>
          <a:xfrm flipV="1">
            <a:off x="606641" y="1145219"/>
            <a:ext cx="10979123" cy="9327"/>
          </a:xfrm>
          <a:prstGeom prst="line">
            <a:avLst/>
          </a:prstGeom>
          <a:ln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9894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5"/>
          <p:cNvSpPr/>
          <p:nvPr/>
        </p:nvSpPr>
        <p:spPr>
          <a:xfrm>
            <a:off x="594360" y="1664208"/>
            <a:ext cx="2606040" cy="2395728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25400" dist="50800" dir="2700000" algn="bl" rotWithShape="0">
              <a:srgbClr val="9CA3AF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1892808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 w="12700">
            <a:solidFill>
              <a:srgbClr val="F3F7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4964" y="1915668"/>
            <a:ext cx="228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B82F6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＋</a:t>
            </a:r>
            <a:endParaRPr lang="en-US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252728" y="187452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4306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1. 회원가입</a:t>
            </a:r>
            <a:endParaRPr lang="en-US" sz="16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22960" y="2304288"/>
            <a:ext cx="21488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2638044"/>
            <a:ext cx="32004" cy="3200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2523744"/>
            <a:ext cx="1984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30" b="1" dirty="0">
                <a:solidFill>
                  <a:srgbClr val="4B5563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회원가입 기능 구현</a:t>
            </a:r>
            <a:endParaRPr lang="en-US" sz="123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22960" y="2921508"/>
            <a:ext cx="32004" cy="3200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7552" y="2807208"/>
            <a:ext cx="1984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30" b="1" dirty="0">
                <a:solidFill>
                  <a:srgbClr val="4B5563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아이디 중복 검사</a:t>
            </a:r>
            <a:endParaRPr lang="en-US" sz="123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22960" y="3204972"/>
            <a:ext cx="32004" cy="3200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7552" y="3090672"/>
            <a:ext cx="1984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30" b="1" dirty="0">
                <a:solidFill>
                  <a:srgbClr val="4B5563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비밀번호 유효성 검사</a:t>
            </a:r>
            <a:endParaRPr lang="en-US" sz="123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822960" y="3488436"/>
            <a:ext cx="32004" cy="3200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7552" y="3374136"/>
            <a:ext cx="1984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30" b="1" dirty="0">
                <a:solidFill>
                  <a:srgbClr val="4B5563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이메일·전화번호 형식 검사</a:t>
            </a:r>
            <a:endParaRPr lang="en-US" sz="123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22960" y="3771900"/>
            <a:ext cx="32004" cy="3200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7552" y="3657600"/>
            <a:ext cx="1984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30" b="1" dirty="0">
                <a:solidFill>
                  <a:srgbClr val="4B5563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관리자 승인 후 로그인</a:t>
            </a:r>
            <a:endParaRPr lang="en-US" sz="123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3401568" y="1664208"/>
            <a:ext cx="2606040" cy="2395728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25400" dist="50800" dir="2700000" algn="bl" rotWithShape="0">
              <a:srgbClr val="9CA3AF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30168" y="1892808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 w="12700">
            <a:solidFill>
              <a:srgbClr val="F3F7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62172" y="1915668"/>
            <a:ext cx="228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B82F6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⚙︎</a:t>
            </a:r>
            <a:endParaRPr lang="en-US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059936" y="1874520"/>
            <a:ext cx="19385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4306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2. 회원 관리 시스템</a:t>
            </a:r>
            <a:endParaRPr lang="en-US" sz="16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3630168" y="2304288"/>
            <a:ext cx="21488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30168" y="2638044"/>
            <a:ext cx="32004" cy="3200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94760" y="2523744"/>
            <a:ext cx="1984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30" b="1" dirty="0">
                <a:solidFill>
                  <a:srgbClr val="4B5563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관리자 승인 시스템</a:t>
            </a:r>
            <a:endParaRPr lang="en-US" sz="123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3630168" y="2921508"/>
            <a:ext cx="32004" cy="3200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94760" y="2807208"/>
            <a:ext cx="1984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30" b="1" dirty="0">
                <a:solidFill>
                  <a:srgbClr val="4B5563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관리자 / 사용자 권한 분리</a:t>
            </a:r>
            <a:endParaRPr lang="en-US" sz="123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3630168" y="3204972"/>
            <a:ext cx="32004" cy="3200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94760" y="3090672"/>
            <a:ext cx="1984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30" b="1" dirty="0">
                <a:solidFill>
                  <a:srgbClr val="4B5563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로그인 실패 횟수 관리</a:t>
            </a:r>
            <a:endParaRPr lang="en-US" sz="123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3630168" y="3488436"/>
            <a:ext cx="32004" cy="3200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794760" y="3374136"/>
            <a:ext cx="1984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30" b="1" dirty="0">
                <a:solidFill>
                  <a:srgbClr val="4B5563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CAPTCHA 적용</a:t>
            </a:r>
            <a:endParaRPr lang="en-US" sz="123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3630168" y="3771900"/>
            <a:ext cx="32004" cy="3200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794760" y="3657600"/>
            <a:ext cx="1984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30" b="1" dirty="0">
                <a:solidFill>
                  <a:srgbClr val="4B5563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반복 실패 시 계정 비활성화</a:t>
            </a:r>
            <a:endParaRPr lang="en-US" sz="123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6208776" y="1664208"/>
            <a:ext cx="2606040" cy="2395728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25400" dist="50800" dir="2700000" algn="bl" rotWithShape="0">
              <a:srgbClr val="9CA3AF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437376" y="1892808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 w="12700">
            <a:solidFill>
              <a:srgbClr val="F3F7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69380" y="1915668"/>
            <a:ext cx="228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B82F6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▣</a:t>
            </a:r>
            <a:endParaRPr lang="en-US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6867144" y="187452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4306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3. AI 객체 탐지</a:t>
            </a:r>
            <a:endParaRPr lang="en-US" sz="16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6437376" y="2304288"/>
            <a:ext cx="21488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437376" y="2638044"/>
            <a:ext cx="32004" cy="3200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01968" y="2523744"/>
            <a:ext cx="1984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30" b="1" dirty="0">
                <a:solidFill>
                  <a:srgbClr val="4B5563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YOLO 기반 실시간 탐지</a:t>
            </a:r>
            <a:endParaRPr lang="en-US" sz="123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6437376" y="2939796"/>
            <a:ext cx="32004" cy="3200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601968" y="2825496"/>
            <a:ext cx="1984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30" b="1" dirty="0">
                <a:solidFill>
                  <a:srgbClr val="4B5563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사람 객체 탐지</a:t>
            </a:r>
            <a:endParaRPr lang="en-US" sz="123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6437376" y="3241548"/>
            <a:ext cx="32004" cy="3200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01968" y="3127248"/>
            <a:ext cx="1984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30" b="1" dirty="0">
                <a:solidFill>
                  <a:srgbClr val="4B5563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Bounding Box 표시</a:t>
            </a:r>
            <a:endParaRPr lang="en-US" sz="123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6437376" y="3543300"/>
            <a:ext cx="32004" cy="3200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601968" y="3429000"/>
            <a:ext cx="1984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30" b="1" dirty="0">
                <a:solidFill>
                  <a:srgbClr val="4B5563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Flask 영상 스트리밍</a:t>
            </a:r>
            <a:endParaRPr lang="en-US" sz="123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9015984" y="1664208"/>
            <a:ext cx="2606040" cy="2395728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25400" dist="50800" dir="2700000" algn="bl" rotWithShape="0">
              <a:srgbClr val="9CA3AF">
                <a:alpha val="12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9244584" y="1892808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 w="12700">
            <a:solidFill>
              <a:srgbClr val="F3F7F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276588" y="1915668"/>
            <a:ext cx="228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B82F6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◎</a:t>
            </a:r>
            <a:endParaRPr lang="en-US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9674352" y="187452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4306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4. 얼굴 인식</a:t>
            </a:r>
            <a:endParaRPr lang="en-US" sz="16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9244584" y="2304288"/>
            <a:ext cx="21488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244584" y="2638044"/>
            <a:ext cx="32004" cy="3200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409176" y="2523744"/>
            <a:ext cx="1984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30" b="1" dirty="0">
                <a:solidFill>
                  <a:srgbClr val="4B5563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InsightFace 기반 인식</a:t>
            </a:r>
            <a:endParaRPr lang="en-US" sz="123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9244584" y="2939796"/>
            <a:ext cx="32004" cy="3200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409176" y="2825496"/>
            <a:ext cx="1984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30" b="1" dirty="0">
                <a:solidFill>
                  <a:srgbClr val="4B5563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얼굴 특징 추출 및 비교</a:t>
            </a:r>
            <a:endParaRPr lang="en-US" sz="123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9244584" y="3241548"/>
            <a:ext cx="32004" cy="3200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409176" y="3127248"/>
            <a:ext cx="1984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30" b="1" dirty="0">
                <a:solidFill>
                  <a:srgbClr val="4B5563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실종자·수배자 식별</a:t>
            </a:r>
            <a:endParaRPr lang="en-US" sz="123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61" name="Shape 59"/>
          <p:cNvSpPr/>
          <p:nvPr/>
        </p:nvSpPr>
        <p:spPr>
          <a:xfrm>
            <a:off x="9244584" y="3543300"/>
            <a:ext cx="32004" cy="3200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409176" y="3429000"/>
            <a:ext cx="1984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30" b="1" dirty="0">
                <a:solidFill>
                  <a:srgbClr val="4B5563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이벤트 자동 생성</a:t>
            </a:r>
            <a:endParaRPr lang="en-US" sz="123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63" name="Shape 61"/>
          <p:cNvSpPr/>
          <p:nvPr/>
        </p:nvSpPr>
        <p:spPr>
          <a:xfrm>
            <a:off x="594360" y="4288536"/>
            <a:ext cx="2606040" cy="2121408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25400" dist="50800" dir="2700000" algn="bl" rotWithShape="0">
              <a:srgbClr val="9CA3AF">
                <a:alpha val="12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822960" y="4517136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 w="12700">
            <a:solidFill>
              <a:srgbClr val="F3F7F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54964" y="4539996"/>
            <a:ext cx="228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B82F6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◷</a:t>
            </a:r>
            <a:endParaRPr lang="en-US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66" name="Text 64"/>
          <p:cNvSpPr/>
          <p:nvPr/>
        </p:nvSpPr>
        <p:spPr>
          <a:xfrm>
            <a:off x="1252728" y="449884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4306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5. </a:t>
            </a:r>
            <a:r>
              <a:rPr lang="en-US" sz="1600" b="1" dirty="0" err="1" smtClean="0">
                <a:solidFill>
                  <a:srgbClr val="14306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사용자</a:t>
            </a:r>
            <a:r>
              <a:rPr lang="en-US" sz="1600" b="1" dirty="0" smtClean="0">
                <a:solidFill>
                  <a:srgbClr val="14306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 </a:t>
            </a:r>
            <a:r>
              <a:rPr lang="en-US" sz="1600" b="1" dirty="0" err="1" smtClean="0">
                <a:solidFill>
                  <a:srgbClr val="14306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로그</a:t>
            </a:r>
            <a:r>
              <a:rPr lang="en-US" sz="1600" b="1" dirty="0" smtClean="0">
                <a:solidFill>
                  <a:srgbClr val="14306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 </a:t>
            </a:r>
            <a:r>
              <a:rPr lang="en-US" sz="1600" b="1" dirty="0">
                <a:solidFill>
                  <a:srgbClr val="14306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관리</a:t>
            </a:r>
            <a:endParaRPr lang="en-US" sz="16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67" name="Shape 65"/>
          <p:cNvSpPr/>
          <p:nvPr/>
        </p:nvSpPr>
        <p:spPr>
          <a:xfrm>
            <a:off x="822960" y="4928616"/>
            <a:ext cx="21488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22960" y="5262372"/>
            <a:ext cx="32004" cy="3200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987552" y="5148072"/>
            <a:ext cx="1984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30" b="1" dirty="0">
                <a:solidFill>
                  <a:srgbClr val="4B5563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이벤트 로그 열람 이력 관리</a:t>
            </a:r>
            <a:endParaRPr lang="en-US" sz="123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70" name="Shape 68"/>
          <p:cNvSpPr/>
          <p:nvPr/>
        </p:nvSpPr>
        <p:spPr>
          <a:xfrm>
            <a:off x="822960" y="5564124"/>
            <a:ext cx="32004" cy="3200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987552" y="5449824"/>
            <a:ext cx="1984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30" b="1" dirty="0">
                <a:solidFill>
                  <a:srgbClr val="4B5563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사용자 ID 기록</a:t>
            </a:r>
            <a:endParaRPr lang="en-US" sz="123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72" name="Shape 70"/>
          <p:cNvSpPr/>
          <p:nvPr/>
        </p:nvSpPr>
        <p:spPr>
          <a:xfrm>
            <a:off x="822960" y="5865876"/>
            <a:ext cx="32004" cy="3200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987552" y="5751576"/>
            <a:ext cx="1984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30" b="1" dirty="0">
                <a:solidFill>
                  <a:srgbClr val="4B5563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열람 시간 기록</a:t>
            </a:r>
            <a:endParaRPr lang="en-US" sz="123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74" name="Shape 72"/>
          <p:cNvSpPr/>
          <p:nvPr/>
        </p:nvSpPr>
        <p:spPr>
          <a:xfrm>
            <a:off x="822960" y="6167628"/>
            <a:ext cx="32004" cy="3200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987552" y="6053328"/>
            <a:ext cx="1984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30" b="1" dirty="0">
                <a:solidFill>
                  <a:srgbClr val="4B5563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조회 추적 시스템</a:t>
            </a:r>
            <a:endParaRPr lang="en-US" sz="123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76" name="Shape 74"/>
          <p:cNvSpPr/>
          <p:nvPr/>
        </p:nvSpPr>
        <p:spPr>
          <a:xfrm>
            <a:off x="3401568" y="4288536"/>
            <a:ext cx="2606040" cy="2121408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25400" dist="50800" dir="2700000" algn="bl" rotWithShape="0">
              <a:srgbClr val="9CA3AF">
                <a:alpha val="12000"/>
              </a:srgbClr>
            </a:outerShdw>
          </a:effectLst>
        </p:spPr>
      </p:sp>
      <p:sp>
        <p:nvSpPr>
          <p:cNvPr id="77" name="Shape 75"/>
          <p:cNvSpPr/>
          <p:nvPr/>
        </p:nvSpPr>
        <p:spPr>
          <a:xfrm>
            <a:off x="3630168" y="4517136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 w="12700">
            <a:solidFill>
              <a:srgbClr val="F3F7FF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662172" y="4539996"/>
            <a:ext cx="228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B82F6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☑︎</a:t>
            </a:r>
            <a:endParaRPr lang="en-US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79" name="Text 77"/>
          <p:cNvSpPr/>
          <p:nvPr/>
        </p:nvSpPr>
        <p:spPr>
          <a:xfrm>
            <a:off x="4059936" y="449884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4306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6. 이벤트 로그 관리</a:t>
            </a:r>
            <a:endParaRPr lang="en-US" sz="16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80" name="Shape 78"/>
          <p:cNvSpPr/>
          <p:nvPr/>
        </p:nvSpPr>
        <p:spPr>
          <a:xfrm>
            <a:off x="3630168" y="4928616"/>
            <a:ext cx="21488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3630168" y="5262372"/>
            <a:ext cx="32004" cy="3200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794760" y="5148072"/>
            <a:ext cx="1984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30" b="1" dirty="0">
                <a:solidFill>
                  <a:srgbClr val="4B5563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탐지 이벤트 기록</a:t>
            </a:r>
            <a:endParaRPr lang="en-US" sz="123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83" name="Shape 81"/>
          <p:cNvSpPr/>
          <p:nvPr/>
        </p:nvSpPr>
        <p:spPr>
          <a:xfrm>
            <a:off x="3630168" y="5564124"/>
            <a:ext cx="32004" cy="3200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794760" y="5449824"/>
            <a:ext cx="1984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30" b="1" dirty="0">
                <a:solidFill>
                  <a:srgbClr val="4B5563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탐지 시간 저장</a:t>
            </a:r>
            <a:endParaRPr lang="en-US" sz="123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85" name="Shape 83"/>
          <p:cNvSpPr/>
          <p:nvPr/>
        </p:nvSpPr>
        <p:spPr>
          <a:xfrm>
            <a:off x="3630168" y="5865876"/>
            <a:ext cx="32004" cy="3200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3794760" y="5751576"/>
            <a:ext cx="1984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30" b="1" dirty="0">
                <a:solidFill>
                  <a:srgbClr val="4B5563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탐지 대상 정보 저장</a:t>
            </a:r>
            <a:endParaRPr lang="en-US" sz="123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87" name="Shape 85"/>
          <p:cNvSpPr/>
          <p:nvPr/>
        </p:nvSpPr>
        <p:spPr>
          <a:xfrm>
            <a:off x="3630168" y="6167628"/>
            <a:ext cx="32004" cy="3200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3794760" y="6053328"/>
            <a:ext cx="1984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30" b="1" dirty="0">
                <a:solidFill>
                  <a:srgbClr val="4B5563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이벤트 목록 조회</a:t>
            </a:r>
            <a:endParaRPr lang="en-US" sz="123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89" name="Shape 87"/>
          <p:cNvSpPr/>
          <p:nvPr/>
        </p:nvSpPr>
        <p:spPr>
          <a:xfrm>
            <a:off x="6208776" y="4288536"/>
            <a:ext cx="5413248" cy="2121408"/>
          </a:xfrm>
          <a:prstGeom prst="roundRect">
            <a:avLst>
              <a:gd name="adj" fmla="val 4310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25400" dist="50800" dir="2700000" algn="bl" rotWithShape="0">
              <a:srgbClr val="9CA3AF">
                <a:alpha val="12000"/>
              </a:srgbClr>
            </a:outerShdw>
          </a:effectLst>
        </p:spPr>
      </p:sp>
      <p:sp>
        <p:nvSpPr>
          <p:cNvPr id="90" name="Shape 88"/>
          <p:cNvSpPr/>
          <p:nvPr/>
        </p:nvSpPr>
        <p:spPr>
          <a:xfrm>
            <a:off x="6437376" y="4517136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 w="12700">
            <a:solidFill>
              <a:srgbClr val="F3F7FF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469380" y="4539996"/>
            <a:ext cx="228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B82F6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▣</a:t>
            </a:r>
            <a:endParaRPr lang="en-US" sz="14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92" name="Text 90"/>
          <p:cNvSpPr/>
          <p:nvPr/>
        </p:nvSpPr>
        <p:spPr>
          <a:xfrm>
            <a:off x="6867144" y="4498848"/>
            <a:ext cx="4544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4306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7. 통합 관제 화면</a:t>
            </a:r>
            <a:endParaRPr lang="en-US" sz="16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93" name="Shape 91"/>
          <p:cNvSpPr/>
          <p:nvPr/>
        </p:nvSpPr>
        <p:spPr>
          <a:xfrm>
            <a:off x="6437376" y="4928616"/>
            <a:ext cx="4956048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6437376" y="5244084"/>
            <a:ext cx="32004" cy="3200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601968" y="5129784"/>
            <a:ext cx="2221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30" b="1" dirty="0">
                <a:solidFill>
                  <a:srgbClr val="4B5563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실시간 영상 확인</a:t>
            </a:r>
            <a:endParaRPr lang="en-US" sz="123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96" name="Shape 94"/>
          <p:cNvSpPr/>
          <p:nvPr/>
        </p:nvSpPr>
        <p:spPr>
          <a:xfrm>
            <a:off x="6437376" y="5573268"/>
            <a:ext cx="32004" cy="3200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6601968" y="5458968"/>
            <a:ext cx="2221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30" b="1" dirty="0">
                <a:solidFill>
                  <a:srgbClr val="4B5563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탐지 대상 정보 확인</a:t>
            </a:r>
            <a:endParaRPr lang="en-US" sz="123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98" name="Shape 96"/>
          <p:cNvSpPr/>
          <p:nvPr/>
        </p:nvSpPr>
        <p:spPr>
          <a:xfrm>
            <a:off x="6437376" y="5902452"/>
            <a:ext cx="32004" cy="3200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601968" y="5788152"/>
            <a:ext cx="22219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30" b="1" dirty="0">
                <a:solidFill>
                  <a:srgbClr val="14306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하나의 화면에서 통합 관제</a:t>
            </a:r>
            <a:endParaRPr lang="en-US" sz="123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00" name="Shape 98"/>
          <p:cNvSpPr/>
          <p:nvPr/>
        </p:nvSpPr>
        <p:spPr>
          <a:xfrm>
            <a:off x="9116568" y="5244084"/>
            <a:ext cx="32004" cy="3200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9281160" y="5129784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30" b="1" dirty="0">
                <a:solidFill>
                  <a:srgbClr val="4B5563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AI 탐지 결과 표시</a:t>
            </a:r>
            <a:endParaRPr lang="en-US" sz="123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02" name="Shape 100"/>
          <p:cNvSpPr/>
          <p:nvPr/>
        </p:nvSpPr>
        <p:spPr>
          <a:xfrm>
            <a:off x="9116568" y="5573268"/>
            <a:ext cx="32004" cy="3200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9281160" y="5458968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30" b="1" dirty="0">
                <a:solidFill>
                  <a:srgbClr val="4B5563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이벤트 정보 확인</a:t>
            </a:r>
            <a:endParaRPr lang="en-US" sz="123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05" name="Google Shape;86;p13">
            <a:extLst>
              <a:ext uri="{FF2B5EF4-FFF2-40B4-BE49-F238E27FC236}">
                <a16:creationId xmlns:a16="http://schemas.microsoft.com/office/drawing/2014/main" id="{E04A4474-2736-C460-A196-B7B307E30FD3}"/>
              </a:ext>
            </a:extLst>
          </p:cNvPr>
          <p:cNvSpPr/>
          <p:nvPr/>
        </p:nvSpPr>
        <p:spPr>
          <a:xfrm>
            <a:off x="771525" y="1365795"/>
            <a:ext cx="106489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Calibri"/>
              <a:sym typeface="Calibri"/>
            </a:endParaRPr>
          </a:p>
        </p:txBody>
      </p:sp>
      <p:sp>
        <p:nvSpPr>
          <p:cNvPr id="107" name="Google Shape;179;p16">
            <a:extLst>
              <a:ext uri="{FF2B5EF4-FFF2-40B4-BE49-F238E27FC236}">
                <a16:creationId xmlns:a16="http://schemas.microsoft.com/office/drawing/2014/main" id="{C61A91A3-870B-7D10-34CB-703CF2F67625}"/>
              </a:ext>
            </a:extLst>
          </p:cNvPr>
          <p:cNvSpPr txBox="1"/>
          <p:nvPr/>
        </p:nvSpPr>
        <p:spPr>
          <a:xfrm>
            <a:off x="771525" y="581025"/>
            <a:ext cx="11181397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altLang="ko-KR" sz="2850" b="1" dirty="0" smtClean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Poppins Black"/>
              </a:rPr>
              <a:t>03   </a:t>
            </a:r>
            <a:r>
              <a:rPr lang="ko-KR" altLang="en-US" sz="2850" b="1" dirty="0" smtClean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Poppins Black"/>
              </a:rPr>
              <a:t>프로젝트 구현</a:t>
            </a:r>
            <a:endParaRPr lang="ko-KR" altLang="en-US" sz="2850" b="1" dirty="0">
              <a:solidFill>
                <a:srgbClr val="0F172A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Poppins Black"/>
            </a:endParaRPr>
          </a:p>
        </p:txBody>
      </p:sp>
      <p:sp>
        <p:nvSpPr>
          <p:cNvPr id="106" name="직사각형 105"/>
          <p:cNvSpPr/>
          <p:nvPr/>
        </p:nvSpPr>
        <p:spPr>
          <a:xfrm>
            <a:off x="606641" y="1375321"/>
            <a:ext cx="10979123" cy="479687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8" name="직선 연결선 107"/>
          <p:cNvCxnSpPr/>
          <p:nvPr/>
        </p:nvCxnSpPr>
        <p:spPr>
          <a:xfrm flipV="1">
            <a:off x="606641" y="1145219"/>
            <a:ext cx="10979123" cy="9327"/>
          </a:xfrm>
          <a:prstGeom prst="line">
            <a:avLst/>
          </a:prstGeom>
          <a:ln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4596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그림 32">
            <a:extLst>
              <a:ext uri="{FF2B5EF4-FFF2-40B4-BE49-F238E27FC236}">
                <a16:creationId xmlns:a16="http://schemas.microsoft.com/office/drawing/2014/main" id="{03E5AC0C-D999-D92A-0FF7-ADF6A2690D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170" y="1365794"/>
            <a:ext cx="9851659" cy="4802463"/>
          </a:xfrm>
          <a:prstGeom prst="rect">
            <a:avLst/>
          </a:prstGeom>
          <a:noFill/>
          <a:effectLst>
            <a:softEdge rad="101600"/>
          </a:effectLst>
        </p:spPr>
      </p:pic>
      <p:sp>
        <p:nvSpPr>
          <p:cNvPr id="6" name="Google Shape;179;p16">
            <a:extLst>
              <a:ext uri="{FF2B5EF4-FFF2-40B4-BE49-F238E27FC236}">
                <a16:creationId xmlns:a16="http://schemas.microsoft.com/office/drawing/2014/main" id="{C61A91A3-870B-7D10-34CB-703CF2F67625}"/>
              </a:ext>
            </a:extLst>
          </p:cNvPr>
          <p:cNvSpPr txBox="1"/>
          <p:nvPr/>
        </p:nvSpPr>
        <p:spPr>
          <a:xfrm>
            <a:off x="771525" y="581025"/>
            <a:ext cx="11181397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altLang="ko-KR" sz="2850" b="1" dirty="0" smtClean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Poppins Black"/>
              </a:rPr>
              <a:t>04. </a:t>
            </a:r>
            <a:r>
              <a:rPr lang="ko-KR" altLang="en-US" sz="2850" b="1" dirty="0" smtClean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Poppins Black"/>
              </a:rPr>
              <a:t>사용 툴 및 개발 환경</a:t>
            </a:r>
            <a:endParaRPr lang="ko-KR" altLang="en-US" sz="2850" b="1" dirty="0">
              <a:solidFill>
                <a:srgbClr val="0F172A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Poppins Black"/>
            </a:endParaRPr>
          </a:p>
        </p:txBody>
      </p:sp>
      <p:sp>
        <p:nvSpPr>
          <p:cNvPr id="7" name="Google Shape;86;p13">
            <a:extLst>
              <a:ext uri="{FF2B5EF4-FFF2-40B4-BE49-F238E27FC236}">
                <a16:creationId xmlns:a16="http://schemas.microsoft.com/office/drawing/2014/main" id="{E04A4474-2736-C460-A196-B7B307E30FD3}"/>
              </a:ext>
            </a:extLst>
          </p:cNvPr>
          <p:cNvSpPr/>
          <p:nvPr/>
        </p:nvSpPr>
        <p:spPr>
          <a:xfrm>
            <a:off x="771525" y="1365795"/>
            <a:ext cx="106489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Calibri"/>
              <a:sym typeface="Calibri"/>
            </a:endParaRPr>
          </a:p>
        </p:txBody>
      </p:sp>
      <p:cxnSp>
        <p:nvCxnSpPr>
          <p:cNvPr id="9" name="직선 연결선 8"/>
          <p:cNvCxnSpPr/>
          <p:nvPr/>
        </p:nvCxnSpPr>
        <p:spPr>
          <a:xfrm flipV="1">
            <a:off x="606641" y="1145219"/>
            <a:ext cx="10979123" cy="9327"/>
          </a:xfrm>
          <a:prstGeom prst="line">
            <a:avLst/>
          </a:prstGeom>
          <a:ln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9417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1_windo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2664" y="2705509"/>
            <a:ext cx="1417320" cy="11338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76641" y="1721508"/>
            <a:ext cx="1499616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800" b="1">
                <a:solidFill>
                  <a:srgbClr val="1443F0"/>
                </a:solidFill>
                <a:latin typeface="Malgun Gothic"/>
              </a:defRPr>
            </a:pPr>
            <a:r>
              <a:rPr dirty="0"/>
              <a:t>OS / </a:t>
            </a:r>
            <a:r>
              <a:rPr dirty="0" err="1"/>
              <a:t>실행</a:t>
            </a:r>
            <a:endParaRPr dirty="0"/>
          </a:p>
        </p:txBody>
      </p:sp>
      <p:cxnSp>
        <p:nvCxnSpPr>
          <p:cNvPr id="8" name="Connector 7"/>
          <p:cNvCxnSpPr/>
          <p:nvPr/>
        </p:nvCxnSpPr>
        <p:spPr>
          <a:xfrm>
            <a:off x="1622248" y="2178708"/>
            <a:ext cx="1008402" cy="0"/>
          </a:xfrm>
          <a:prstGeom prst="line">
            <a:avLst/>
          </a:prstGeom>
          <a:ln w="13335">
            <a:solidFill>
              <a:srgbClr val="1443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562736" y="4597926"/>
            <a:ext cx="1346883" cy="445763"/>
          </a:xfrm>
          <a:prstGeom prst="rect">
            <a:avLst/>
          </a:prstGeom>
          <a:noFill/>
        </p:spPr>
        <p:txBody>
          <a:bodyPr wrap="square" lIns="18288" tIns="0" rIns="0" bIns="0">
            <a:spAutoFit/>
          </a:bodyPr>
          <a:lstStyle/>
          <a:p>
            <a:pPr>
              <a:spcAft>
                <a:spcPts val="450"/>
              </a:spcAft>
              <a:defRPr sz="1240">
                <a:solidFill>
                  <a:srgbClr val="26272B"/>
                </a:solidFill>
                <a:latin typeface="Malgun Gothic"/>
              </a:defRPr>
            </a:pPr>
            <a:r>
              <a:rPr lang="en-US" sz="1200" dirty="0">
                <a:latin typeface="+mj-ea"/>
                <a:ea typeface="+mj-ea"/>
              </a:rPr>
              <a:t>• Windows 10</a:t>
            </a:r>
          </a:p>
          <a:p>
            <a:pPr>
              <a:spcAft>
                <a:spcPts val="450"/>
              </a:spcAft>
              <a:defRPr sz="1240">
                <a:solidFill>
                  <a:srgbClr val="26272B"/>
                </a:solidFill>
                <a:latin typeface="Malgun Gothic"/>
              </a:defRPr>
            </a:pPr>
            <a:r>
              <a:rPr lang="en-US" sz="1200" dirty="0">
                <a:latin typeface="+mj-ea"/>
                <a:ea typeface="+mj-ea"/>
              </a:rPr>
              <a:t>• Python 3.12.0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55250" y="1721508"/>
            <a:ext cx="1499616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800" b="1">
                <a:solidFill>
                  <a:srgbClr val="1443F0"/>
                </a:solidFill>
                <a:latin typeface="Malgun Gothic"/>
              </a:defRPr>
            </a:pPr>
            <a:r>
              <a:rPr dirty="0"/>
              <a:t>웹 / </a:t>
            </a:r>
            <a:r>
              <a:rPr dirty="0" err="1"/>
              <a:t>서버</a:t>
            </a:r>
            <a:endParaRPr dirty="0"/>
          </a:p>
        </p:txBody>
      </p:sp>
      <p:cxnSp>
        <p:nvCxnSpPr>
          <p:cNvPr id="12" name="Connector 11"/>
          <p:cNvCxnSpPr/>
          <p:nvPr/>
        </p:nvCxnSpPr>
        <p:spPr>
          <a:xfrm>
            <a:off x="4595330" y="2178708"/>
            <a:ext cx="219456" cy="0"/>
          </a:xfrm>
          <a:prstGeom prst="line">
            <a:avLst/>
          </a:prstGeom>
          <a:ln w="13335">
            <a:solidFill>
              <a:srgbClr val="1443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040897" y="4478905"/>
            <a:ext cx="1365171" cy="955646"/>
          </a:xfrm>
          <a:prstGeom prst="rect">
            <a:avLst/>
          </a:prstGeom>
          <a:noFill/>
        </p:spPr>
        <p:txBody>
          <a:bodyPr wrap="square" lIns="18288" tIns="0" rIns="0" bIns="0">
            <a:spAutoFit/>
          </a:bodyPr>
          <a:lstStyle/>
          <a:p>
            <a:pPr>
              <a:spcAft>
                <a:spcPts val="450"/>
              </a:spcAft>
              <a:defRPr sz="1240">
                <a:solidFill>
                  <a:srgbClr val="26272B"/>
                </a:solidFill>
                <a:latin typeface="Malgun Gothic"/>
              </a:defRPr>
            </a:pPr>
            <a:r>
              <a:rPr lang="en-US" sz="1200" dirty="0">
                <a:latin typeface="+mj-ea"/>
                <a:ea typeface="+mj-ea"/>
              </a:rPr>
              <a:t>• Flask 3.1.3</a:t>
            </a:r>
          </a:p>
          <a:p>
            <a:pPr>
              <a:spcAft>
                <a:spcPts val="450"/>
              </a:spcAft>
              <a:defRPr sz="1240">
                <a:solidFill>
                  <a:srgbClr val="26272B"/>
                </a:solidFill>
                <a:latin typeface="Malgun Gothic"/>
              </a:defRPr>
            </a:pPr>
            <a:r>
              <a:rPr lang="en-US" sz="1200" dirty="0">
                <a:latin typeface="+mj-ea"/>
                <a:ea typeface="+mj-ea"/>
              </a:rPr>
              <a:t>• Jinja2 3.1.6</a:t>
            </a:r>
          </a:p>
          <a:p>
            <a:pPr>
              <a:spcAft>
                <a:spcPts val="450"/>
              </a:spcAft>
              <a:defRPr sz="1240">
                <a:solidFill>
                  <a:srgbClr val="26272B"/>
                </a:solidFill>
                <a:latin typeface="Malgun Gothic"/>
              </a:defRPr>
            </a:pPr>
            <a:r>
              <a:rPr lang="en-US" sz="1200" dirty="0">
                <a:latin typeface="+mj-ea"/>
                <a:ea typeface="+mj-ea"/>
              </a:rPr>
              <a:t>• Werkzeug 3.1.8</a:t>
            </a:r>
          </a:p>
          <a:p>
            <a:pPr>
              <a:spcAft>
                <a:spcPts val="450"/>
              </a:spcAft>
              <a:defRPr sz="1240">
                <a:solidFill>
                  <a:srgbClr val="26272B"/>
                </a:solidFill>
                <a:latin typeface="Malgun Gothic"/>
              </a:defRPr>
            </a:pPr>
            <a:r>
              <a:rPr lang="en-US" sz="1200" dirty="0">
                <a:latin typeface="+mj-ea"/>
                <a:ea typeface="+mj-ea"/>
              </a:rPr>
              <a:t>• HTML / CSS / JS</a:t>
            </a:r>
            <a:endParaRPr sz="1200" dirty="0">
              <a:latin typeface="+mj-ea"/>
              <a:ea typeface="+mj-ea"/>
            </a:endParaRPr>
          </a:p>
        </p:txBody>
      </p:sp>
      <p:pic>
        <p:nvPicPr>
          <p:cNvPr id="14" name="Picture 13" descr="s2_vi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4452" y="2559204"/>
            <a:ext cx="1444752" cy="138988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52146" y="1721508"/>
            <a:ext cx="1499616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800" b="1">
                <a:solidFill>
                  <a:srgbClr val="1443F0"/>
                </a:solidFill>
                <a:latin typeface="Malgun Gothic"/>
              </a:defRPr>
            </a:pPr>
            <a:r>
              <a:t>AI / 비전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192226" y="2178708"/>
            <a:ext cx="219456" cy="0"/>
          </a:xfrm>
          <a:prstGeom prst="line">
            <a:avLst/>
          </a:prstGeom>
          <a:ln w="13335">
            <a:solidFill>
              <a:srgbClr val="1443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637020" y="4393888"/>
            <a:ext cx="1499616" cy="943335"/>
          </a:xfrm>
          <a:prstGeom prst="rect">
            <a:avLst/>
          </a:prstGeom>
          <a:noFill/>
        </p:spPr>
        <p:txBody>
          <a:bodyPr wrap="square" lIns="18288" tIns="0" rIns="0" bIns="0">
            <a:spAutoFit/>
          </a:bodyPr>
          <a:lstStyle/>
          <a:p>
            <a:pPr>
              <a:spcAft>
                <a:spcPts val="450"/>
              </a:spcAft>
              <a:defRPr sz="1220">
                <a:solidFill>
                  <a:srgbClr val="26272B"/>
                </a:solidFill>
                <a:latin typeface="Malgun Gothic"/>
              </a:defRPr>
            </a:pPr>
            <a:r>
              <a:rPr lang="en-US" sz="1200" dirty="0">
                <a:latin typeface="+mj-ea"/>
                <a:ea typeface="+mj-ea"/>
              </a:rPr>
              <a:t>• OpenCV 4.13</a:t>
            </a:r>
          </a:p>
          <a:p>
            <a:pPr>
              <a:spcAft>
                <a:spcPts val="450"/>
              </a:spcAft>
              <a:defRPr sz="1220">
                <a:solidFill>
                  <a:srgbClr val="26272B"/>
                </a:solidFill>
                <a:latin typeface="Malgun Gothic"/>
              </a:defRPr>
            </a:pPr>
            <a:r>
              <a:rPr lang="en-US" sz="1200" dirty="0">
                <a:latin typeface="+mj-ea"/>
                <a:ea typeface="+mj-ea"/>
              </a:rPr>
              <a:t>• Ultralytics YOLO</a:t>
            </a:r>
          </a:p>
          <a:p>
            <a:pPr>
              <a:spcAft>
                <a:spcPts val="450"/>
              </a:spcAft>
              <a:defRPr sz="1220">
                <a:solidFill>
                  <a:srgbClr val="26272B"/>
                </a:solidFill>
                <a:latin typeface="Malgun Gothic"/>
              </a:defRPr>
            </a:pPr>
            <a:r>
              <a:rPr lang="en-US" sz="1200" dirty="0">
                <a:latin typeface="+mj-ea"/>
                <a:ea typeface="+mj-ea"/>
              </a:rPr>
              <a:t>• InsightFace 1.0.1</a:t>
            </a:r>
          </a:p>
          <a:p>
            <a:pPr>
              <a:spcAft>
                <a:spcPts val="450"/>
              </a:spcAft>
              <a:defRPr sz="1220">
                <a:solidFill>
                  <a:srgbClr val="26272B"/>
                </a:solidFill>
                <a:latin typeface="Malgun Gothic"/>
              </a:defRPr>
            </a:pPr>
            <a:r>
              <a:rPr lang="en-US" sz="1200" dirty="0">
                <a:latin typeface="+mj-ea"/>
                <a:ea typeface="+mj-ea"/>
              </a:rPr>
              <a:t>• Torch / ONNX</a:t>
            </a:r>
            <a:endParaRPr sz="1200" dirty="0">
              <a:latin typeface="+mj-ea"/>
              <a:ea typeface="+mj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139898" y="1721508"/>
            <a:ext cx="1499616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800" b="1">
                <a:solidFill>
                  <a:srgbClr val="1443F0"/>
                </a:solidFill>
                <a:latin typeface="Malgun Gothic"/>
              </a:defRPr>
            </a:pPr>
            <a:r>
              <a:t>저장 / 처리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779978" y="2178708"/>
            <a:ext cx="219456" cy="0"/>
          </a:xfrm>
          <a:prstGeom prst="line">
            <a:avLst/>
          </a:prstGeom>
          <a:ln w="13335">
            <a:solidFill>
              <a:srgbClr val="1443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9205735" y="4302215"/>
            <a:ext cx="1713253" cy="937180"/>
          </a:xfrm>
          <a:prstGeom prst="rect">
            <a:avLst/>
          </a:prstGeom>
          <a:noFill/>
        </p:spPr>
        <p:txBody>
          <a:bodyPr wrap="square" lIns="18288" tIns="0" rIns="0" bIns="0">
            <a:spAutoFit/>
          </a:bodyPr>
          <a:lstStyle/>
          <a:p>
            <a:pPr>
              <a:spcAft>
                <a:spcPts val="450"/>
              </a:spcAft>
              <a:defRPr sz="1210">
                <a:solidFill>
                  <a:srgbClr val="26272B"/>
                </a:solidFill>
                <a:latin typeface="Malgun Gothic"/>
              </a:defRPr>
            </a:pPr>
            <a:r>
              <a:rPr lang="en-US" sz="1200" dirty="0">
                <a:latin typeface="+mj-ea"/>
                <a:ea typeface="+mj-ea"/>
              </a:rPr>
              <a:t>• JSON </a:t>
            </a:r>
            <a:r>
              <a:rPr lang="ko-KR" altLang="en-US" sz="1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파일 저장</a:t>
            </a:r>
          </a:p>
          <a:p>
            <a:pPr>
              <a:spcAft>
                <a:spcPts val="450"/>
              </a:spcAft>
              <a:defRPr sz="1210">
                <a:solidFill>
                  <a:srgbClr val="26272B"/>
                </a:solidFill>
                <a:latin typeface="Malgun Gothic"/>
              </a:defRPr>
            </a:pPr>
            <a:r>
              <a:rPr lang="en-US" altLang="ko-KR" sz="1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• </a:t>
            </a:r>
            <a:r>
              <a:rPr lang="en-US" sz="1200" dirty="0">
                <a:latin typeface="+mj-ea"/>
                <a:ea typeface="+mj-ea"/>
              </a:rPr>
              <a:t>NPZ </a:t>
            </a:r>
            <a:r>
              <a:rPr lang="ko-KR" altLang="en-US" sz="1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얼굴 임베딩</a:t>
            </a:r>
          </a:p>
          <a:p>
            <a:pPr>
              <a:spcAft>
                <a:spcPts val="450"/>
              </a:spcAft>
              <a:defRPr sz="1210">
                <a:solidFill>
                  <a:srgbClr val="26272B"/>
                </a:solidFill>
                <a:latin typeface="Malgun Gothic"/>
              </a:defRPr>
            </a:pPr>
            <a:r>
              <a:rPr lang="en-US" altLang="ko-KR" sz="1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• </a:t>
            </a:r>
            <a:r>
              <a:rPr lang="en-US" sz="1200" dirty="0">
                <a:latin typeface="+mj-ea"/>
                <a:ea typeface="+mj-ea"/>
              </a:rPr>
              <a:t>Pandas / OpenPyXL</a:t>
            </a:r>
          </a:p>
          <a:p>
            <a:pPr>
              <a:spcAft>
                <a:spcPts val="450"/>
              </a:spcAft>
              <a:defRPr sz="1210">
                <a:solidFill>
                  <a:srgbClr val="26272B"/>
                </a:solidFill>
                <a:latin typeface="Malgun Gothic"/>
              </a:defRPr>
            </a:pPr>
            <a:r>
              <a:rPr lang="en-US" sz="1200" dirty="0">
                <a:latin typeface="+mj-ea"/>
                <a:ea typeface="+mj-ea"/>
              </a:rPr>
              <a:t>• Captcha / Matplotlib</a:t>
            </a:r>
            <a:endParaRPr sz="1200" dirty="0">
              <a:latin typeface="+mj-ea"/>
              <a:ea typeface="+mj-ea"/>
            </a:endParaRP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3568172F-AF09-669A-5044-67B76374D3BF}"/>
              </a:ext>
            </a:extLst>
          </p:cNvPr>
          <p:cNvGrpSpPr/>
          <p:nvPr/>
        </p:nvGrpSpPr>
        <p:grpSpPr>
          <a:xfrm>
            <a:off x="3660729" y="2663987"/>
            <a:ext cx="2705020" cy="1457332"/>
            <a:chOff x="3241629" y="1979302"/>
            <a:chExt cx="2705020" cy="1457332"/>
          </a:xfrm>
        </p:grpSpPr>
        <p:pic>
          <p:nvPicPr>
            <p:cNvPr id="31" name="Picture 9" descr="s2_frontend.png">
              <a:extLst>
                <a:ext uri="{FF2B5EF4-FFF2-40B4-BE49-F238E27FC236}">
                  <a16:creationId xmlns:a16="http://schemas.microsoft.com/office/drawing/2014/main" id="{1F31B2E3-E0AC-E6EE-382A-6BFC30C0532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278422" y="2011570"/>
              <a:ext cx="1181821" cy="1092063"/>
            </a:xfrm>
            <a:prstGeom prst="rect">
              <a:avLst/>
            </a:prstGeom>
          </p:spPr>
        </p:pic>
        <p:grpSp>
          <p:nvGrpSpPr>
            <p:cNvPr id="30" name="그룹 29">
              <a:extLst>
                <a:ext uri="{FF2B5EF4-FFF2-40B4-BE49-F238E27FC236}">
                  <a16:creationId xmlns:a16="http://schemas.microsoft.com/office/drawing/2014/main" id="{9E2169D3-8971-A052-A42F-6582A4FF47EA}"/>
                </a:ext>
              </a:extLst>
            </p:cNvPr>
            <p:cNvGrpSpPr/>
            <p:nvPr/>
          </p:nvGrpSpPr>
          <p:grpSpPr>
            <a:xfrm>
              <a:off x="3241629" y="1979302"/>
              <a:ext cx="1365171" cy="1457332"/>
              <a:chOff x="3437775" y="2018020"/>
              <a:chExt cx="2085570" cy="1597517"/>
            </a:xfrm>
          </p:grpSpPr>
          <p:pic>
            <p:nvPicPr>
              <p:cNvPr id="27" name="Picture 5" descr="s2_backend.png">
                <a:extLst>
                  <a:ext uri="{FF2B5EF4-FFF2-40B4-BE49-F238E27FC236}">
                    <a16:creationId xmlns:a16="http://schemas.microsoft.com/office/drawing/2014/main" id="{F79DD29D-DC3E-C2A1-B0AD-6D33744DA18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552654" y="2018020"/>
                <a:ext cx="1513250" cy="916452"/>
              </a:xfrm>
              <a:prstGeom prst="rect">
                <a:avLst/>
              </a:prstGeom>
            </p:spPr>
          </p:pic>
          <p:pic>
            <p:nvPicPr>
              <p:cNvPr id="29" name="그림 28">
                <a:extLst>
                  <a:ext uri="{FF2B5EF4-FFF2-40B4-BE49-F238E27FC236}">
                    <a16:creationId xmlns:a16="http://schemas.microsoft.com/office/drawing/2014/main" id="{CF770944-BCFB-C2E9-B85A-5D8646E6EBD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437775" y="2377533"/>
                <a:ext cx="2085570" cy="1238004"/>
              </a:xfrm>
              <a:prstGeom prst="rect">
                <a:avLst/>
              </a:prstGeom>
            </p:spPr>
          </p:pic>
        </p:grpSp>
        <p:pic>
          <p:nvPicPr>
            <p:cNvPr id="2050" name="Picture 2" descr="Werkzeug: (Flask의 심장) WSGI 웹 유틸리티 라이브러리 - 함께해요 파이썬 생태계 (2026년 최신개정판)">
              <a:extLst>
                <a:ext uri="{FF2B5EF4-FFF2-40B4-BE49-F238E27FC236}">
                  <a16:creationId xmlns:a16="http://schemas.microsoft.com/office/drawing/2014/main" id="{8D7C50BB-D7B3-294B-4C79-6EB96B39416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83849" y="3057634"/>
              <a:ext cx="1962800" cy="2831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ED0F4A76-2185-1B96-6B57-D4D499493C09}"/>
              </a:ext>
            </a:extLst>
          </p:cNvPr>
          <p:cNvGrpSpPr/>
          <p:nvPr/>
        </p:nvGrpSpPr>
        <p:grpSpPr>
          <a:xfrm>
            <a:off x="8681388" y="2603440"/>
            <a:ext cx="1884238" cy="1235925"/>
            <a:chOff x="8497435" y="2263318"/>
            <a:chExt cx="1768294" cy="1028450"/>
          </a:xfrm>
        </p:grpSpPr>
        <p:pic>
          <p:nvPicPr>
            <p:cNvPr id="2052" name="Picture 4" descr="Json 파일 - 무료 상호 작용개 아이콘">
              <a:extLst>
                <a:ext uri="{FF2B5EF4-FFF2-40B4-BE49-F238E27FC236}">
                  <a16:creationId xmlns:a16="http://schemas.microsoft.com/office/drawing/2014/main" id="{03801CFF-F944-767D-45A7-8A8E1B2ED7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580334" y="2408244"/>
              <a:ext cx="685395" cy="6853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4" name="그림 33">
              <a:extLst>
                <a:ext uri="{FF2B5EF4-FFF2-40B4-BE49-F238E27FC236}">
                  <a16:creationId xmlns:a16="http://schemas.microsoft.com/office/drawing/2014/main" id="{4B1C6A31-5A06-652C-EE8A-D9E245ED12F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497435" y="2263318"/>
              <a:ext cx="1618868" cy="1028450"/>
            </a:xfrm>
            <a:prstGeom prst="rect">
              <a:avLst/>
            </a:prstGeom>
          </p:spPr>
        </p:pic>
      </p:grpSp>
      <p:sp>
        <p:nvSpPr>
          <p:cNvPr id="33" name="Google Shape;86;p13">
            <a:extLst>
              <a:ext uri="{FF2B5EF4-FFF2-40B4-BE49-F238E27FC236}">
                <a16:creationId xmlns:a16="http://schemas.microsoft.com/office/drawing/2014/main" id="{E04A4474-2736-C460-A196-B7B307E30FD3}"/>
              </a:ext>
            </a:extLst>
          </p:cNvPr>
          <p:cNvSpPr/>
          <p:nvPr/>
        </p:nvSpPr>
        <p:spPr>
          <a:xfrm>
            <a:off x="771525" y="1365795"/>
            <a:ext cx="106489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Calibri"/>
              <a:sym typeface="Calibri"/>
            </a:endParaRPr>
          </a:p>
        </p:txBody>
      </p:sp>
      <p:sp>
        <p:nvSpPr>
          <p:cNvPr id="35" name="Google Shape;179;p16">
            <a:extLst>
              <a:ext uri="{FF2B5EF4-FFF2-40B4-BE49-F238E27FC236}">
                <a16:creationId xmlns:a16="http://schemas.microsoft.com/office/drawing/2014/main" id="{C61A91A3-870B-7D10-34CB-703CF2F67625}"/>
              </a:ext>
            </a:extLst>
          </p:cNvPr>
          <p:cNvSpPr txBox="1"/>
          <p:nvPr/>
        </p:nvSpPr>
        <p:spPr>
          <a:xfrm>
            <a:off x="771525" y="581025"/>
            <a:ext cx="11181397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altLang="ko-KR" sz="2850" b="1" dirty="0" smtClean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Poppins Black"/>
              </a:rPr>
              <a:t>04. </a:t>
            </a:r>
            <a:r>
              <a:rPr lang="ko-KR" altLang="en-US" sz="2850" b="1" dirty="0" smtClean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Poppins Black"/>
              </a:rPr>
              <a:t>사용 툴 및 개발 환경</a:t>
            </a:r>
            <a:endParaRPr lang="ko-KR" altLang="en-US" sz="2850" b="1" dirty="0">
              <a:solidFill>
                <a:srgbClr val="0F172A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Poppins Black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606641" y="1375321"/>
            <a:ext cx="10979123" cy="479687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8" name="직선 연결선 37"/>
          <p:cNvCxnSpPr/>
          <p:nvPr/>
        </p:nvCxnSpPr>
        <p:spPr>
          <a:xfrm flipV="1">
            <a:off x="606641" y="1145219"/>
            <a:ext cx="10979123" cy="9327"/>
          </a:xfrm>
          <a:prstGeom prst="line">
            <a:avLst/>
          </a:prstGeom>
          <a:ln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2079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479422" y="1740534"/>
            <a:ext cx="1499616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800" b="1">
                <a:solidFill>
                  <a:srgbClr val="1443F0"/>
                </a:solidFill>
                <a:latin typeface="Malgun Gothic"/>
              </a:defRPr>
            </a:pPr>
            <a:r>
              <a:rPr lang="ko-KR" altLang="en-US" dirty="0"/>
              <a:t>백엔드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79235" y="4752346"/>
            <a:ext cx="674255" cy="700705"/>
          </a:xfrm>
          <a:prstGeom prst="rect">
            <a:avLst/>
          </a:prstGeom>
          <a:noFill/>
        </p:spPr>
        <p:txBody>
          <a:bodyPr wrap="square" lIns="18288" tIns="0" rIns="0" bIns="0">
            <a:spAutoFit/>
          </a:bodyPr>
          <a:lstStyle/>
          <a:p>
            <a:pPr marL="92075" indent="-92075">
              <a:spcAft>
                <a:spcPts val="450"/>
              </a:spcAft>
              <a:defRPr sz="1240">
                <a:solidFill>
                  <a:srgbClr val="26272B"/>
                </a:solidFill>
                <a:latin typeface="Malgun Gothic"/>
              </a:defRPr>
            </a:pPr>
            <a:r>
              <a:rPr sz="1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• Python</a:t>
            </a:r>
          </a:p>
          <a:p>
            <a:pPr marL="92075" indent="-92075">
              <a:spcAft>
                <a:spcPts val="450"/>
              </a:spcAft>
              <a:defRPr sz="1240">
                <a:solidFill>
                  <a:srgbClr val="26272B"/>
                </a:solidFill>
                <a:latin typeface="Malgun Gothic"/>
              </a:defRPr>
            </a:pPr>
            <a:r>
              <a:rPr sz="1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• Flask</a:t>
            </a:r>
          </a:p>
          <a:p>
            <a:pPr marL="92075" indent="-92075">
              <a:spcAft>
                <a:spcPts val="450"/>
              </a:spcAft>
              <a:defRPr sz="1240">
                <a:solidFill>
                  <a:srgbClr val="26272B"/>
                </a:solidFill>
                <a:latin typeface="Malgun Gothic"/>
              </a:defRPr>
            </a:pPr>
            <a:r>
              <a:rPr sz="1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• Jinja2</a:t>
            </a:r>
          </a:p>
        </p:txBody>
      </p:sp>
      <p:pic>
        <p:nvPicPr>
          <p:cNvPr id="10" name="Picture 9" descr="s2_front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3932" y="2716007"/>
            <a:ext cx="1560616" cy="14420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058031" y="1740534"/>
            <a:ext cx="1499616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800" b="1">
                <a:solidFill>
                  <a:srgbClr val="1443F0"/>
                </a:solidFill>
                <a:latin typeface="Malgun Gothic"/>
              </a:defRPr>
            </a:pPr>
            <a:r>
              <a:rPr lang="ko-KR" altLang="en-US" dirty="0"/>
              <a:t>프론트엔드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698111" y="2197734"/>
            <a:ext cx="219456" cy="0"/>
          </a:xfrm>
          <a:prstGeom prst="line">
            <a:avLst/>
          </a:prstGeom>
          <a:ln w="13335">
            <a:solidFill>
              <a:srgbClr val="1443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219159" y="4700719"/>
            <a:ext cx="1177360" cy="949491"/>
          </a:xfrm>
          <a:prstGeom prst="rect">
            <a:avLst/>
          </a:prstGeom>
          <a:noFill/>
        </p:spPr>
        <p:txBody>
          <a:bodyPr wrap="square" lIns="18288" tIns="0" rIns="0" bIns="0">
            <a:spAutoFit/>
          </a:bodyPr>
          <a:lstStyle/>
          <a:p>
            <a:pPr>
              <a:spcAft>
                <a:spcPts val="450"/>
              </a:spcAft>
              <a:defRPr sz="1230">
                <a:solidFill>
                  <a:srgbClr val="26272B"/>
                </a:solidFill>
                <a:latin typeface="Malgun Gothic"/>
              </a:defRPr>
            </a:pPr>
            <a:r>
              <a:rPr lang="en-US" sz="1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• HTML</a:t>
            </a:r>
          </a:p>
          <a:p>
            <a:pPr>
              <a:spcAft>
                <a:spcPts val="450"/>
              </a:spcAft>
              <a:defRPr sz="1230">
                <a:solidFill>
                  <a:srgbClr val="26272B"/>
                </a:solidFill>
                <a:latin typeface="Malgun Gothic"/>
              </a:defRPr>
            </a:pPr>
            <a:r>
              <a:rPr lang="en-US" sz="1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• CSS</a:t>
            </a:r>
          </a:p>
          <a:p>
            <a:pPr>
              <a:spcAft>
                <a:spcPts val="450"/>
              </a:spcAft>
              <a:defRPr sz="1230">
                <a:solidFill>
                  <a:srgbClr val="26272B"/>
                </a:solidFill>
                <a:latin typeface="Malgun Gothic"/>
              </a:defRPr>
            </a:pPr>
            <a:r>
              <a:rPr lang="en-US" sz="1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• JavaScript</a:t>
            </a:r>
          </a:p>
          <a:p>
            <a:pPr>
              <a:spcAft>
                <a:spcPts val="450"/>
              </a:spcAft>
              <a:defRPr sz="1230">
                <a:solidFill>
                  <a:srgbClr val="26272B"/>
                </a:solidFill>
                <a:latin typeface="Malgun Gothic"/>
              </a:defRPr>
            </a:pPr>
            <a:r>
              <a:rPr lang="en-US" sz="1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• Jinja Template</a:t>
            </a:r>
            <a:endParaRPr sz="12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654927" y="1740534"/>
            <a:ext cx="1499616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800" b="1">
                <a:solidFill>
                  <a:srgbClr val="1443F0"/>
                </a:solidFill>
                <a:latin typeface="Malgun Gothic"/>
              </a:defRPr>
            </a:pPr>
            <a:r>
              <a:rPr lang="en-US" dirty="0"/>
              <a:t>AI / </a:t>
            </a:r>
            <a:r>
              <a:rPr lang="ko-KR" altLang="en-US" dirty="0"/>
              <a:t>비전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295007" y="2197734"/>
            <a:ext cx="219456" cy="0"/>
          </a:xfrm>
          <a:prstGeom prst="line">
            <a:avLst/>
          </a:prstGeom>
          <a:ln w="13335">
            <a:solidFill>
              <a:srgbClr val="1443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740963" y="4702527"/>
            <a:ext cx="1327544" cy="943335"/>
          </a:xfrm>
          <a:prstGeom prst="rect">
            <a:avLst/>
          </a:prstGeom>
          <a:noFill/>
        </p:spPr>
        <p:txBody>
          <a:bodyPr wrap="square" lIns="18288" tIns="0" rIns="0" bIns="0">
            <a:spAutoFit/>
          </a:bodyPr>
          <a:lstStyle/>
          <a:p>
            <a:pPr>
              <a:spcAft>
                <a:spcPts val="450"/>
              </a:spcAft>
              <a:defRPr sz="1220">
                <a:solidFill>
                  <a:srgbClr val="26272B"/>
                </a:solidFill>
                <a:latin typeface="Malgun Gothic"/>
              </a:defRPr>
            </a:pPr>
            <a:r>
              <a:rPr lang="en-US" sz="1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• OpenCV</a:t>
            </a:r>
          </a:p>
          <a:p>
            <a:pPr>
              <a:spcAft>
                <a:spcPts val="450"/>
              </a:spcAft>
              <a:defRPr sz="1220">
                <a:solidFill>
                  <a:srgbClr val="26272B"/>
                </a:solidFill>
                <a:latin typeface="Malgun Gothic"/>
              </a:defRPr>
            </a:pPr>
            <a:r>
              <a:rPr lang="en-US" sz="1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• YOLO</a:t>
            </a:r>
          </a:p>
          <a:p>
            <a:pPr>
              <a:spcAft>
                <a:spcPts val="450"/>
              </a:spcAft>
              <a:defRPr sz="1220">
                <a:solidFill>
                  <a:srgbClr val="26272B"/>
                </a:solidFill>
                <a:latin typeface="Malgun Gothic"/>
              </a:defRPr>
            </a:pPr>
            <a:r>
              <a:rPr lang="en-US" sz="1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• InsightFace</a:t>
            </a:r>
          </a:p>
          <a:p>
            <a:pPr>
              <a:spcAft>
                <a:spcPts val="450"/>
              </a:spcAft>
              <a:defRPr sz="1220">
                <a:solidFill>
                  <a:srgbClr val="26272B"/>
                </a:solidFill>
                <a:latin typeface="Malgun Gothic"/>
              </a:defRPr>
            </a:pPr>
            <a:r>
              <a:rPr lang="en-US" sz="1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• ONNX Runtime</a:t>
            </a:r>
            <a:endParaRPr sz="12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pic>
        <p:nvPicPr>
          <p:cNvPr id="18" name="Picture 17" descr="s2_collab_github_sl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3610" y="2800363"/>
            <a:ext cx="1719072" cy="125272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242679" y="1740534"/>
            <a:ext cx="1499616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800" b="1">
                <a:solidFill>
                  <a:srgbClr val="1443F0"/>
                </a:solidFill>
                <a:latin typeface="Malgun Gothic"/>
              </a:defRPr>
            </a:pPr>
            <a:r>
              <a:rPr lang="ko-KR" altLang="en-US" dirty="0"/>
              <a:t>협업 툴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882759" y="2197734"/>
            <a:ext cx="219456" cy="0"/>
          </a:xfrm>
          <a:prstGeom prst="line">
            <a:avLst/>
          </a:prstGeom>
          <a:ln w="13335">
            <a:solidFill>
              <a:srgbClr val="1443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9556115" y="4702527"/>
            <a:ext cx="872744" cy="705321"/>
          </a:xfrm>
          <a:prstGeom prst="rect">
            <a:avLst/>
          </a:prstGeom>
          <a:noFill/>
        </p:spPr>
        <p:txBody>
          <a:bodyPr wrap="square" lIns="18288" tIns="0" rIns="0" bIns="0">
            <a:spAutoFit/>
          </a:bodyPr>
          <a:lstStyle/>
          <a:p>
            <a:pPr>
              <a:spcAft>
                <a:spcPts val="450"/>
              </a:spcAft>
              <a:defRPr sz="1250">
                <a:solidFill>
                  <a:srgbClr val="26272B"/>
                </a:solidFill>
                <a:latin typeface="Malgun Gothic"/>
              </a:defRPr>
            </a:pPr>
            <a:r>
              <a:rPr lang="en-US" sz="1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•  Git</a:t>
            </a:r>
          </a:p>
          <a:p>
            <a:pPr>
              <a:spcAft>
                <a:spcPts val="450"/>
              </a:spcAft>
              <a:defRPr sz="1250">
                <a:solidFill>
                  <a:srgbClr val="26272B"/>
                </a:solidFill>
                <a:latin typeface="Malgun Gothic"/>
              </a:defRPr>
            </a:pPr>
            <a:r>
              <a:rPr lang="en-US" sz="1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•  GitHub</a:t>
            </a:r>
          </a:p>
          <a:p>
            <a:pPr>
              <a:spcAft>
                <a:spcPts val="450"/>
              </a:spcAft>
              <a:defRPr sz="1250">
                <a:solidFill>
                  <a:srgbClr val="26272B"/>
                </a:solidFill>
                <a:latin typeface="Malgun Gothic"/>
              </a:defRPr>
            </a:pPr>
            <a:r>
              <a:rPr lang="en-US" sz="1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•  Slack</a:t>
            </a:r>
            <a:endParaRPr sz="12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59874" y="6349639"/>
            <a:ext cx="4684199" cy="34317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30" b="0">
                <a:solidFill>
                  <a:srgbClr val="71747B"/>
                </a:solidFill>
                <a:latin typeface="Malgun Gothic"/>
              </a:defRPr>
            </a:pPr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Git/GitHub</a:t>
            </a:r>
            <a:r>
              <a:rPr lang="ko-KR" alt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로 버전 관리 </a:t>
            </a:r>
            <a:r>
              <a:rPr lang="en-US" altLang="ko-KR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· Slack</a:t>
            </a:r>
            <a:r>
              <a:rPr lang="ko-KR" alt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으로 팀 소통 및 자료 공유</a:t>
            </a:r>
          </a:p>
          <a:p>
            <a:pPr algn="l">
              <a:defRPr sz="830" b="0">
                <a:solidFill>
                  <a:srgbClr val="71747B"/>
                </a:solidFill>
                <a:latin typeface="Malgun Gothic"/>
              </a:defRPr>
            </a:pPr>
            <a:endParaRPr dirty="0"/>
          </a:p>
        </p:txBody>
      </p:sp>
      <p:sp>
        <p:nvSpPr>
          <p:cNvPr id="24" name="AutoShape 4" descr="생성된 이미지: 진자2 로고 템플릿 슬라이드">
            <a:extLst>
              <a:ext uri="{FF2B5EF4-FFF2-40B4-BE49-F238E27FC236}">
                <a16:creationId xmlns:a16="http://schemas.microsoft.com/office/drawing/2014/main" id="{AA2CA65B-396A-92D2-5ABF-BFDECDF45A5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52500" y="0"/>
            <a:ext cx="10287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127CE604-6F45-B80F-DA6B-7EF7EAF179D7}"/>
              </a:ext>
            </a:extLst>
          </p:cNvPr>
          <p:cNvGrpSpPr/>
          <p:nvPr/>
        </p:nvGrpSpPr>
        <p:grpSpPr>
          <a:xfrm>
            <a:off x="1015716" y="2197734"/>
            <a:ext cx="2646486" cy="2502985"/>
            <a:chOff x="606141" y="1782098"/>
            <a:chExt cx="2646486" cy="2502985"/>
          </a:xfrm>
        </p:grpSpPr>
        <p:pic>
          <p:nvPicPr>
            <p:cNvPr id="6" name="Picture 5" descr="s2_backen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51917" y="2085447"/>
              <a:ext cx="1920240" cy="1261872"/>
            </a:xfrm>
            <a:prstGeom prst="rect">
              <a:avLst/>
            </a:prstGeom>
          </p:spPr>
        </p:pic>
        <p:cxnSp>
          <p:nvCxnSpPr>
            <p:cNvPr id="8" name="Connector 7"/>
            <p:cNvCxnSpPr/>
            <p:nvPr/>
          </p:nvCxnSpPr>
          <p:spPr>
            <a:xfrm>
              <a:off x="1709927" y="1782098"/>
              <a:ext cx="219457" cy="0"/>
            </a:xfrm>
            <a:prstGeom prst="line">
              <a:avLst/>
            </a:prstGeom>
            <a:ln w="13335">
              <a:solidFill>
                <a:srgbClr val="1443F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26" name="그림 25">
              <a:extLst>
                <a:ext uri="{FF2B5EF4-FFF2-40B4-BE49-F238E27FC236}">
                  <a16:creationId xmlns:a16="http://schemas.microsoft.com/office/drawing/2014/main" id="{D40D5178-0BC2-EDC8-D108-79E9E2E8289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06141" y="2580463"/>
              <a:ext cx="2646486" cy="1704620"/>
            </a:xfrm>
            <a:prstGeom prst="rect">
              <a:avLst/>
            </a:prstGeom>
          </p:spPr>
        </p:pic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A0696E63-4DD5-CB43-16D4-0BCDF68160E0}"/>
              </a:ext>
            </a:extLst>
          </p:cNvPr>
          <p:cNvGrpSpPr/>
          <p:nvPr/>
        </p:nvGrpSpPr>
        <p:grpSpPr>
          <a:xfrm>
            <a:off x="6499479" y="2745499"/>
            <a:ext cx="2126709" cy="1423783"/>
            <a:chOff x="6156885" y="2345454"/>
            <a:chExt cx="2126709" cy="1423783"/>
          </a:xfrm>
        </p:grpSpPr>
        <p:pic>
          <p:nvPicPr>
            <p:cNvPr id="14" name="Picture 13" descr="s2_vision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338678" y="3056873"/>
              <a:ext cx="617150" cy="580892"/>
            </a:xfrm>
            <a:prstGeom prst="rect">
              <a:avLst/>
            </a:prstGeom>
          </p:spPr>
        </p:pic>
        <p:pic>
          <p:nvPicPr>
            <p:cNvPr id="1032" name="Picture 8">
              <a:extLst>
                <a:ext uri="{FF2B5EF4-FFF2-40B4-BE49-F238E27FC236}">
                  <a16:creationId xmlns:a16="http://schemas.microsoft.com/office/drawing/2014/main" id="{D8F26382-8A95-2390-D638-6B31DDE8913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57482" y="2345454"/>
              <a:ext cx="527950" cy="6503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4" name="Picture 10" descr="GitHub - goktug97/PyYOLO: Easy to use Python wrapper for YOLO Real-Time  Object Detection Library · GitHub">
              <a:extLst>
                <a:ext uri="{FF2B5EF4-FFF2-40B4-BE49-F238E27FC236}">
                  <a16:creationId xmlns:a16="http://schemas.microsoft.com/office/drawing/2014/main" id="{A9760012-A97F-729F-7AE9-648FF52A1AA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06835" y="2412790"/>
              <a:ext cx="1000657" cy="51241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6" name="Picture 12" descr="GitHub - microsoft/onnxruntime: ONNX Runtime: cross-platform, high  performance ML inferencing and training accelerator · GitHub">
              <a:extLst>
                <a:ext uri="{FF2B5EF4-FFF2-40B4-BE49-F238E27FC236}">
                  <a16:creationId xmlns:a16="http://schemas.microsoft.com/office/drawing/2014/main" id="{F39A4C95-C6D1-4247-3DB1-D9F49790B37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56050" y="3049799"/>
              <a:ext cx="1327544" cy="6637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382F58C9-7877-384F-E8A4-0E7D62D36C32}"/>
                </a:ext>
              </a:extLst>
            </p:cNvPr>
            <p:cNvSpPr txBox="1"/>
            <p:nvPr/>
          </p:nvSpPr>
          <p:spPr>
            <a:xfrm>
              <a:off x="6156885" y="3489160"/>
              <a:ext cx="1031746" cy="2800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450"/>
                </a:spcAft>
                <a:defRPr sz="1220">
                  <a:solidFill>
                    <a:srgbClr val="26272B"/>
                  </a:solidFill>
                  <a:latin typeface="Malgun Gothic"/>
                </a:defRPr>
              </a:pPr>
              <a:r>
                <a:rPr lang="en-US" altLang="ko-KR" b="1" dirty="0"/>
                <a:t>InsightFace</a:t>
              </a:r>
            </a:p>
          </p:txBody>
        </p:sp>
      </p:grpSp>
      <p:sp>
        <p:nvSpPr>
          <p:cNvPr id="32" name="Google Shape;86;p13">
            <a:extLst>
              <a:ext uri="{FF2B5EF4-FFF2-40B4-BE49-F238E27FC236}">
                <a16:creationId xmlns:a16="http://schemas.microsoft.com/office/drawing/2014/main" id="{E04A4474-2736-C460-A196-B7B307E30FD3}"/>
              </a:ext>
            </a:extLst>
          </p:cNvPr>
          <p:cNvSpPr/>
          <p:nvPr/>
        </p:nvSpPr>
        <p:spPr>
          <a:xfrm>
            <a:off x="771525" y="1365795"/>
            <a:ext cx="106489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Calibri"/>
              <a:sym typeface="Calibri"/>
            </a:endParaRPr>
          </a:p>
        </p:txBody>
      </p:sp>
      <p:sp>
        <p:nvSpPr>
          <p:cNvPr id="33" name="Google Shape;179;p16">
            <a:extLst>
              <a:ext uri="{FF2B5EF4-FFF2-40B4-BE49-F238E27FC236}">
                <a16:creationId xmlns:a16="http://schemas.microsoft.com/office/drawing/2014/main" id="{C61A91A3-870B-7D10-34CB-703CF2F67625}"/>
              </a:ext>
            </a:extLst>
          </p:cNvPr>
          <p:cNvSpPr txBox="1"/>
          <p:nvPr/>
        </p:nvSpPr>
        <p:spPr>
          <a:xfrm>
            <a:off x="771525" y="581025"/>
            <a:ext cx="11181397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altLang="ko-KR" sz="2850" b="1" dirty="0" smtClean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Poppins Black"/>
              </a:rPr>
              <a:t>04. </a:t>
            </a:r>
            <a:r>
              <a:rPr lang="ko-KR" altLang="en-US" sz="2850" b="1" dirty="0" smtClean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Poppins Black"/>
              </a:rPr>
              <a:t>사용 툴 및 개발 환경</a:t>
            </a:r>
            <a:endParaRPr lang="ko-KR" altLang="en-US" sz="2850" b="1" dirty="0">
              <a:solidFill>
                <a:srgbClr val="0F172A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Poppins Black"/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606641" y="1375321"/>
            <a:ext cx="10979123" cy="479687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5" name="직선 연결선 34"/>
          <p:cNvCxnSpPr/>
          <p:nvPr/>
        </p:nvCxnSpPr>
        <p:spPr>
          <a:xfrm flipV="1">
            <a:off x="606641" y="1145219"/>
            <a:ext cx="10979123" cy="9327"/>
          </a:xfrm>
          <a:prstGeom prst="line">
            <a:avLst/>
          </a:prstGeom>
          <a:ln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2467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771525" y="1721508"/>
            <a:ext cx="2331720" cy="190195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bIns="73152" rtlCol="0" anchor="ctr"/>
          <a:lstStyle/>
          <a:p>
            <a:pPr algn="l">
              <a:defRPr sz="1400" b="1">
                <a:solidFill>
                  <a:srgbClr val="1443F0"/>
                </a:solidFill>
                <a:latin typeface="Segoe UI Symbol"/>
              </a:defRPr>
            </a:pPr>
            <a:r>
              <a:rPr lang="ko-KR" altLang="en-US" sz="20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◉</a:t>
            </a:r>
          </a:p>
          <a:p>
            <a:pPr algn="l">
              <a:spcAft>
                <a:spcPts val="500"/>
              </a:spcAft>
              <a:defRPr sz="1500" b="1">
                <a:solidFill>
                  <a:srgbClr val="1443F0"/>
                </a:solidFill>
                <a:latin typeface="Malgun Gothic"/>
              </a:defRPr>
            </a:pPr>
            <a:r>
              <a:rPr lang="ko-KR" altLang="en-US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영상 입력 </a:t>
            </a:r>
            <a:r>
              <a: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/ </a:t>
            </a:r>
            <a:r>
              <a:rPr lang="ko-KR" altLang="en-US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처리</a:t>
            </a:r>
          </a:p>
          <a:p>
            <a:pPr>
              <a:spcAft>
                <a:spcPts val="200"/>
              </a:spcAft>
              <a:defRPr sz="1050">
                <a:solidFill>
                  <a:srgbClr val="26272B"/>
                </a:solidFill>
                <a:latin typeface="Malgun Gothic"/>
              </a:defRPr>
            </a:pPr>
            <a:r>
              <a:rPr lang="en-US" altLang="ko-KR" sz="11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• opencv-python 4.13.0.92</a:t>
            </a:r>
          </a:p>
          <a:p>
            <a:pPr>
              <a:spcAft>
                <a:spcPts val="200"/>
              </a:spcAft>
              <a:defRPr sz="1050">
                <a:solidFill>
                  <a:srgbClr val="26272B"/>
                </a:solidFill>
                <a:latin typeface="Malgun Gothic"/>
              </a:defRPr>
            </a:pPr>
            <a:r>
              <a:rPr lang="en-US" altLang="ko-KR" sz="11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• Pillow / ImageIO</a:t>
            </a:r>
          </a:p>
          <a:p>
            <a:pPr>
              <a:spcAft>
                <a:spcPts val="200"/>
              </a:spcAft>
              <a:defRPr sz="1050">
                <a:solidFill>
                  <a:srgbClr val="26272B"/>
                </a:solidFill>
                <a:latin typeface="Malgun Gothic"/>
              </a:defRPr>
            </a:pPr>
            <a:r>
              <a:rPr lang="en-US" altLang="ko-KR" sz="11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• scikit-image / tifffile</a:t>
            </a:r>
            <a:endParaRPr lang="en-US" sz="11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587877" y="1721508"/>
            <a:ext cx="2331720" cy="190195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bIns="73152" rtlCol="0" anchor="ctr"/>
          <a:lstStyle/>
          <a:p>
            <a:pPr algn="l">
              <a:defRPr sz="1400" b="1">
                <a:solidFill>
                  <a:srgbClr val="1443F0"/>
                </a:solidFill>
                <a:latin typeface="Segoe UI Symbol"/>
              </a:defRPr>
            </a:pPr>
            <a:r>
              <a:rPr lang="ko-KR" altLang="en-US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◎</a:t>
            </a:r>
          </a:p>
          <a:p>
            <a:pPr algn="l">
              <a:spcAft>
                <a:spcPts val="500"/>
              </a:spcAft>
              <a:defRPr sz="1500" b="1">
                <a:solidFill>
                  <a:srgbClr val="1443F0"/>
                </a:solidFill>
                <a:latin typeface="Malgun Gothic"/>
              </a:defRPr>
            </a:pPr>
            <a:r>
              <a:rPr lang="ko-KR" altLang="en-US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객체 탐지 </a:t>
            </a:r>
            <a:r>
              <a: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/ </a:t>
            </a:r>
            <a:r>
              <a:rPr lang="ko-KR" altLang="en-US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추적</a:t>
            </a:r>
          </a:p>
          <a:p>
            <a:pPr>
              <a:spcAft>
                <a:spcPts val="200"/>
              </a:spcAft>
              <a:defRPr sz="1050">
                <a:solidFill>
                  <a:srgbClr val="26272B"/>
                </a:solidFill>
                <a:latin typeface="Malgun Gothic"/>
              </a:defRPr>
            </a:pPr>
            <a:r>
              <a:rPr lang="en-US" altLang="ko-KR" sz="11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•  ultralytics 8.4.75</a:t>
            </a:r>
          </a:p>
          <a:p>
            <a:pPr>
              <a:spcAft>
                <a:spcPts val="200"/>
              </a:spcAft>
              <a:defRPr sz="1050">
                <a:solidFill>
                  <a:srgbClr val="26272B"/>
                </a:solidFill>
                <a:latin typeface="Malgun Gothic"/>
              </a:defRPr>
            </a:pPr>
            <a:r>
              <a:rPr lang="en-US" altLang="ko-KR" sz="11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•  ultralytics-</a:t>
            </a:r>
            <a:r>
              <a:rPr lang="en-US" altLang="ko-KR" sz="1100" dirty="0" err="1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thop</a:t>
            </a:r>
            <a:endParaRPr lang="en-US" altLang="ko-KR" sz="11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>
              <a:spcAft>
                <a:spcPts val="200"/>
              </a:spcAft>
              <a:defRPr sz="1050">
                <a:solidFill>
                  <a:srgbClr val="26272B"/>
                </a:solidFill>
                <a:latin typeface="Malgun Gothic"/>
              </a:defRPr>
            </a:pPr>
            <a:r>
              <a:rPr lang="en-US" altLang="ko-KR" sz="11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•  lap 0.5.13</a:t>
            </a:r>
            <a:endParaRPr sz="11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404229" y="1721508"/>
            <a:ext cx="2331720" cy="190195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bIns="73152" rtlCol="0" anchor="ctr"/>
          <a:lstStyle/>
          <a:p>
            <a:pPr algn="l">
              <a:defRPr sz="1400" b="1">
                <a:solidFill>
                  <a:srgbClr val="1443F0"/>
                </a:solidFill>
                <a:latin typeface="Segoe UI Symbol"/>
              </a:defRPr>
            </a:pPr>
            <a:r>
              <a:rPr lang="ko-KR" altLang="en-US" sz="14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◌</a:t>
            </a:r>
          </a:p>
          <a:p>
            <a:pPr algn="l">
              <a:spcAft>
                <a:spcPts val="500"/>
              </a:spcAft>
              <a:defRPr sz="1500" b="1">
                <a:solidFill>
                  <a:srgbClr val="1443F0"/>
                </a:solidFill>
                <a:latin typeface="Malgun Gothic"/>
              </a:defRPr>
            </a:pPr>
            <a:r>
              <a:rPr lang="ko-KR" altLang="en-US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얼굴 인식</a:t>
            </a:r>
          </a:p>
          <a:p>
            <a:pPr>
              <a:spcAft>
                <a:spcPts val="200"/>
              </a:spcAft>
              <a:defRPr sz="1050">
                <a:solidFill>
                  <a:srgbClr val="26272B"/>
                </a:solidFill>
                <a:latin typeface="Malgun Gothic"/>
              </a:defRPr>
            </a:pPr>
            <a:r>
              <a:rPr lang="en-US" altLang="ko-KR" sz="11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•  insightface 1.0.1</a:t>
            </a:r>
          </a:p>
          <a:p>
            <a:pPr>
              <a:spcAft>
                <a:spcPts val="200"/>
              </a:spcAft>
              <a:defRPr sz="1050">
                <a:solidFill>
                  <a:srgbClr val="26272B"/>
                </a:solidFill>
                <a:latin typeface="Malgun Gothic"/>
              </a:defRPr>
            </a:pPr>
            <a:r>
              <a:rPr lang="en-US" altLang="ko-KR" sz="11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•  onnx 1.22.0</a:t>
            </a:r>
          </a:p>
          <a:p>
            <a:pPr>
              <a:spcAft>
                <a:spcPts val="200"/>
              </a:spcAft>
              <a:defRPr sz="1050">
                <a:solidFill>
                  <a:srgbClr val="26272B"/>
                </a:solidFill>
                <a:latin typeface="Malgun Gothic"/>
              </a:defRPr>
            </a:pPr>
            <a:r>
              <a:rPr lang="en-US" altLang="ko-KR" sz="11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•  onnxruntime 1.27.0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220581" y="1721508"/>
            <a:ext cx="2331720" cy="190195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bIns="73152" rtlCol="0" anchor="ctr"/>
          <a:lstStyle/>
          <a:p>
            <a:pPr algn="l">
              <a:defRPr sz="1400" b="1">
                <a:solidFill>
                  <a:srgbClr val="1443F0"/>
                </a:solidFill>
                <a:latin typeface="Segoe UI Symbol"/>
              </a:defRPr>
            </a:pPr>
            <a:r>
              <a:rPr lang="ko-KR" altLang="en-US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✦</a:t>
            </a:r>
          </a:p>
          <a:p>
            <a:pPr algn="l">
              <a:spcAft>
                <a:spcPts val="500"/>
              </a:spcAft>
              <a:defRPr sz="1500" b="1">
                <a:solidFill>
                  <a:srgbClr val="1443F0"/>
                </a:solidFill>
                <a:latin typeface="Malgun Gothic"/>
              </a:defRPr>
            </a:pPr>
            <a:r>
              <a:rPr lang="ko-KR" altLang="en-US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모델 실행 </a:t>
            </a:r>
            <a:r>
              <a: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/ </a:t>
            </a:r>
            <a:r>
              <a:rPr lang="ko-KR" altLang="en-US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연산</a:t>
            </a:r>
          </a:p>
          <a:p>
            <a:pPr>
              <a:spcAft>
                <a:spcPts val="200"/>
              </a:spcAft>
              <a:defRPr sz="1050">
                <a:solidFill>
                  <a:srgbClr val="26272B"/>
                </a:solidFill>
                <a:latin typeface="Malgun Gothic"/>
              </a:defRPr>
            </a:pPr>
            <a:r>
              <a:rPr lang="en-US" altLang="ko-KR" sz="11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•  torch 2.12.1</a:t>
            </a:r>
          </a:p>
          <a:p>
            <a:pPr>
              <a:spcAft>
                <a:spcPts val="200"/>
              </a:spcAft>
              <a:defRPr sz="1050">
                <a:solidFill>
                  <a:srgbClr val="26272B"/>
                </a:solidFill>
                <a:latin typeface="Malgun Gothic"/>
              </a:defRPr>
            </a:pPr>
            <a:r>
              <a:rPr lang="en-US" altLang="ko-KR" sz="11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•  torchvision 0.27.1</a:t>
            </a:r>
          </a:p>
          <a:p>
            <a:pPr>
              <a:spcAft>
                <a:spcPts val="200"/>
              </a:spcAft>
              <a:defRPr sz="1050">
                <a:solidFill>
                  <a:srgbClr val="26272B"/>
                </a:solidFill>
                <a:latin typeface="Malgun Gothic"/>
              </a:defRPr>
            </a:pPr>
            <a:r>
              <a:rPr lang="en-US" altLang="ko-KR" sz="11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•  numpy / scipy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887093" y="4482996"/>
            <a:ext cx="1261872" cy="0"/>
          </a:xfrm>
          <a:prstGeom prst="line">
            <a:avLst/>
          </a:prstGeom>
          <a:ln w="15240">
            <a:solidFill>
              <a:srgbClr val="1443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10"/>
          <p:cNvSpPr/>
          <p:nvPr/>
        </p:nvSpPr>
        <p:spPr>
          <a:xfrm rot="5400000">
            <a:off x="3084957" y="4418988"/>
            <a:ext cx="128016" cy="128016"/>
          </a:xfrm>
          <a:prstGeom prst="triangle">
            <a:avLst/>
          </a:prstGeom>
          <a:solidFill>
            <a:srgbClr val="1443F0"/>
          </a:solidFill>
          <a:ln>
            <a:solidFill>
              <a:srgbClr val="144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4685157" y="4482996"/>
            <a:ext cx="1280160" cy="0"/>
          </a:xfrm>
          <a:prstGeom prst="line">
            <a:avLst/>
          </a:prstGeom>
          <a:ln w="15240">
            <a:solidFill>
              <a:srgbClr val="1443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Isosceles Triangle 12"/>
          <p:cNvSpPr/>
          <p:nvPr/>
        </p:nvSpPr>
        <p:spPr>
          <a:xfrm rot="5400000">
            <a:off x="5901309" y="4418988"/>
            <a:ext cx="128016" cy="128016"/>
          </a:xfrm>
          <a:prstGeom prst="triangle">
            <a:avLst/>
          </a:prstGeom>
          <a:solidFill>
            <a:srgbClr val="1443F0"/>
          </a:solidFill>
          <a:ln>
            <a:solidFill>
              <a:srgbClr val="144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cxnSp>
        <p:nvCxnSpPr>
          <p:cNvPr id="14" name="Connector 13"/>
          <p:cNvCxnSpPr/>
          <p:nvPr/>
        </p:nvCxnSpPr>
        <p:spPr>
          <a:xfrm>
            <a:off x="7501509" y="4482996"/>
            <a:ext cx="1280160" cy="0"/>
          </a:xfrm>
          <a:prstGeom prst="line">
            <a:avLst/>
          </a:prstGeom>
          <a:ln w="15240">
            <a:solidFill>
              <a:srgbClr val="1443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Isosceles Triangle 14"/>
          <p:cNvSpPr/>
          <p:nvPr/>
        </p:nvSpPr>
        <p:spPr>
          <a:xfrm rot="5400000">
            <a:off x="8717661" y="4418988"/>
            <a:ext cx="128016" cy="128016"/>
          </a:xfrm>
          <a:prstGeom prst="triangle">
            <a:avLst/>
          </a:prstGeom>
          <a:solidFill>
            <a:srgbClr val="1443F0"/>
          </a:solidFill>
          <a:ln>
            <a:solidFill>
              <a:srgbClr val="144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62965" y="4108092"/>
            <a:ext cx="13716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1800" b="1">
                <a:solidFill>
                  <a:srgbClr val="1443F0"/>
                </a:solidFill>
                <a:latin typeface="Segoe UI Symbol"/>
              </a:defRPr>
            </a:pPr>
            <a:r>
              <a:rPr lang="ko-KR" altLang="en-US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▣</a:t>
            </a:r>
          </a:p>
          <a:p>
            <a:pPr algn="ctr">
              <a:defRPr sz="1080" b="1">
                <a:solidFill>
                  <a:srgbClr val="26272B"/>
                </a:solidFill>
                <a:latin typeface="Malgun Gothic"/>
              </a:defRPr>
            </a:pPr>
            <a:r>
              <a:rPr lang="ko-KR" altLang="en-US" sz="11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카메라</a:t>
            </a:r>
            <a:r>
              <a:rPr lang="en-US" altLang="ko-KR" sz="11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/</a:t>
            </a:r>
            <a:r>
              <a:rPr lang="ko-KR" altLang="en-US" sz="11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영상</a:t>
            </a:r>
            <a:br>
              <a:rPr lang="ko-KR" altLang="en-US" sz="11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</a:br>
            <a:r>
              <a:rPr lang="ko-KR" altLang="en-US" sz="11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프레임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67837" y="4108092"/>
            <a:ext cx="155448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1800" b="1">
                <a:solidFill>
                  <a:srgbClr val="1443F0"/>
                </a:solidFill>
                <a:latin typeface="Segoe UI Symbol"/>
              </a:defRPr>
            </a:pPr>
            <a:r>
              <a:rPr lang="ko-KR" altLang="en-US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◎</a:t>
            </a:r>
          </a:p>
          <a:p>
            <a:pPr algn="ctr">
              <a:defRPr sz="1080" b="1">
                <a:solidFill>
                  <a:srgbClr val="26272B"/>
                </a:solidFill>
                <a:latin typeface="Malgun Gothic"/>
              </a:defRPr>
            </a:pPr>
            <a:r>
              <a:rPr lang="ko-KR" altLang="en-US" sz="11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사람 탐지</a:t>
            </a:r>
            <a:br>
              <a:rPr lang="ko-KR" altLang="en-US" sz="11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</a:br>
            <a:r>
              <a:rPr lang="en-US" altLang="ko-KR" sz="11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YOLO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75045" y="4108092"/>
            <a:ext cx="164592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1800" b="1">
                <a:solidFill>
                  <a:srgbClr val="1443F0"/>
                </a:solidFill>
                <a:latin typeface="Segoe UI Symbol"/>
              </a:defRPr>
            </a:pPr>
            <a:r>
              <a:rPr lang="ko-KR" altLang="en-US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◌</a:t>
            </a:r>
          </a:p>
          <a:p>
            <a:pPr algn="ctr">
              <a:defRPr sz="1080" b="1">
                <a:solidFill>
                  <a:srgbClr val="26272B"/>
                </a:solidFill>
                <a:latin typeface="Malgun Gothic"/>
              </a:defRPr>
            </a:pPr>
            <a:r>
              <a:rPr lang="ko-KR" altLang="en-US" sz="11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얼굴 특징</a:t>
            </a:r>
            <a:br>
              <a:rPr lang="ko-KR" altLang="en-US" sz="11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</a:br>
            <a:r>
              <a:rPr lang="en-US" altLang="ko-KR" sz="11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InsightFace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91397" y="4108092"/>
            <a:ext cx="164592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1800" b="1">
                <a:solidFill>
                  <a:srgbClr val="1443F0"/>
                </a:solidFill>
                <a:latin typeface="Segoe UI Symbol"/>
              </a:defRPr>
            </a:pPr>
            <a:r>
              <a:rPr lang="ko-KR" altLang="en-US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▤</a:t>
            </a:r>
          </a:p>
          <a:p>
            <a:pPr algn="ctr">
              <a:defRPr sz="1080" b="1">
                <a:solidFill>
                  <a:srgbClr val="26272B"/>
                </a:solidFill>
                <a:latin typeface="Malgun Gothic"/>
              </a:defRPr>
            </a:pPr>
            <a:r>
              <a:rPr lang="ko-KR" altLang="en-US" sz="11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결과 저장</a:t>
            </a:r>
            <a:br>
              <a:rPr lang="ko-KR" altLang="en-US" sz="11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</a:br>
            <a:r>
              <a:rPr lang="en-US" altLang="ko-KR" sz="11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JSON/NPZ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6389" y="5507124"/>
            <a:ext cx="1170432" cy="283464"/>
          </a:xfrm>
          <a:prstGeom prst="roundRect">
            <a:avLst/>
          </a:prstGeom>
          <a:solidFill>
            <a:srgbClr val="F5F7FF"/>
          </a:solidFill>
          <a:ln w="7620">
            <a:solidFill>
              <a:srgbClr val="D2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0" rIns="36576" bIns="0" rtlCol="0" anchor="ctr"/>
          <a:lstStyle/>
          <a:p>
            <a:pPr algn="ctr">
              <a:defRPr sz="880" b="1">
                <a:solidFill>
                  <a:srgbClr val="26272B"/>
                </a:solidFill>
                <a:latin typeface="Malgun Gothic"/>
              </a:defRPr>
            </a:pPr>
            <a:r>
              <a:rPr lang="en-US" altLang="ko-KR" sz="9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OpenCV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179701" y="5507124"/>
            <a:ext cx="1170432" cy="283464"/>
          </a:xfrm>
          <a:prstGeom prst="roundRect">
            <a:avLst/>
          </a:prstGeom>
          <a:solidFill>
            <a:srgbClr val="F5F7FF"/>
          </a:solidFill>
          <a:ln w="7620">
            <a:solidFill>
              <a:srgbClr val="D2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0" rIns="36576" bIns="0" rtlCol="0" anchor="ctr"/>
          <a:lstStyle/>
          <a:p>
            <a:pPr algn="ctr">
              <a:defRPr sz="880" b="1">
                <a:solidFill>
                  <a:srgbClr val="26272B"/>
                </a:solidFill>
                <a:latin typeface="Malgun Gothic"/>
              </a:defRPr>
            </a:pPr>
            <a:r>
              <a:rPr lang="en-US" altLang="ko-KR" sz="9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YOLO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33013" y="5507124"/>
            <a:ext cx="1170432" cy="283464"/>
          </a:xfrm>
          <a:prstGeom prst="roundRect">
            <a:avLst/>
          </a:prstGeom>
          <a:solidFill>
            <a:srgbClr val="F5F7FF"/>
          </a:solidFill>
          <a:ln w="7620">
            <a:solidFill>
              <a:srgbClr val="D2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0" rIns="36576" bIns="0" rtlCol="0" anchor="ctr"/>
          <a:lstStyle/>
          <a:p>
            <a:pPr algn="ctr">
              <a:defRPr sz="880" b="1">
                <a:solidFill>
                  <a:srgbClr val="26272B"/>
                </a:solidFill>
                <a:latin typeface="Malgun Gothic"/>
              </a:defRPr>
            </a:pPr>
            <a:r>
              <a:rPr lang="en-US" altLang="ko-KR" sz="9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InsightFace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86324" y="5507124"/>
            <a:ext cx="1170432" cy="283464"/>
          </a:xfrm>
          <a:prstGeom prst="roundRect">
            <a:avLst/>
          </a:prstGeom>
          <a:solidFill>
            <a:srgbClr val="F5F7FF"/>
          </a:solidFill>
          <a:ln w="7620">
            <a:solidFill>
              <a:srgbClr val="D2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0" rIns="36576" bIns="0" rtlCol="0" anchor="ctr"/>
          <a:lstStyle/>
          <a:p>
            <a:pPr algn="ctr">
              <a:defRPr sz="880" b="1">
                <a:solidFill>
                  <a:srgbClr val="26272B"/>
                </a:solidFill>
                <a:latin typeface="Malgun Gothic"/>
              </a:defRPr>
            </a:pPr>
            <a:r>
              <a:rPr lang="en-US" altLang="ko-KR" sz="9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ONNX Runtime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39637" y="5507124"/>
            <a:ext cx="1170432" cy="283464"/>
          </a:xfrm>
          <a:prstGeom prst="roundRect">
            <a:avLst/>
          </a:prstGeom>
          <a:solidFill>
            <a:srgbClr val="F5F7FF"/>
          </a:solidFill>
          <a:ln w="7620">
            <a:solidFill>
              <a:srgbClr val="D2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0" rIns="36576" bIns="0" rtlCol="0" anchor="ctr"/>
          <a:lstStyle/>
          <a:p>
            <a:pPr algn="ctr">
              <a:defRPr sz="880" b="0">
                <a:solidFill>
                  <a:srgbClr val="26272B"/>
                </a:solidFill>
                <a:latin typeface="Malgun Gothic"/>
              </a:defRPr>
            </a:pPr>
            <a:r>
              <a:rPr lang="en-US" altLang="ko-KR" sz="9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PyTorch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92949" y="5507124"/>
            <a:ext cx="1170432" cy="283464"/>
          </a:xfrm>
          <a:prstGeom prst="roundRect">
            <a:avLst/>
          </a:prstGeom>
          <a:solidFill>
            <a:srgbClr val="F5F7FF"/>
          </a:solidFill>
          <a:ln w="7620">
            <a:solidFill>
              <a:srgbClr val="D2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0" rIns="36576" bIns="0" rtlCol="0" anchor="ctr"/>
          <a:lstStyle/>
          <a:p>
            <a:pPr algn="ctr">
              <a:defRPr sz="880" b="0">
                <a:solidFill>
                  <a:srgbClr val="26272B"/>
                </a:solidFill>
                <a:latin typeface="Malgun Gothic"/>
              </a:defRPr>
            </a:pPr>
            <a:r>
              <a:rPr lang="en-US" altLang="ko-KR" sz="9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NumPy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46261" y="5507124"/>
            <a:ext cx="1170432" cy="283464"/>
          </a:xfrm>
          <a:prstGeom prst="roundRect">
            <a:avLst/>
          </a:prstGeom>
          <a:solidFill>
            <a:srgbClr val="F5F7FF"/>
          </a:solidFill>
          <a:ln w="7620">
            <a:solidFill>
              <a:srgbClr val="D2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0" rIns="36576" bIns="0" rtlCol="0" anchor="ctr"/>
          <a:lstStyle/>
          <a:p>
            <a:pPr algn="ctr">
              <a:defRPr sz="880" b="0">
                <a:solidFill>
                  <a:srgbClr val="26272B"/>
                </a:solidFill>
                <a:latin typeface="Malgun Gothic"/>
              </a:defRPr>
            </a:pPr>
            <a:r>
              <a:rPr lang="en-US" altLang="ko-KR" sz="9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SciPy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299573" y="5507124"/>
            <a:ext cx="1170432" cy="283464"/>
          </a:xfrm>
          <a:prstGeom prst="roundRect">
            <a:avLst/>
          </a:prstGeom>
          <a:solidFill>
            <a:srgbClr val="F5F7FF"/>
          </a:solidFill>
          <a:ln w="7620">
            <a:solidFill>
              <a:srgbClr val="D2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0" rIns="36576" bIns="0" rtlCol="0" anchor="ctr"/>
          <a:lstStyle/>
          <a:p>
            <a:pPr algn="ctr">
              <a:defRPr sz="880" b="0">
                <a:solidFill>
                  <a:srgbClr val="26272B"/>
                </a:solidFill>
                <a:latin typeface="Malgun Gothic"/>
              </a:defRPr>
            </a:pPr>
            <a:r>
              <a:rPr lang="en-US" altLang="ko-KR" sz="9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scikit-image</a:t>
            </a:r>
          </a:p>
        </p:txBody>
      </p:sp>
      <p:sp>
        <p:nvSpPr>
          <p:cNvPr id="31" name="Google Shape;86;p13">
            <a:extLst>
              <a:ext uri="{FF2B5EF4-FFF2-40B4-BE49-F238E27FC236}">
                <a16:creationId xmlns:a16="http://schemas.microsoft.com/office/drawing/2014/main" id="{E04A4474-2736-C460-A196-B7B307E30FD3}"/>
              </a:ext>
            </a:extLst>
          </p:cNvPr>
          <p:cNvSpPr/>
          <p:nvPr/>
        </p:nvSpPr>
        <p:spPr>
          <a:xfrm>
            <a:off x="771525" y="1365795"/>
            <a:ext cx="106489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Calibri"/>
              <a:sym typeface="Calibri"/>
            </a:endParaRPr>
          </a:p>
        </p:txBody>
      </p:sp>
      <p:sp>
        <p:nvSpPr>
          <p:cNvPr id="32" name="Google Shape;179;p16">
            <a:extLst>
              <a:ext uri="{FF2B5EF4-FFF2-40B4-BE49-F238E27FC236}">
                <a16:creationId xmlns:a16="http://schemas.microsoft.com/office/drawing/2014/main" id="{C61A91A3-870B-7D10-34CB-703CF2F67625}"/>
              </a:ext>
            </a:extLst>
          </p:cNvPr>
          <p:cNvSpPr txBox="1"/>
          <p:nvPr/>
        </p:nvSpPr>
        <p:spPr>
          <a:xfrm>
            <a:off x="771525" y="581025"/>
            <a:ext cx="11181397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altLang="ko-KR" sz="2850" b="1" dirty="0" smtClean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Poppins Black"/>
              </a:rPr>
              <a:t>04. </a:t>
            </a:r>
            <a:r>
              <a:rPr lang="ko-KR" altLang="en-US" sz="2850" b="1" dirty="0" smtClean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Poppins Black"/>
              </a:rPr>
              <a:t>사용 툴 및 개발 환경</a:t>
            </a:r>
            <a:endParaRPr lang="ko-KR" altLang="en-US" sz="2850" b="1" dirty="0">
              <a:solidFill>
                <a:srgbClr val="0F172A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Poppins Black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606641" y="1375321"/>
            <a:ext cx="10979123" cy="479687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0" name="직선 연결선 29"/>
          <p:cNvCxnSpPr/>
          <p:nvPr/>
        </p:nvCxnSpPr>
        <p:spPr>
          <a:xfrm flipV="1">
            <a:off x="606641" y="1145219"/>
            <a:ext cx="10979123" cy="9327"/>
          </a:xfrm>
          <a:prstGeom prst="line">
            <a:avLst/>
          </a:prstGeom>
          <a:ln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3391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901129" y="1892427"/>
            <a:ext cx="2423160" cy="192024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bIns="73152" rtlCol="0" anchor="ctr"/>
          <a:lstStyle/>
          <a:p>
            <a:pPr algn="l">
              <a:spcAft>
                <a:spcPts val="500"/>
              </a:spcAft>
              <a:defRPr sz="1500" b="1">
                <a:solidFill>
                  <a:srgbClr val="1443F0"/>
                </a:solidFill>
                <a:latin typeface="Malgun Gothic"/>
              </a:defRPr>
            </a:pPr>
            <a:r>
              <a:rPr lang="ko-KR" altLang="en-US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프로젝트 저장 방식</a:t>
            </a:r>
          </a:p>
          <a:p>
            <a:pPr>
              <a:spcAft>
                <a:spcPts val="200"/>
              </a:spcAft>
              <a:defRPr sz="1050">
                <a:solidFill>
                  <a:srgbClr val="26272B"/>
                </a:solidFill>
                <a:latin typeface="Malgun Gothic"/>
              </a:defRPr>
            </a:pPr>
            <a:r>
              <a:rPr lang="en-US" altLang="ko-KR" sz="11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• JSON </a:t>
            </a:r>
            <a:r>
              <a:rPr lang="ko-KR" altLang="en-US" sz="11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파일 기반 저장</a:t>
            </a:r>
          </a:p>
          <a:p>
            <a:pPr>
              <a:spcAft>
                <a:spcPts val="200"/>
              </a:spcAft>
              <a:defRPr sz="1050">
                <a:solidFill>
                  <a:srgbClr val="26272B"/>
                </a:solidFill>
                <a:latin typeface="Malgun Gothic"/>
              </a:defRPr>
            </a:pPr>
            <a:r>
              <a:rPr lang="en-US" altLang="ko-KR" sz="11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• </a:t>
            </a:r>
            <a:r>
              <a:rPr lang="ko-KR" altLang="en-US" sz="11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계정 </a:t>
            </a:r>
            <a:r>
              <a:rPr lang="en-US" altLang="ko-KR" sz="11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/ </a:t>
            </a:r>
            <a:r>
              <a:rPr lang="ko-KR" altLang="en-US" sz="11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로그 </a:t>
            </a:r>
            <a:r>
              <a:rPr lang="en-US" altLang="ko-KR" sz="11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/ </a:t>
            </a:r>
            <a:r>
              <a:rPr lang="ko-KR" altLang="en-US" sz="11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대상자 데이터</a:t>
            </a:r>
          </a:p>
          <a:p>
            <a:pPr>
              <a:spcAft>
                <a:spcPts val="200"/>
              </a:spcAft>
              <a:defRPr sz="1050">
                <a:solidFill>
                  <a:srgbClr val="26272B"/>
                </a:solidFill>
                <a:latin typeface="Malgun Gothic"/>
              </a:defRPr>
            </a:pPr>
            <a:r>
              <a:rPr lang="en-US" altLang="ko-KR" sz="11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• NPZ </a:t>
            </a:r>
            <a:r>
              <a:rPr lang="ko-KR" altLang="en-US" sz="11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얼굴 임베딩 저장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52889" y="1892427"/>
            <a:ext cx="2423160" cy="192024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bIns="73152" rtlCol="0" anchor="ctr"/>
          <a:lstStyle/>
          <a:p>
            <a:pPr algn="l">
              <a:spcAft>
                <a:spcPts val="500"/>
              </a:spcAft>
              <a:defRPr sz="1500" b="1">
                <a:solidFill>
                  <a:srgbClr val="1443F0"/>
                </a:solidFill>
                <a:latin typeface="Malgun Gothic"/>
              </a:defRPr>
            </a:pPr>
            <a:r>
              <a:rPr lang="ko-KR" altLang="en-US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표 </a:t>
            </a:r>
            <a:r>
              <a: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/ </a:t>
            </a:r>
            <a:r>
              <a:rPr lang="ko-KR" altLang="en-US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엑셀 처리</a:t>
            </a:r>
          </a:p>
          <a:p>
            <a:pPr>
              <a:spcAft>
                <a:spcPts val="200"/>
              </a:spcAft>
              <a:defRPr sz="1050">
                <a:solidFill>
                  <a:srgbClr val="26272B"/>
                </a:solidFill>
                <a:latin typeface="Malgun Gothic"/>
              </a:defRPr>
            </a:pPr>
            <a:r>
              <a:rPr lang="en-US" altLang="ko-KR" sz="11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• pandas 3.0.3</a:t>
            </a:r>
          </a:p>
          <a:p>
            <a:pPr>
              <a:spcAft>
                <a:spcPts val="200"/>
              </a:spcAft>
              <a:defRPr sz="1050">
                <a:solidFill>
                  <a:srgbClr val="26272B"/>
                </a:solidFill>
                <a:latin typeface="Malgun Gothic"/>
              </a:defRPr>
            </a:pPr>
            <a:r>
              <a:rPr lang="en-US" altLang="ko-KR" sz="11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• polars 1.41.2</a:t>
            </a:r>
          </a:p>
          <a:p>
            <a:pPr>
              <a:spcAft>
                <a:spcPts val="200"/>
              </a:spcAft>
              <a:defRPr sz="1050">
                <a:solidFill>
                  <a:srgbClr val="26272B"/>
                </a:solidFill>
                <a:latin typeface="Malgun Gothic"/>
              </a:defRPr>
            </a:pPr>
            <a:r>
              <a:rPr lang="en-US" altLang="ko-KR" sz="11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• openpyxl 3.1.5</a:t>
            </a:r>
          </a:p>
          <a:p>
            <a:pPr>
              <a:spcAft>
                <a:spcPts val="200"/>
              </a:spcAft>
              <a:defRPr sz="1050">
                <a:solidFill>
                  <a:srgbClr val="26272B"/>
                </a:solidFill>
                <a:latin typeface="Malgun Gothic"/>
              </a:defRPr>
            </a:pPr>
            <a:r>
              <a:rPr lang="en-US" altLang="ko-KR" sz="11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• et_xmlfile 2.0.0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04649" y="1892427"/>
            <a:ext cx="2423160" cy="192024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bIns="73152" rtlCol="0" anchor="ctr"/>
          <a:lstStyle/>
          <a:p>
            <a:pPr algn="l">
              <a:spcAft>
                <a:spcPts val="500"/>
              </a:spcAft>
              <a:defRPr sz="1500" b="1">
                <a:solidFill>
                  <a:srgbClr val="1443F0"/>
                </a:solidFill>
                <a:latin typeface="Malgun Gothic"/>
              </a:defRPr>
            </a:pPr>
            <a:r>
              <a:rPr lang="ko-KR" altLang="en-US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시각화 </a:t>
            </a:r>
            <a:r>
              <a: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/ </a:t>
            </a:r>
            <a:r>
              <a:rPr lang="ko-KR" altLang="en-US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이미지</a:t>
            </a:r>
          </a:p>
          <a:p>
            <a:pPr>
              <a:spcAft>
                <a:spcPts val="200"/>
              </a:spcAft>
              <a:defRPr sz="1050">
                <a:solidFill>
                  <a:srgbClr val="26272B"/>
                </a:solidFill>
                <a:latin typeface="Malgun Gothic"/>
              </a:defRPr>
            </a:pPr>
            <a:r>
              <a:rPr lang="en-US" altLang="ko-KR" sz="11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•  matplotlib 3.11.0</a:t>
            </a:r>
          </a:p>
          <a:p>
            <a:pPr>
              <a:spcAft>
                <a:spcPts val="200"/>
              </a:spcAft>
              <a:defRPr sz="1050">
                <a:solidFill>
                  <a:srgbClr val="26272B"/>
                </a:solidFill>
                <a:latin typeface="Malgun Gothic"/>
              </a:defRPr>
            </a:pPr>
            <a:r>
              <a:rPr lang="en-US" altLang="ko-KR" sz="11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•  pillow 12.2.0</a:t>
            </a:r>
          </a:p>
          <a:p>
            <a:pPr>
              <a:spcAft>
                <a:spcPts val="200"/>
              </a:spcAft>
              <a:defRPr sz="1050">
                <a:solidFill>
                  <a:srgbClr val="26272B"/>
                </a:solidFill>
                <a:latin typeface="Malgun Gothic"/>
              </a:defRPr>
            </a:pPr>
            <a:r>
              <a:rPr lang="en-US" altLang="ko-KR" sz="11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•  ImageIO 2.37.3</a:t>
            </a:r>
          </a:p>
          <a:p>
            <a:pPr>
              <a:spcAft>
                <a:spcPts val="200"/>
              </a:spcAft>
              <a:defRPr sz="1050">
                <a:solidFill>
                  <a:srgbClr val="26272B"/>
                </a:solidFill>
                <a:latin typeface="Malgun Gothic"/>
              </a:defRPr>
            </a:pPr>
            <a:r>
              <a:rPr lang="en-US" altLang="ko-KR" sz="11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•  captcha 0.7.1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56409" y="1892427"/>
            <a:ext cx="2423160" cy="192024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8D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0" rIns="109728" bIns="73152" rtlCol="0" anchor="ctr"/>
          <a:lstStyle/>
          <a:p>
            <a:pPr algn="l">
              <a:spcAft>
                <a:spcPts val="500"/>
              </a:spcAft>
              <a:defRPr sz="1500" b="1">
                <a:solidFill>
                  <a:srgbClr val="1443F0"/>
                </a:solidFill>
                <a:latin typeface="Malgun Gothic"/>
              </a:defRPr>
            </a:pPr>
            <a:r>
              <a:rPr lang="ko-KR" altLang="en-US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통신 </a:t>
            </a:r>
            <a:r>
              <a: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/ </a:t>
            </a:r>
            <a:r>
              <a:rPr lang="ko-KR" altLang="en-US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유틸</a:t>
            </a:r>
          </a:p>
          <a:p>
            <a:pPr>
              <a:spcAft>
                <a:spcPts val="200"/>
              </a:spcAft>
              <a:defRPr sz="1050">
                <a:solidFill>
                  <a:srgbClr val="26272B"/>
                </a:solidFill>
                <a:latin typeface="Malgun Gothic"/>
              </a:defRPr>
            </a:pPr>
            <a:r>
              <a:rPr lang="en-US" altLang="ko-KR" sz="11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•  requests 2.34.2</a:t>
            </a:r>
          </a:p>
          <a:p>
            <a:pPr>
              <a:spcAft>
                <a:spcPts val="200"/>
              </a:spcAft>
              <a:defRPr sz="1050">
                <a:solidFill>
                  <a:srgbClr val="26272B"/>
                </a:solidFill>
                <a:latin typeface="Malgun Gothic"/>
              </a:defRPr>
            </a:pPr>
            <a:r>
              <a:rPr lang="en-US" altLang="ko-KR" sz="11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•  PyYAML 6.0.3</a:t>
            </a:r>
          </a:p>
          <a:p>
            <a:pPr>
              <a:spcAft>
                <a:spcPts val="200"/>
              </a:spcAft>
              <a:defRPr sz="1050">
                <a:solidFill>
                  <a:srgbClr val="26272B"/>
                </a:solidFill>
                <a:latin typeface="Malgun Gothic"/>
              </a:defRPr>
            </a:pPr>
            <a:r>
              <a:rPr lang="en-US" altLang="ko-KR" sz="11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•  tqdm 4.68.3</a:t>
            </a:r>
          </a:p>
          <a:p>
            <a:pPr>
              <a:spcAft>
                <a:spcPts val="200"/>
              </a:spcAft>
              <a:defRPr sz="1050">
                <a:solidFill>
                  <a:srgbClr val="26272B"/>
                </a:solidFill>
                <a:latin typeface="Malgun Gothic"/>
              </a:defRPr>
            </a:pPr>
            <a:r>
              <a:rPr lang="en-US" altLang="ko-KR" sz="11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•  psutil 7.2.2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58559" y="4032861"/>
            <a:ext cx="1032334" cy="2308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1500" b="1">
                <a:solidFill>
                  <a:srgbClr val="1443F0"/>
                </a:solidFill>
                <a:latin typeface="Malgun Gothic"/>
              </a:defRPr>
            </a:pPr>
            <a:r>
              <a:rPr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JSON / NPZ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861248" y="4365706"/>
            <a:ext cx="219457" cy="0"/>
          </a:xfrm>
          <a:prstGeom prst="line">
            <a:avLst/>
          </a:prstGeom>
          <a:ln w="13335">
            <a:solidFill>
              <a:srgbClr val="1443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64859" y="5884418"/>
            <a:ext cx="2012234" cy="295722"/>
          </a:xfrm>
          <a:prstGeom prst="rect">
            <a:avLst/>
          </a:prstGeom>
          <a:noFill/>
        </p:spPr>
        <p:txBody>
          <a:bodyPr wrap="square" lIns="18288" tIns="0" rIns="0" bIns="0">
            <a:spAutoFit/>
          </a:bodyPr>
          <a:lstStyle/>
          <a:p>
            <a:pPr>
              <a:spcAft>
                <a:spcPts val="120"/>
              </a:spcAft>
              <a:defRPr sz="919">
                <a:solidFill>
                  <a:srgbClr val="26272B"/>
                </a:solidFill>
                <a:latin typeface="Malgun Gothic"/>
              </a:defRPr>
            </a:pPr>
            <a:r>
              <a:rPr lang="en-US" altLang="ko-KR" sz="9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• DB </a:t>
            </a:r>
            <a:r>
              <a:rPr lang="ko-KR" altLang="en-US" sz="9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서버 없이 파일 기반 저장</a:t>
            </a:r>
          </a:p>
          <a:p>
            <a:pPr>
              <a:spcAft>
                <a:spcPts val="120"/>
              </a:spcAft>
              <a:defRPr sz="919">
                <a:solidFill>
                  <a:srgbClr val="26272B"/>
                </a:solidFill>
                <a:latin typeface="Malgun Gothic"/>
              </a:defRPr>
            </a:pPr>
            <a:r>
              <a:rPr lang="en-US" altLang="ko-KR" sz="9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• </a:t>
            </a:r>
            <a:r>
              <a:rPr lang="ko-KR" altLang="en-US" sz="9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얼굴 임베딩은 </a:t>
            </a:r>
            <a:r>
              <a:rPr lang="en-US" altLang="ko-KR" sz="9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NPZ </a:t>
            </a:r>
            <a:r>
              <a:rPr lang="ko-KR" altLang="en-US" sz="9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배열로 관리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92384" y="4615862"/>
            <a:ext cx="960120" cy="347472"/>
          </a:xfrm>
          <a:prstGeom prst="roundRect">
            <a:avLst/>
          </a:prstGeom>
          <a:solidFill>
            <a:srgbClr val="F5F7FF"/>
          </a:solidFill>
          <a:ln w="7620">
            <a:solidFill>
              <a:srgbClr val="D2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0" rIns="36576" bIns="0" rtlCol="0" anchor="ctr"/>
          <a:lstStyle/>
          <a:p>
            <a:pPr algn="ctr">
              <a:defRPr sz="900" b="1">
                <a:solidFill>
                  <a:srgbClr val="26272B"/>
                </a:solidFill>
                <a:latin typeface="Malgun Gothic"/>
              </a:defRPr>
            </a:pPr>
            <a:r>
              <a:rPr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Pandas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81105" y="4615862"/>
            <a:ext cx="960120" cy="347472"/>
          </a:xfrm>
          <a:prstGeom prst="roundRect">
            <a:avLst/>
          </a:prstGeom>
          <a:solidFill>
            <a:srgbClr val="F5F7FF"/>
          </a:solidFill>
          <a:ln w="7620">
            <a:solidFill>
              <a:srgbClr val="D2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0" rIns="36576" bIns="0" rtlCol="0" anchor="ctr"/>
          <a:lstStyle/>
          <a:p>
            <a:pPr algn="ctr">
              <a:defRPr sz="900" b="1">
                <a:solidFill>
                  <a:srgbClr val="26272B"/>
                </a:solidFill>
                <a:latin typeface="Malgun Gothic"/>
              </a:defRPr>
            </a:pPr>
            <a:r>
              <a:rPr dirty="0" err="1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Polars</a:t>
            </a:r>
            <a:endParaRPr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469825" y="4615862"/>
            <a:ext cx="960120" cy="347472"/>
          </a:xfrm>
          <a:prstGeom prst="roundRect">
            <a:avLst/>
          </a:prstGeom>
          <a:solidFill>
            <a:srgbClr val="F5F7FF"/>
          </a:solidFill>
          <a:ln w="7620">
            <a:solidFill>
              <a:srgbClr val="D2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0" rIns="36576" bIns="0" rtlCol="0" anchor="ctr"/>
          <a:lstStyle/>
          <a:p>
            <a:pPr algn="ctr">
              <a:defRPr sz="900" b="1">
                <a:solidFill>
                  <a:srgbClr val="26272B"/>
                </a:solidFill>
                <a:latin typeface="Malgun Gothic"/>
              </a:defRPr>
            </a:pPr>
            <a:r>
              <a:rPr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OpenPyXL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58545" y="4615862"/>
            <a:ext cx="960120" cy="347472"/>
          </a:xfrm>
          <a:prstGeom prst="roundRect">
            <a:avLst/>
          </a:prstGeom>
          <a:solidFill>
            <a:srgbClr val="F5F7FF"/>
          </a:solidFill>
          <a:ln w="7620">
            <a:solidFill>
              <a:srgbClr val="D2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0" rIns="36576" bIns="0" rtlCol="0" anchor="ctr"/>
          <a:lstStyle/>
          <a:p>
            <a:pPr algn="ctr">
              <a:defRPr sz="900" b="1">
                <a:solidFill>
                  <a:srgbClr val="26272B"/>
                </a:solidFill>
                <a:latin typeface="Malgun Gothic"/>
              </a:defRPr>
            </a:pPr>
            <a:r>
              <a:rPr dirty="0" err="1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Matplotlib</a:t>
            </a:r>
            <a:endParaRPr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8847265" y="4615862"/>
            <a:ext cx="960120" cy="347472"/>
          </a:xfrm>
          <a:prstGeom prst="roundRect">
            <a:avLst/>
          </a:prstGeom>
          <a:solidFill>
            <a:srgbClr val="F5F7FF"/>
          </a:solidFill>
          <a:ln w="7620">
            <a:solidFill>
              <a:srgbClr val="D2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0" rIns="36576" bIns="0" rtlCol="0" anchor="ctr"/>
          <a:lstStyle/>
          <a:p>
            <a:pPr algn="ctr">
              <a:defRPr sz="900" b="1">
                <a:solidFill>
                  <a:srgbClr val="26272B"/>
                </a:solidFill>
                <a:latin typeface="Malgun Gothic"/>
              </a:defRPr>
            </a:pPr>
            <a:r>
              <a:rPr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Captcha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92384" y="5073062"/>
            <a:ext cx="960120" cy="347472"/>
          </a:xfrm>
          <a:prstGeom prst="roundRect">
            <a:avLst/>
          </a:prstGeom>
          <a:solidFill>
            <a:srgbClr val="F5F7FF"/>
          </a:solidFill>
          <a:ln w="7620">
            <a:solidFill>
              <a:srgbClr val="D2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0" rIns="36576" bIns="0" rtlCol="0" anchor="ctr"/>
          <a:lstStyle/>
          <a:p>
            <a:pPr algn="ctr">
              <a:defRPr sz="900" b="0">
                <a:solidFill>
                  <a:srgbClr val="26272B"/>
                </a:solidFill>
                <a:latin typeface="Malgun Gothic"/>
              </a:defRPr>
            </a:pPr>
            <a:r>
              <a:rPr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Requests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281105" y="5073062"/>
            <a:ext cx="960120" cy="347472"/>
          </a:xfrm>
          <a:prstGeom prst="roundRect">
            <a:avLst/>
          </a:prstGeom>
          <a:solidFill>
            <a:srgbClr val="F5F7FF"/>
          </a:solidFill>
          <a:ln w="7620">
            <a:solidFill>
              <a:srgbClr val="D2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0" rIns="36576" bIns="0" rtlCol="0" anchor="ctr"/>
          <a:lstStyle/>
          <a:p>
            <a:pPr algn="ctr">
              <a:defRPr sz="900" b="0">
                <a:solidFill>
                  <a:srgbClr val="26272B"/>
                </a:solidFill>
                <a:latin typeface="Malgun Gothic"/>
              </a:defRPr>
            </a:pPr>
            <a:r>
              <a:rPr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PyYAML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69825" y="5073062"/>
            <a:ext cx="960120" cy="347472"/>
          </a:xfrm>
          <a:prstGeom prst="roundRect">
            <a:avLst/>
          </a:prstGeom>
          <a:solidFill>
            <a:srgbClr val="F5F7FF"/>
          </a:solidFill>
          <a:ln w="7620">
            <a:solidFill>
              <a:srgbClr val="D2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0" rIns="36576" bIns="0" rtlCol="0" anchor="ctr"/>
          <a:lstStyle/>
          <a:p>
            <a:pPr algn="ctr">
              <a:defRPr sz="900" b="0">
                <a:solidFill>
                  <a:srgbClr val="26272B"/>
                </a:solidFill>
                <a:latin typeface="Malgun Gothic"/>
              </a:defRPr>
            </a:pPr>
            <a:r>
              <a:rPr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psutil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58545" y="5073062"/>
            <a:ext cx="960120" cy="347472"/>
          </a:xfrm>
          <a:prstGeom prst="roundRect">
            <a:avLst/>
          </a:prstGeom>
          <a:solidFill>
            <a:srgbClr val="F5F7FF"/>
          </a:solidFill>
          <a:ln w="7620">
            <a:solidFill>
              <a:srgbClr val="D2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0" rIns="36576" bIns="0" rtlCol="0" anchor="ctr"/>
          <a:lstStyle/>
          <a:p>
            <a:pPr algn="ctr">
              <a:defRPr sz="900" b="0">
                <a:solidFill>
                  <a:srgbClr val="26272B"/>
                </a:solidFill>
                <a:latin typeface="Malgun Gothic"/>
              </a:defRPr>
            </a:pPr>
            <a:r>
              <a:rPr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tqdm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847265" y="5073062"/>
            <a:ext cx="960120" cy="347472"/>
          </a:xfrm>
          <a:prstGeom prst="roundRect">
            <a:avLst/>
          </a:prstGeom>
          <a:solidFill>
            <a:srgbClr val="F5F7FF"/>
          </a:solidFill>
          <a:ln w="7620">
            <a:solidFill>
              <a:srgbClr val="D2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" tIns="0" rIns="36576" bIns="0" rtlCol="0" anchor="ctr"/>
          <a:lstStyle/>
          <a:p>
            <a:pPr algn="ctr">
              <a:defRPr sz="900" b="0">
                <a:solidFill>
                  <a:srgbClr val="26272B"/>
                </a:solidFill>
                <a:latin typeface="Malgun Gothic"/>
              </a:defRPr>
            </a:pPr>
            <a:r>
              <a:rPr dirty="0" err="1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dateutil</a:t>
            </a:r>
            <a:endParaRPr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8AC30ED6-125B-BCC9-AF3B-EC765DDEEDB6}"/>
              </a:ext>
            </a:extLst>
          </p:cNvPr>
          <p:cNvGrpSpPr/>
          <p:nvPr/>
        </p:nvGrpSpPr>
        <p:grpSpPr>
          <a:xfrm>
            <a:off x="771525" y="4455099"/>
            <a:ext cx="1884238" cy="1235925"/>
            <a:chOff x="8497435" y="2263318"/>
            <a:chExt cx="1768294" cy="1028450"/>
          </a:xfrm>
        </p:grpSpPr>
        <p:pic>
          <p:nvPicPr>
            <p:cNvPr id="30" name="Picture 4" descr="Json 파일 - 무료 상호 작용개 아이콘">
              <a:extLst>
                <a:ext uri="{FF2B5EF4-FFF2-40B4-BE49-F238E27FC236}">
                  <a16:creationId xmlns:a16="http://schemas.microsoft.com/office/drawing/2014/main" id="{551AE534-FB43-0E1B-6485-2A4CBC7A1BE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580334" y="2408244"/>
              <a:ext cx="685395" cy="6853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1" name="그림 30">
              <a:extLst>
                <a:ext uri="{FF2B5EF4-FFF2-40B4-BE49-F238E27FC236}">
                  <a16:creationId xmlns:a16="http://schemas.microsoft.com/office/drawing/2014/main" id="{D97CF3A8-2ECF-3FAB-59FC-A40EB259193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497435" y="2263318"/>
              <a:ext cx="1618868" cy="1028450"/>
            </a:xfrm>
            <a:prstGeom prst="rect">
              <a:avLst/>
            </a:prstGeom>
          </p:spPr>
        </p:pic>
      </p:grpSp>
      <p:sp>
        <p:nvSpPr>
          <p:cNvPr id="27" name="Google Shape;86;p13">
            <a:extLst>
              <a:ext uri="{FF2B5EF4-FFF2-40B4-BE49-F238E27FC236}">
                <a16:creationId xmlns:a16="http://schemas.microsoft.com/office/drawing/2014/main" id="{E04A4474-2736-C460-A196-B7B307E30FD3}"/>
              </a:ext>
            </a:extLst>
          </p:cNvPr>
          <p:cNvSpPr/>
          <p:nvPr/>
        </p:nvSpPr>
        <p:spPr>
          <a:xfrm>
            <a:off x="771525" y="1365795"/>
            <a:ext cx="106489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Calibri"/>
              <a:sym typeface="Calibri"/>
            </a:endParaRPr>
          </a:p>
        </p:txBody>
      </p:sp>
      <p:sp>
        <p:nvSpPr>
          <p:cNvPr id="28" name="Google Shape;179;p16">
            <a:extLst>
              <a:ext uri="{FF2B5EF4-FFF2-40B4-BE49-F238E27FC236}">
                <a16:creationId xmlns:a16="http://schemas.microsoft.com/office/drawing/2014/main" id="{C61A91A3-870B-7D10-34CB-703CF2F67625}"/>
              </a:ext>
            </a:extLst>
          </p:cNvPr>
          <p:cNvSpPr txBox="1"/>
          <p:nvPr/>
        </p:nvSpPr>
        <p:spPr>
          <a:xfrm>
            <a:off x="771525" y="581025"/>
            <a:ext cx="11181397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altLang="ko-KR" sz="2850" b="1" dirty="0" smtClean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Poppins Black"/>
              </a:rPr>
              <a:t>04. </a:t>
            </a:r>
            <a:r>
              <a:rPr lang="ko-KR" altLang="en-US" sz="2850" b="1" dirty="0" smtClean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Poppins Black"/>
              </a:rPr>
              <a:t>사용 툴 및 개발 환경</a:t>
            </a:r>
            <a:endParaRPr lang="ko-KR" altLang="en-US" sz="2850" b="1" dirty="0">
              <a:solidFill>
                <a:srgbClr val="0F172A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Poppins Black"/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606641" y="1375321"/>
            <a:ext cx="10979123" cy="479687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3" name="직선 연결선 32"/>
          <p:cNvCxnSpPr/>
          <p:nvPr/>
        </p:nvCxnSpPr>
        <p:spPr>
          <a:xfrm flipV="1">
            <a:off x="606641" y="1145219"/>
            <a:ext cx="10979123" cy="9327"/>
          </a:xfrm>
          <a:prstGeom prst="line">
            <a:avLst/>
          </a:prstGeom>
          <a:ln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1658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883539" y="1721508"/>
            <a:ext cx="2441448" cy="4617720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E2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bIns="54864" rtlCol="0" anchor="ctr"/>
          <a:lstStyle/>
          <a:p>
            <a:pPr algn="ctr">
              <a:spcAft>
                <a:spcPts val="600"/>
              </a:spcAft>
              <a:defRPr sz="1220" b="1">
                <a:solidFill>
                  <a:srgbClr val="1443F0"/>
                </a:solidFill>
                <a:latin typeface="Malgun Gothic"/>
              </a:defRPr>
            </a:pPr>
            <a:r>
              <a:rPr lang="ko-KR" altLang="en-US" sz="1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웹 </a:t>
            </a:r>
            <a:r>
              <a:rPr lang="en-US" altLang="ko-KR" sz="1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/ </a:t>
            </a:r>
            <a:r>
              <a:rPr lang="ko-KR" altLang="en-US" sz="1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서버</a:t>
            </a:r>
          </a:p>
          <a:p>
            <a:pPr>
              <a:spcAft>
                <a:spcPts val="100"/>
              </a:spcAft>
              <a:defRPr sz="780">
                <a:solidFill>
                  <a:srgbClr val="26272B"/>
                </a:solidFill>
                <a:latin typeface="Arial"/>
              </a:defRPr>
            </a:pPr>
            <a:r>
              <a:rPr lang="en-US" altLang="ko-KR" sz="8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• Flask 3.1.3</a:t>
            </a:r>
          </a:p>
          <a:p>
            <a:pPr>
              <a:spcAft>
                <a:spcPts val="100"/>
              </a:spcAft>
              <a:defRPr sz="780">
                <a:solidFill>
                  <a:srgbClr val="26272B"/>
                </a:solidFill>
                <a:latin typeface="Arial"/>
              </a:defRPr>
            </a:pPr>
            <a:r>
              <a:rPr lang="en-US" altLang="ko-KR" sz="8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• Jinja2 3.1.6</a:t>
            </a:r>
          </a:p>
          <a:p>
            <a:pPr>
              <a:spcAft>
                <a:spcPts val="100"/>
              </a:spcAft>
              <a:defRPr sz="780">
                <a:solidFill>
                  <a:srgbClr val="26272B"/>
                </a:solidFill>
                <a:latin typeface="Arial"/>
              </a:defRPr>
            </a:pPr>
            <a:r>
              <a:rPr lang="en-US" altLang="ko-KR" sz="8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• Werkzeug 3.1.8</a:t>
            </a:r>
          </a:p>
          <a:p>
            <a:pPr>
              <a:spcAft>
                <a:spcPts val="100"/>
              </a:spcAft>
              <a:defRPr sz="780">
                <a:solidFill>
                  <a:srgbClr val="26272B"/>
                </a:solidFill>
                <a:latin typeface="Arial"/>
              </a:defRPr>
            </a:pPr>
            <a:r>
              <a:rPr lang="en-US" altLang="ko-KR" sz="8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• MarkupSafe 3.0.3</a:t>
            </a:r>
          </a:p>
          <a:p>
            <a:pPr>
              <a:spcAft>
                <a:spcPts val="100"/>
              </a:spcAft>
              <a:defRPr sz="780">
                <a:solidFill>
                  <a:srgbClr val="26272B"/>
                </a:solidFill>
                <a:latin typeface="Arial"/>
              </a:defRPr>
            </a:pPr>
            <a:r>
              <a:rPr lang="en-US" altLang="ko-KR" sz="8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• itsdangerous 2.2.0</a:t>
            </a:r>
          </a:p>
          <a:p>
            <a:pPr>
              <a:spcAft>
                <a:spcPts val="100"/>
              </a:spcAft>
              <a:defRPr sz="780">
                <a:solidFill>
                  <a:srgbClr val="26272B"/>
                </a:solidFill>
                <a:latin typeface="Arial"/>
              </a:defRPr>
            </a:pPr>
            <a:r>
              <a:rPr lang="en-US" altLang="ko-KR" sz="8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• blinker 1.9.0</a:t>
            </a:r>
          </a:p>
          <a:p>
            <a:pPr>
              <a:spcAft>
                <a:spcPts val="100"/>
              </a:spcAft>
              <a:defRPr sz="780">
                <a:solidFill>
                  <a:srgbClr val="26272B"/>
                </a:solidFill>
                <a:latin typeface="Arial"/>
              </a:defRPr>
            </a:pPr>
            <a:r>
              <a:rPr lang="en-US" altLang="ko-KR" sz="8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• click 8.4.1</a:t>
            </a:r>
          </a:p>
          <a:p>
            <a:pPr>
              <a:spcAft>
                <a:spcPts val="100"/>
              </a:spcAft>
              <a:defRPr sz="780">
                <a:solidFill>
                  <a:srgbClr val="26272B"/>
                </a:solidFill>
                <a:latin typeface="Arial"/>
              </a:defRPr>
            </a:pPr>
            <a:r>
              <a:rPr lang="en-US" altLang="ko-KR" sz="8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• colorama 0.4.6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53587" y="1721508"/>
            <a:ext cx="2441448" cy="4617720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E2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bIns="54864" rtlCol="0" anchor="ctr"/>
          <a:lstStyle/>
          <a:p>
            <a:pPr algn="ctr">
              <a:spcAft>
                <a:spcPts val="600"/>
              </a:spcAft>
              <a:defRPr sz="1220" b="1">
                <a:solidFill>
                  <a:srgbClr val="1443F0"/>
                </a:solidFill>
                <a:latin typeface="Malgun Gothic"/>
              </a:defRPr>
            </a:pPr>
            <a:r>
              <a:rPr lang="en-US" altLang="ko-KR" sz="1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AI / </a:t>
            </a:r>
            <a:r>
              <a:rPr lang="ko-KR" altLang="en-US" sz="1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영상</a:t>
            </a:r>
          </a:p>
          <a:p>
            <a:pPr>
              <a:spcAft>
                <a:spcPts val="100"/>
              </a:spcAft>
              <a:defRPr sz="780">
                <a:solidFill>
                  <a:srgbClr val="26272B"/>
                </a:solidFill>
                <a:latin typeface="Arial"/>
              </a:defRPr>
            </a:pPr>
            <a:r>
              <a:rPr lang="en-US" altLang="ko-KR" sz="8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• opencv-python 4.13.0.92</a:t>
            </a:r>
          </a:p>
          <a:p>
            <a:pPr>
              <a:spcAft>
                <a:spcPts val="100"/>
              </a:spcAft>
              <a:defRPr sz="780">
                <a:solidFill>
                  <a:srgbClr val="26272B"/>
                </a:solidFill>
                <a:latin typeface="Arial"/>
              </a:defRPr>
            </a:pPr>
            <a:r>
              <a:rPr lang="en-US" altLang="ko-KR" sz="8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• ultralytics 8.4.75</a:t>
            </a:r>
          </a:p>
          <a:p>
            <a:pPr>
              <a:spcAft>
                <a:spcPts val="100"/>
              </a:spcAft>
              <a:defRPr sz="780">
                <a:solidFill>
                  <a:srgbClr val="26272B"/>
                </a:solidFill>
                <a:latin typeface="Arial"/>
              </a:defRPr>
            </a:pPr>
            <a:r>
              <a:rPr lang="en-US" altLang="ko-KR" sz="8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• ultralytics-</a:t>
            </a:r>
            <a:r>
              <a:rPr lang="en-US" altLang="ko-KR" sz="800" dirty="0" err="1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thop</a:t>
            </a:r>
            <a:r>
              <a:rPr lang="en-US" altLang="ko-KR" sz="8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2.0.20</a:t>
            </a:r>
          </a:p>
          <a:p>
            <a:pPr>
              <a:spcAft>
                <a:spcPts val="100"/>
              </a:spcAft>
              <a:defRPr sz="780">
                <a:solidFill>
                  <a:srgbClr val="26272B"/>
                </a:solidFill>
                <a:latin typeface="Arial"/>
              </a:defRPr>
            </a:pPr>
            <a:r>
              <a:rPr lang="en-US" altLang="ko-KR" sz="8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• insightface 1.0.1</a:t>
            </a:r>
          </a:p>
          <a:p>
            <a:pPr>
              <a:spcAft>
                <a:spcPts val="100"/>
              </a:spcAft>
              <a:defRPr sz="780">
                <a:solidFill>
                  <a:srgbClr val="26272B"/>
                </a:solidFill>
                <a:latin typeface="Arial"/>
              </a:defRPr>
            </a:pPr>
            <a:r>
              <a:rPr lang="en-US" altLang="ko-KR" sz="8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• torch 2.12.1</a:t>
            </a:r>
          </a:p>
          <a:p>
            <a:pPr>
              <a:spcAft>
                <a:spcPts val="100"/>
              </a:spcAft>
              <a:defRPr sz="780">
                <a:solidFill>
                  <a:srgbClr val="26272B"/>
                </a:solidFill>
                <a:latin typeface="Arial"/>
              </a:defRPr>
            </a:pPr>
            <a:r>
              <a:rPr lang="en-US" altLang="ko-KR" sz="8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• torchvision 0.27.1</a:t>
            </a:r>
          </a:p>
          <a:p>
            <a:pPr>
              <a:spcAft>
                <a:spcPts val="100"/>
              </a:spcAft>
              <a:defRPr sz="780">
                <a:solidFill>
                  <a:srgbClr val="26272B"/>
                </a:solidFill>
                <a:latin typeface="Arial"/>
              </a:defRPr>
            </a:pPr>
            <a:r>
              <a:rPr lang="en-US" altLang="ko-KR" sz="8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• onnx 1.22.0</a:t>
            </a:r>
          </a:p>
          <a:p>
            <a:pPr>
              <a:spcAft>
                <a:spcPts val="100"/>
              </a:spcAft>
              <a:defRPr sz="780">
                <a:solidFill>
                  <a:srgbClr val="26272B"/>
                </a:solidFill>
                <a:latin typeface="Arial"/>
              </a:defRPr>
            </a:pPr>
            <a:r>
              <a:rPr lang="en-US" altLang="ko-KR" sz="8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• onnxruntime 1.27.0</a:t>
            </a:r>
          </a:p>
          <a:p>
            <a:pPr>
              <a:spcAft>
                <a:spcPts val="100"/>
              </a:spcAft>
              <a:defRPr sz="780">
                <a:solidFill>
                  <a:srgbClr val="26272B"/>
                </a:solidFill>
                <a:latin typeface="Arial"/>
              </a:defRPr>
            </a:pPr>
            <a:r>
              <a:rPr lang="en-US" altLang="ko-KR" sz="8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• lap 0.5.13</a:t>
            </a:r>
          </a:p>
          <a:p>
            <a:pPr>
              <a:spcAft>
                <a:spcPts val="100"/>
              </a:spcAft>
              <a:defRPr sz="780">
                <a:solidFill>
                  <a:srgbClr val="26272B"/>
                </a:solidFill>
                <a:latin typeface="Arial"/>
              </a:defRPr>
            </a:pPr>
            <a:r>
              <a:rPr lang="en-US" altLang="ko-KR" sz="8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• nvidia-ml-</a:t>
            </a:r>
            <a:r>
              <a:rPr lang="en-US" altLang="ko-KR" sz="800" dirty="0" err="1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py</a:t>
            </a:r>
            <a:r>
              <a:rPr lang="en-US" altLang="ko-KR" sz="8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13.610.43</a:t>
            </a:r>
            <a:endParaRPr sz="8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223635" y="1721508"/>
            <a:ext cx="2441448" cy="4617720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E2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bIns="54864" rtlCol="0" anchor="ctr"/>
          <a:lstStyle/>
          <a:p>
            <a:pPr algn="ctr">
              <a:spcAft>
                <a:spcPts val="600"/>
              </a:spcAft>
              <a:defRPr sz="1220" b="1">
                <a:solidFill>
                  <a:srgbClr val="1443F0"/>
                </a:solidFill>
                <a:latin typeface="Malgun Gothic"/>
              </a:defRPr>
            </a:pPr>
            <a:r>
              <a:rPr lang="ko-KR" altLang="en-US" sz="1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데이터 </a:t>
            </a:r>
            <a:r>
              <a:rPr lang="en-US" altLang="ko-KR" sz="1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/ </a:t>
            </a:r>
            <a:r>
              <a:rPr lang="ko-KR" altLang="en-US" sz="1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이미지</a:t>
            </a:r>
          </a:p>
          <a:p>
            <a:pPr>
              <a:spcAft>
                <a:spcPts val="100"/>
              </a:spcAft>
              <a:defRPr sz="780">
                <a:solidFill>
                  <a:srgbClr val="26272B"/>
                </a:solidFill>
                <a:latin typeface="Arial"/>
              </a:defRPr>
            </a:pPr>
            <a:r>
              <a:rPr lang="en-US" altLang="ko-KR" sz="8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• numpy 2.5.0</a:t>
            </a:r>
          </a:p>
          <a:p>
            <a:pPr>
              <a:spcAft>
                <a:spcPts val="100"/>
              </a:spcAft>
              <a:defRPr sz="780">
                <a:solidFill>
                  <a:srgbClr val="26272B"/>
                </a:solidFill>
                <a:latin typeface="Arial"/>
              </a:defRPr>
            </a:pPr>
            <a:r>
              <a:rPr lang="en-US" altLang="ko-KR" sz="8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• pandas 3.0.3</a:t>
            </a:r>
          </a:p>
          <a:p>
            <a:pPr>
              <a:spcAft>
                <a:spcPts val="100"/>
              </a:spcAft>
              <a:defRPr sz="780">
                <a:solidFill>
                  <a:srgbClr val="26272B"/>
                </a:solidFill>
                <a:latin typeface="Arial"/>
              </a:defRPr>
            </a:pPr>
            <a:r>
              <a:rPr lang="en-US" altLang="ko-KR" sz="8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• polars 1.41.2</a:t>
            </a:r>
          </a:p>
          <a:p>
            <a:pPr>
              <a:spcAft>
                <a:spcPts val="100"/>
              </a:spcAft>
              <a:defRPr sz="780">
                <a:solidFill>
                  <a:srgbClr val="26272B"/>
                </a:solidFill>
                <a:latin typeface="Arial"/>
              </a:defRPr>
            </a:pPr>
            <a:r>
              <a:rPr lang="en-US" altLang="ko-KR" sz="8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• polars-runtime-32 1.41.2</a:t>
            </a:r>
          </a:p>
          <a:p>
            <a:pPr>
              <a:spcAft>
                <a:spcPts val="100"/>
              </a:spcAft>
              <a:defRPr sz="780">
                <a:solidFill>
                  <a:srgbClr val="26272B"/>
                </a:solidFill>
                <a:latin typeface="Arial"/>
              </a:defRPr>
            </a:pPr>
            <a:r>
              <a:rPr lang="en-US" altLang="ko-KR" sz="8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• openpyxl 3.1.5</a:t>
            </a:r>
          </a:p>
          <a:p>
            <a:pPr>
              <a:spcAft>
                <a:spcPts val="100"/>
              </a:spcAft>
              <a:defRPr sz="780">
                <a:solidFill>
                  <a:srgbClr val="26272B"/>
                </a:solidFill>
                <a:latin typeface="Arial"/>
              </a:defRPr>
            </a:pPr>
            <a:r>
              <a:rPr lang="en-US" altLang="ko-KR" sz="8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• et_xmlfile 2.0.0</a:t>
            </a:r>
          </a:p>
          <a:p>
            <a:pPr>
              <a:spcAft>
                <a:spcPts val="100"/>
              </a:spcAft>
              <a:defRPr sz="780">
                <a:solidFill>
                  <a:srgbClr val="26272B"/>
                </a:solidFill>
                <a:latin typeface="Arial"/>
              </a:defRPr>
            </a:pPr>
            <a:r>
              <a:rPr lang="en-US" altLang="ko-KR" sz="8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• scipy 1.18.0</a:t>
            </a:r>
          </a:p>
          <a:p>
            <a:pPr>
              <a:spcAft>
                <a:spcPts val="100"/>
              </a:spcAft>
              <a:defRPr sz="780">
                <a:solidFill>
                  <a:srgbClr val="26272B"/>
                </a:solidFill>
                <a:latin typeface="Arial"/>
              </a:defRPr>
            </a:pPr>
            <a:r>
              <a:rPr lang="en-US" altLang="ko-KR" sz="8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• scikit-image 0.26.0</a:t>
            </a:r>
          </a:p>
          <a:p>
            <a:pPr>
              <a:spcAft>
                <a:spcPts val="100"/>
              </a:spcAft>
              <a:defRPr sz="780">
                <a:solidFill>
                  <a:srgbClr val="26272B"/>
                </a:solidFill>
                <a:latin typeface="Arial"/>
              </a:defRPr>
            </a:pPr>
            <a:r>
              <a:rPr lang="en-US" altLang="ko-KR" sz="8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• pillow 12.2.0</a:t>
            </a:r>
          </a:p>
          <a:p>
            <a:pPr>
              <a:spcAft>
                <a:spcPts val="100"/>
              </a:spcAft>
              <a:defRPr sz="780">
                <a:solidFill>
                  <a:srgbClr val="26272B"/>
                </a:solidFill>
                <a:latin typeface="Arial"/>
              </a:defRPr>
            </a:pPr>
            <a:r>
              <a:rPr lang="en-US" altLang="ko-KR" sz="8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• ImageIO 2.37.3</a:t>
            </a:r>
          </a:p>
          <a:p>
            <a:pPr>
              <a:spcAft>
                <a:spcPts val="100"/>
              </a:spcAft>
              <a:defRPr sz="780">
                <a:solidFill>
                  <a:srgbClr val="26272B"/>
                </a:solidFill>
                <a:latin typeface="Arial"/>
              </a:defRPr>
            </a:pPr>
            <a:r>
              <a:rPr lang="en-US" altLang="ko-KR" sz="8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• matplotlib 3.11.0</a:t>
            </a:r>
          </a:p>
          <a:p>
            <a:pPr>
              <a:spcAft>
                <a:spcPts val="100"/>
              </a:spcAft>
              <a:defRPr sz="780">
                <a:solidFill>
                  <a:srgbClr val="26272B"/>
                </a:solidFill>
                <a:latin typeface="Arial"/>
              </a:defRPr>
            </a:pPr>
            <a:r>
              <a:rPr lang="en-US" altLang="ko-KR" sz="8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• networkx 3.6.1</a:t>
            </a:r>
          </a:p>
          <a:p>
            <a:pPr>
              <a:spcAft>
                <a:spcPts val="100"/>
              </a:spcAft>
              <a:defRPr sz="780">
                <a:solidFill>
                  <a:srgbClr val="26272B"/>
                </a:solidFill>
                <a:latin typeface="Arial"/>
              </a:defRPr>
            </a:pPr>
            <a:r>
              <a:rPr lang="en-US" altLang="ko-KR" sz="8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• tifffile 2026.6.1</a:t>
            </a:r>
          </a:p>
          <a:p>
            <a:pPr>
              <a:spcAft>
                <a:spcPts val="100"/>
              </a:spcAft>
              <a:defRPr sz="780">
                <a:solidFill>
                  <a:srgbClr val="26272B"/>
                </a:solidFill>
                <a:latin typeface="Arial"/>
              </a:defRPr>
            </a:pPr>
            <a:r>
              <a:rPr lang="en-US" altLang="ko-KR" sz="8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• captcha 0.7.1</a:t>
            </a:r>
            <a:endParaRPr sz="8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893683" y="1721508"/>
            <a:ext cx="2441448" cy="4617720"/>
          </a:xfrm>
          <a:prstGeom prst="roundRect">
            <a:avLst/>
          </a:prstGeom>
          <a:solidFill>
            <a:srgbClr val="FFFFFF"/>
          </a:solidFill>
          <a:ln w="8255">
            <a:solidFill>
              <a:srgbClr val="E2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bIns="54864" rtlCol="0" anchor="ctr"/>
          <a:lstStyle/>
          <a:p>
            <a:pPr algn="ctr">
              <a:spcAft>
                <a:spcPts val="600"/>
              </a:spcAft>
              <a:defRPr sz="1220" b="1">
                <a:solidFill>
                  <a:srgbClr val="1443F0"/>
                </a:solidFill>
                <a:latin typeface="Malgun Gothic"/>
              </a:defRPr>
            </a:pPr>
            <a:r>
              <a:rPr lang="ko-KR" altLang="en-US" sz="1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통신 </a:t>
            </a:r>
            <a:r>
              <a:rPr lang="en-US" altLang="ko-KR" sz="1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/ </a:t>
            </a:r>
            <a:r>
              <a:rPr lang="ko-KR" altLang="en-US" sz="1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보조 의존성</a:t>
            </a:r>
          </a:p>
          <a:p>
            <a:pPr>
              <a:spcAft>
                <a:spcPts val="100"/>
              </a:spcAft>
              <a:defRPr sz="780">
                <a:solidFill>
                  <a:srgbClr val="26272B"/>
                </a:solidFill>
                <a:latin typeface="Arial"/>
              </a:defRPr>
            </a:pPr>
            <a:r>
              <a:rPr lang="en-US" altLang="ko-KR" sz="8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• requests 2.34.2</a:t>
            </a:r>
          </a:p>
          <a:p>
            <a:pPr>
              <a:spcAft>
                <a:spcPts val="100"/>
              </a:spcAft>
              <a:defRPr sz="780">
                <a:solidFill>
                  <a:srgbClr val="26272B"/>
                </a:solidFill>
                <a:latin typeface="Arial"/>
              </a:defRPr>
            </a:pPr>
            <a:r>
              <a:rPr lang="en-US" altLang="ko-KR" sz="8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• urllib3 2.7.0</a:t>
            </a:r>
          </a:p>
          <a:p>
            <a:pPr>
              <a:spcAft>
                <a:spcPts val="100"/>
              </a:spcAft>
              <a:defRPr sz="780">
                <a:solidFill>
                  <a:srgbClr val="26272B"/>
                </a:solidFill>
                <a:latin typeface="Arial"/>
              </a:defRPr>
            </a:pPr>
            <a:r>
              <a:rPr lang="en-US" altLang="ko-KR" sz="8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• certifi 2026.6.17</a:t>
            </a:r>
          </a:p>
          <a:p>
            <a:pPr>
              <a:spcAft>
                <a:spcPts val="100"/>
              </a:spcAft>
              <a:defRPr sz="780">
                <a:solidFill>
                  <a:srgbClr val="26272B"/>
                </a:solidFill>
                <a:latin typeface="Arial"/>
              </a:defRPr>
            </a:pPr>
            <a:r>
              <a:rPr lang="en-US" altLang="ko-KR" sz="8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• charset-normalizer 3.4.7</a:t>
            </a:r>
          </a:p>
          <a:p>
            <a:pPr>
              <a:spcAft>
                <a:spcPts val="100"/>
              </a:spcAft>
              <a:defRPr sz="780">
                <a:solidFill>
                  <a:srgbClr val="26272B"/>
                </a:solidFill>
                <a:latin typeface="Arial"/>
              </a:defRPr>
            </a:pPr>
            <a:r>
              <a:rPr lang="en-US" altLang="ko-KR" sz="8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• idna 3.18</a:t>
            </a:r>
          </a:p>
          <a:p>
            <a:pPr>
              <a:spcAft>
                <a:spcPts val="100"/>
              </a:spcAft>
              <a:defRPr sz="780">
                <a:solidFill>
                  <a:srgbClr val="26272B"/>
                </a:solidFill>
                <a:latin typeface="Arial"/>
              </a:defRPr>
            </a:pPr>
            <a:r>
              <a:rPr lang="en-US" altLang="ko-KR" sz="8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• PyYAML 6.0.3</a:t>
            </a:r>
          </a:p>
          <a:p>
            <a:pPr>
              <a:spcAft>
                <a:spcPts val="100"/>
              </a:spcAft>
              <a:defRPr sz="780">
                <a:solidFill>
                  <a:srgbClr val="26272B"/>
                </a:solidFill>
                <a:latin typeface="Arial"/>
              </a:defRPr>
            </a:pPr>
            <a:r>
              <a:rPr lang="en-US" altLang="ko-KR" sz="8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• tqdm 4.68.3</a:t>
            </a:r>
          </a:p>
          <a:p>
            <a:pPr>
              <a:spcAft>
                <a:spcPts val="100"/>
              </a:spcAft>
              <a:defRPr sz="780">
                <a:solidFill>
                  <a:srgbClr val="26272B"/>
                </a:solidFill>
                <a:latin typeface="Arial"/>
              </a:defRPr>
            </a:pPr>
            <a:r>
              <a:rPr lang="en-US" altLang="ko-KR" sz="8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• psutil 7.2.2</a:t>
            </a:r>
          </a:p>
          <a:p>
            <a:pPr>
              <a:spcAft>
                <a:spcPts val="100"/>
              </a:spcAft>
              <a:defRPr sz="780">
                <a:solidFill>
                  <a:srgbClr val="26272B"/>
                </a:solidFill>
                <a:latin typeface="Arial"/>
              </a:defRPr>
            </a:pPr>
            <a:r>
              <a:rPr lang="en-US" altLang="ko-KR" sz="8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• packaging 26.2</a:t>
            </a:r>
          </a:p>
          <a:p>
            <a:pPr>
              <a:spcAft>
                <a:spcPts val="100"/>
              </a:spcAft>
              <a:defRPr sz="780">
                <a:solidFill>
                  <a:srgbClr val="26272B"/>
                </a:solidFill>
                <a:latin typeface="Arial"/>
              </a:defRPr>
            </a:pPr>
            <a:r>
              <a:rPr lang="en-US" altLang="ko-KR" sz="8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• setuptools 81.0.0</a:t>
            </a:r>
          </a:p>
          <a:p>
            <a:pPr>
              <a:spcAft>
                <a:spcPts val="100"/>
              </a:spcAft>
              <a:defRPr sz="780">
                <a:solidFill>
                  <a:srgbClr val="26272B"/>
                </a:solidFill>
                <a:latin typeface="Arial"/>
              </a:defRPr>
            </a:pPr>
            <a:r>
              <a:rPr lang="en-US" altLang="ko-KR" sz="8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• typing_extensions 4.15.0</a:t>
            </a:r>
          </a:p>
          <a:p>
            <a:pPr>
              <a:spcAft>
                <a:spcPts val="100"/>
              </a:spcAft>
              <a:defRPr sz="780">
                <a:solidFill>
                  <a:srgbClr val="26272B"/>
                </a:solidFill>
                <a:latin typeface="Arial"/>
              </a:defRPr>
            </a:pPr>
            <a:r>
              <a:rPr lang="en-US" altLang="ko-KR" sz="8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• python-</a:t>
            </a:r>
            <a:r>
              <a:rPr lang="en-US" altLang="ko-KR" sz="800" dirty="0" err="1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dateutil</a:t>
            </a:r>
            <a:r>
              <a:rPr lang="en-US" altLang="ko-KR" sz="8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2.9.0.post0</a:t>
            </a:r>
          </a:p>
          <a:p>
            <a:pPr>
              <a:spcAft>
                <a:spcPts val="100"/>
              </a:spcAft>
              <a:defRPr sz="780">
                <a:solidFill>
                  <a:srgbClr val="26272B"/>
                </a:solidFill>
                <a:latin typeface="Arial"/>
              </a:defRPr>
            </a:pPr>
            <a:r>
              <a:rPr lang="en-US" altLang="ko-KR" sz="8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• tzdata 2026.2</a:t>
            </a:r>
          </a:p>
          <a:p>
            <a:pPr>
              <a:spcAft>
                <a:spcPts val="100"/>
              </a:spcAft>
              <a:defRPr sz="780">
                <a:solidFill>
                  <a:srgbClr val="26272B"/>
                </a:solidFill>
                <a:latin typeface="Arial"/>
              </a:defRPr>
            </a:pPr>
            <a:r>
              <a:rPr lang="en-US" altLang="ko-KR" sz="8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• six 1.17.0</a:t>
            </a:r>
          </a:p>
          <a:p>
            <a:pPr>
              <a:spcAft>
                <a:spcPts val="100"/>
              </a:spcAft>
              <a:defRPr sz="780">
                <a:solidFill>
                  <a:srgbClr val="26272B"/>
                </a:solidFill>
                <a:latin typeface="Arial"/>
              </a:defRPr>
            </a:pPr>
            <a:r>
              <a:rPr lang="en-US" altLang="ko-KR" sz="8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• sympy 1.14.0</a:t>
            </a:r>
          </a:p>
          <a:p>
            <a:pPr>
              <a:spcAft>
                <a:spcPts val="100"/>
              </a:spcAft>
              <a:defRPr sz="780">
                <a:solidFill>
                  <a:srgbClr val="26272B"/>
                </a:solidFill>
                <a:latin typeface="Arial"/>
              </a:defRPr>
            </a:pPr>
            <a:r>
              <a:rPr lang="en-US" altLang="ko-KR" sz="8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• mpmath 1.3.0</a:t>
            </a:r>
          </a:p>
          <a:p>
            <a:pPr>
              <a:spcAft>
                <a:spcPts val="100"/>
              </a:spcAft>
              <a:defRPr sz="780">
                <a:solidFill>
                  <a:srgbClr val="26272B"/>
                </a:solidFill>
                <a:latin typeface="Arial"/>
              </a:defRPr>
            </a:pPr>
            <a:r>
              <a:rPr lang="en-US" altLang="ko-KR" sz="8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• contourpy 1.3.3</a:t>
            </a:r>
          </a:p>
          <a:p>
            <a:pPr>
              <a:spcAft>
                <a:spcPts val="100"/>
              </a:spcAft>
              <a:defRPr sz="780">
                <a:solidFill>
                  <a:srgbClr val="26272B"/>
                </a:solidFill>
                <a:latin typeface="Arial"/>
              </a:defRPr>
            </a:pPr>
            <a:r>
              <a:rPr lang="en-US" altLang="ko-KR" sz="8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• cycler 0.12.1</a:t>
            </a:r>
          </a:p>
          <a:p>
            <a:pPr>
              <a:spcAft>
                <a:spcPts val="100"/>
              </a:spcAft>
              <a:defRPr sz="780">
                <a:solidFill>
                  <a:srgbClr val="26272B"/>
                </a:solidFill>
                <a:latin typeface="Arial"/>
              </a:defRPr>
            </a:pPr>
            <a:r>
              <a:rPr lang="en-US" altLang="ko-KR" sz="8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• fonttools 4.63.0</a:t>
            </a:r>
          </a:p>
          <a:p>
            <a:pPr>
              <a:spcAft>
                <a:spcPts val="100"/>
              </a:spcAft>
              <a:defRPr sz="780">
                <a:solidFill>
                  <a:srgbClr val="26272B"/>
                </a:solidFill>
                <a:latin typeface="Arial"/>
              </a:defRPr>
            </a:pPr>
            <a:r>
              <a:rPr lang="en-US" altLang="ko-KR" sz="8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• fsspec 2026.6.0</a:t>
            </a:r>
          </a:p>
          <a:p>
            <a:pPr>
              <a:spcAft>
                <a:spcPts val="100"/>
              </a:spcAft>
              <a:defRPr sz="780">
                <a:solidFill>
                  <a:srgbClr val="26272B"/>
                </a:solidFill>
                <a:latin typeface="Arial"/>
              </a:defRPr>
            </a:pPr>
            <a:r>
              <a:rPr lang="en-US" altLang="ko-KR" sz="8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• filelock 3.29.4</a:t>
            </a:r>
          </a:p>
          <a:p>
            <a:pPr>
              <a:spcAft>
                <a:spcPts val="100"/>
              </a:spcAft>
              <a:defRPr sz="780">
                <a:solidFill>
                  <a:srgbClr val="26272B"/>
                </a:solidFill>
                <a:latin typeface="Arial"/>
              </a:defRPr>
            </a:pPr>
            <a:r>
              <a:rPr lang="en-US" altLang="ko-KR" sz="8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• flatbuffers 25.12.19</a:t>
            </a:r>
          </a:p>
          <a:p>
            <a:pPr>
              <a:spcAft>
                <a:spcPts val="100"/>
              </a:spcAft>
              <a:defRPr sz="780">
                <a:solidFill>
                  <a:srgbClr val="26272B"/>
                </a:solidFill>
                <a:latin typeface="Arial"/>
              </a:defRPr>
            </a:pPr>
            <a:r>
              <a:rPr lang="en-US" altLang="ko-KR" sz="8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• kiwisolver 1.5.0</a:t>
            </a:r>
          </a:p>
          <a:p>
            <a:pPr>
              <a:spcAft>
                <a:spcPts val="100"/>
              </a:spcAft>
              <a:defRPr sz="780">
                <a:solidFill>
                  <a:srgbClr val="26272B"/>
                </a:solidFill>
                <a:latin typeface="Arial"/>
              </a:defRPr>
            </a:pPr>
            <a:r>
              <a:rPr lang="en-US" altLang="ko-KR" sz="8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• lazy-loader 0.5</a:t>
            </a:r>
          </a:p>
          <a:p>
            <a:pPr>
              <a:spcAft>
                <a:spcPts val="100"/>
              </a:spcAft>
              <a:defRPr sz="780">
                <a:solidFill>
                  <a:srgbClr val="26272B"/>
                </a:solidFill>
                <a:latin typeface="Arial"/>
              </a:defRPr>
            </a:pPr>
            <a:r>
              <a:rPr lang="en-US" altLang="ko-KR" sz="8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• ml_dtypes 0.5.4</a:t>
            </a:r>
          </a:p>
          <a:p>
            <a:pPr>
              <a:spcAft>
                <a:spcPts val="100"/>
              </a:spcAft>
              <a:defRPr sz="780">
                <a:solidFill>
                  <a:srgbClr val="26272B"/>
                </a:solidFill>
                <a:latin typeface="Arial"/>
              </a:defRPr>
            </a:pPr>
            <a:r>
              <a:rPr lang="en-US" altLang="ko-KR" sz="8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• protobuf 7.35.1</a:t>
            </a:r>
          </a:p>
          <a:p>
            <a:pPr>
              <a:spcAft>
                <a:spcPts val="100"/>
              </a:spcAft>
              <a:defRPr sz="780">
                <a:solidFill>
                  <a:srgbClr val="26272B"/>
                </a:solidFill>
                <a:latin typeface="Arial"/>
              </a:defRPr>
            </a:pPr>
            <a:r>
              <a:rPr lang="en-US" altLang="ko-KR" sz="8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• pyparsing 3.3.2</a:t>
            </a:r>
            <a:endParaRPr sz="8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1" name="Google Shape;86;p13">
            <a:extLst>
              <a:ext uri="{FF2B5EF4-FFF2-40B4-BE49-F238E27FC236}">
                <a16:creationId xmlns:a16="http://schemas.microsoft.com/office/drawing/2014/main" id="{E04A4474-2736-C460-A196-B7B307E30FD3}"/>
              </a:ext>
            </a:extLst>
          </p:cNvPr>
          <p:cNvSpPr/>
          <p:nvPr/>
        </p:nvSpPr>
        <p:spPr>
          <a:xfrm>
            <a:off x="771525" y="1365795"/>
            <a:ext cx="106489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Calibri"/>
              <a:sym typeface="Calibri"/>
            </a:endParaRPr>
          </a:p>
        </p:txBody>
      </p:sp>
      <p:sp>
        <p:nvSpPr>
          <p:cNvPr id="12" name="Google Shape;179;p16">
            <a:extLst>
              <a:ext uri="{FF2B5EF4-FFF2-40B4-BE49-F238E27FC236}">
                <a16:creationId xmlns:a16="http://schemas.microsoft.com/office/drawing/2014/main" id="{C61A91A3-870B-7D10-34CB-703CF2F67625}"/>
              </a:ext>
            </a:extLst>
          </p:cNvPr>
          <p:cNvSpPr txBox="1"/>
          <p:nvPr/>
        </p:nvSpPr>
        <p:spPr>
          <a:xfrm>
            <a:off x="771525" y="581025"/>
            <a:ext cx="11181397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altLang="ko-KR" sz="2850" b="1" dirty="0" smtClean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Poppins Black"/>
              </a:rPr>
              <a:t>04. </a:t>
            </a:r>
            <a:r>
              <a:rPr lang="ko-KR" altLang="en-US" sz="2850" b="1" dirty="0" smtClean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Poppins Black"/>
              </a:rPr>
              <a:t>사용 툴 및 개발 환경</a:t>
            </a:r>
            <a:endParaRPr lang="ko-KR" altLang="en-US" sz="2850" b="1" dirty="0">
              <a:solidFill>
                <a:srgbClr val="0F172A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Poppins Black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606641" y="1375321"/>
            <a:ext cx="10979123" cy="479687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" name="직선 연결선 13"/>
          <p:cNvCxnSpPr/>
          <p:nvPr/>
        </p:nvCxnSpPr>
        <p:spPr>
          <a:xfrm flipV="1">
            <a:off x="606641" y="1145219"/>
            <a:ext cx="10979123" cy="9327"/>
          </a:xfrm>
          <a:prstGeom prst="line">
            <a:avLst/>
          </a:prstGeom>
          <a:ln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200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Connector 5"/>
          <p:cNvCxnSpPr/>
          <p:nvPr/>
        </p:nvCxnSpPr>
        <p:spPr>
          <a:xfrm>
            <a:off x="1501902" y="3394860"/>
            <a:ext cx="795528" cy="0"/>
          </a:xfrm>
          <a:prstGeom prst="line">
            <a:avLst/>
          </a:prstGeom>
          <a:ln w="15875">
            <a:solidFill>
              <a:srgbClr val="1443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Isosceles Triangle 6"/>
          <p:cNvSpPr/>
          <p:nvPr/>
        </p:nvSpPr>
        <p:spPr>
          <a:xfrm rot="5400000">
            <a:off x="2233422" y="3330852"/>
            <a:ext cx="128016" cy="128016"/>
          </a:xfrm>
          <a:prstGeom prst="triangle">
            <a:avLst/>
          </a:prstGeom>
          <a:solidFill>
            <a:srgbClr val="1443F0"/>
          </a:solidFill>
          <a:ln>
            <a:solidFill>
              <a:srgbClr val="144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3495294" y="3394860"/>
            <a:ext cx="896112" cy="0"/>
          </a:xfrm>
          <a:prstGeom prst="line">
            <a:avLst/>
          </a:prstGeom>
          <a:ln w="15875">
            <a:solidFill>
              <a:srgbClr val="1443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Isosceles Triangle 8"/>
          <p:cNvSpPr/>
          <p:nvPr/>
        </p:nvSpPr>
        <p:spPr>
          <a:xfrm rot="5400000">
            <a:off x="4327398" y="3330852"/>
            <a:ext cx="128016" cy="128016"/>
          </a:xfrm>
          <a:prstGeom prst="triangle">
            <a:avLst/>
          </a:prstGeom>
          <a:solidFill>
            <a:srgbClr val="1443F0"/>
          </a:solidFill>
          <a:ln>
            <a:solidFill>
              <a:srgbClr val="144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cxnSp>
        <p:nvCxnSpPr>
          <p:cNvPr id="10" name="Connector 9"/>
          <p:cNvCxnSpPr/>
          <p:nvPr/>
        </p:nvCxnSpPr>
        <p:spPr>
          <a:xfrm flipV="1">
            <a:off x="5497830" y="2068980"/>
            <a:ext cx="960120" cy="658368"/>
          </a:xfrm>
          <a:prstGeom prst="line">
            <a:avLst/>
          </a:prstGeom>
          <a:ln w="15875">
            <a:solidFill>
              <a:srgbClr val="1443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10"/>
          <p:cNvSpPr/>
          <p:nvPr/>
        </p:nvSpPr>
        <p:spPr>
          <a:xfrm rot="3333661">
            <a:off x="6393942" y="2004972"/>
            <a:ext cx="128016" cy="128016"/>
          </a:xfrm>
          <a:prstGeom prst="triangle">
            <a:avLst/>
          </a:prstGeom>
          <a:solidFill>
            <a:srgbClr val="1443F0"/>
          </a:solidFill>
          <a:ln>
            <a:solidFill>
              <a:srgbClr val="144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5497830" y="3394860"/>
            <a:ext cx="960120" cy="0"/>
          </a:xfrm>
          <a:prstGeom prst="line">
            <a:avLst/>
          </a:prstGeom>
          <a:ln w="15875">
            <a:solidFill>
              <a:srgbClr val="1443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Isosceles Triangle 12"/>
          <p:cNvSpPr/>
          <p:nvPr/>
        </p:nvSpPr>
        <p:spPr>
          <a:xfrm rot="5400000">
            <a:off x="6393942" y="3330852"/>
            <a:ext cx="128016" cy="128016"/>
          </a:xfrm>
          <a:prstGeom prst="triangle">
            <a:avLst/>
          </a:prstGeom>
          <a:solidFill>
            <a:srgbClr val="1443F0"/>
          </a:solidFill>
          <a:ln>
            <a:solidFill>
              <a:srgbClr val="144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cxnSp>
        <p:nvCxnSpPr>
          <p:cNvPr id="14" name="Connector 13"/>
          <p:cNvCxnSpPr/>
          <p:nvPr/>
        </p:nvCxnSpPr>
        <p:spPr>
          <a:xfrm>
            <a:off x="5497830" y="4044084"/>
            <a:ext cx="960120" cy="630936"/>
          </a:xfrm>
          <a:prstGeom prst="line">
            <a:avLst/>
          </a:prstGeom>
          <a:ln w="15875">
            <a:solidFill>
              <a:srgbClr val="1443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Isosceles Triangle 14"/>
          <p:cNvSpPr/>
          <p:nvPr/>
        </p:nvSpPr>
        <p:spPr>
          <a:xfrm rot="7398638">
            <a:off x="6393942" y="4611012"/>
            <a:ext cx="128016" cy="128016"/>
          </a:xfrm>
          <a:prstGeom prst="triangle">
            <a:avLst/>
          </a:prstGeom>
          <a:solidFill>
            <a:srgbClr val="1443F0"/>
          </a:solidFill>
          <a:ln>
            <a:solidFill>
              <a:srgbClr val="144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7975854" y="3394860"/>
            <a:ext cx="841248" cy="0"/>
          </a:xfrm>
          <a:prstGeom prst="line">
            <a:avLst/>
          </a:prstGeom>
          <a:ln w="15875">
            <a:solidFill>
              <a:srgbClr val="1443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Isosceles Triangle 16"/>
          <p:cNvSpPr/>
          <p:nvPr/>
        </p:nvSpPr>
        <p:spPr>
          <a:xfrm rot="5400000">
            <a:off x="8753094" y="3330852"/>
            <a:ext cx="128016" cy="128016"/>
          </a:xfrm>
          <a:prstGeom prst="triangle">
            <a:avLst/>
          </a:prstGeom>
          <a:solidFill>
            <a:srgbClr val="1443F0"/>
          </a:solidFill>
          <a:ln>
            <a:solidFill>
              <a:srgbClr val="144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7463790" y="5068212"/>
            <a:ext cx="0" cy="521208"/>
          </a:xfrm>
          <a:prstGeom prst="line">
            <a:avLst/>
          </a:prstGeom>
          <a:ln w="13970">
            <a:solidFill>
              <a:srgbClr val="1443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Isosceles Triangle 18"/>
          <p:cNvSpPr/>
          <p:nvPr/>
        </p:nvSpPr>
        <p:spPr>
          <a:xfrm rot="10800000">
            <a:off x="7399781" y="5525412"/>
            <a:ext cx="128016" cy="128016"/>
          </a:xfrm>
          <a:prstGeom prst="triangle">
            <a:avLst/>
          </a:prstGeom>
          <a:solidFill>
            <a:srgbClr val="1443F0"/>
          </a:solidFill>
          <a:ln>
            <a:solidFill>
              <a:srgbClr val="144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cxnSp>
        <p:nvCxnSpPr>
          <p:cNvPr id="20" name="Connector 19"/>
          <p:cNvCxnSpPr/>
          <p:nvPr/>
        </p:nvCxnSpPr>
        <p:spPr>
          <a:xfrm>
            <a:off x="9914382" y="4217820"/>
            <a:ext cx="0" cy="1371600"/>
          </a:xfrm>
          <a:prstGeom prst="line">
            <a:avLst/>
          </a:prstGeom>
          <a:ln w="13970">
            <a:solidFill>
              <a:srgbClr val="1443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Isosceles Triangle 20"/>
          <p:cNvSpPr/>
          <p:nvPr/>
        </p:nvSpPr>
        <p:spPr>
          <a:xfrm rot="10800000">
            <a:off x="9850374" y="5525412"/>
            <a:ext cx="128016" cy="128016"/>
          </a:xfrm>
          <a:prstGeom prst="triangle">
            <a:avLst/>
          </a:prstGeom>
          <a:solidFill>
            <a:srgbClr val="1443F0"/>
          </a:solidFill>
          <a:ln>
            <a:solidFill>
              <a:srgbClr val="144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cxnSp>
        <p:nvCxnSpPr>
          <p:cNvPr id="22" name="Connector 21"/>
          <p:cNvCxnSpPr/>
          <p:nvPr/>
        </p:nvCxnSpPr>
        <p:spPr>
          <a:xfrm flipH="1">
            <a:off x="8012429" y="4217820"/>
            <a:ext cx="1901953" cy="1371600"/>
          </a:xfrm>
          <a:prstGeom prst="line">
            <a:avLst/>
          </a:prstGeom>
          <a:ln w="12700">
            <a:solidFill>
              <a:srgbClr val="1443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Isosceles Triangle 22"/>
          <p:cNvSpPr/>
          <p:nvPr/>
        </p:nvSpPr>
        <p:spPr>
          <a:xfrm rot="14052156">
            <a:off x="7948421" y="5525412"/>
            <a:ext cx="128016" cy="128016"/>
          </a:xfrm>
          <a:prstGeom prst="triangle">
            <a:avLst/>
          </a:prstGeom>
          <a:solidFill>
            <a:srgbClr val="1443F0"/>
          </a:solidFill>
          <a:ln>
            <a:solidFill>
              <a:srgbClr val="144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87502" y="2827932"/>
            <a:ext cx="987552" cy="11338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1800" b="1">
                <a:solidFill>
                  <a:srgbClr val="1443F0"/>
                </a:solidFill>
                <a:latin typeface="Segoe UI Symbol"/>
              </a:defRPr>
            </a:pPr>
            <a:r>
              <a:rPr lang="ko-KR" altLang="en-US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●</a:t>
            </a:r>
          </a:p>
          <a:p>
            <a:pPr algn="ctr">
              <a:defRPr sz="1300" b="1">
                <a:solidFill>
                  <a:srgbClr val="26272B"/>
                </a:solidFill>
                <a:latin typeface="Malgun Gothic"/>
              </a:defRPr>
            </a:pPr>
            <a:r>
              <a:rPr lang="ko-KR" altLang="en-US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사용자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388870" y="2827932"/>
            <a:ext cx="1243584" cy="11338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1800" b="1">
                <a:solidFill>
                  <a:srgbClr val="1443F0"/>
                </a:solidFill>
                <a:latin typeface="Segoe UI Symbol"/>
              </a:defRPr>
            </a:pPr>
            <a:r>
              <a:rPr lang="ko-KR" altLang="en-US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▣</a:t>
            </a:r>
          </a:p>
          <a:p>
            <a:pPr algn="ctr">
              <a:defRPr sz="1140" b="1">
                <a:solidFill>
                  <a:srgbClr val="26272B"/>
                </a:solidFill>
                <a:latin typeface="Malgun Gothic"/>
              </a:defRPr>
            </a:pPr>
            <a:r>
              <a:rPr lang="ko-KR" altLang="en-US" sz="1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웹 브라우저</a:t>
            </a:r>
            <a:br>
              <a:rPr lang="ko-KR" altLang="en-US" sz="1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</a:br>
            <a:r>
              <a:rPr lang="en-US" altLang="ko-KR" sz="1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(</a:t>
            </a:r>
            <a:r>
              <a:rPr lang="ko-KR" altLang="en-US" sz="1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사용자 화면</a:t>
            </a:r>
            <a:r>
              <a:rPr lang="en-US" altLang="ko-KR" sz="1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73118" y="2599332"/>
            <a:ext cx="1261872" cy="1591056"/>
          </a:xfrm>
          <a:prstGeom prst="roundRect">
            <a:avLst/>
          </a:prstGeom>
          <a:solidFill>
            <a:srgbClr val="1443F0"/>
          </a:solidFill>
          <a:ln w="12700"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1800" b="1">
                <a:solidFill>
                  <a:srgbClr val="FFFFFF"/>
                </a:solidFill>
                <a:latin typeface="Malgun Gothic"/>
              </a:defRPr>
            </a:pPr>
            <a:r>
              <a: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Flask</a:t>
            </a:r>
            <a:br>
              <a: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</a:br>
            <a:r>
              <a:rPr lang="ko-KR" altLang="en-US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웹 서버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03670" y="1721508"/>
            <a:ext cx="1901952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1800" b="1">
                <a:solidFill>
                  <a:srgbClr val="1443F0"/>
                </a:solidFill>
                <a:latin typeface="Segoe UI Symbol"/>
              </a:defRPr>
            </a:pPr>
            <a:r>
              <a:rPr lang="ko-KR" altLang="en-US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●</a:t>
            </a:r>
          </a:p>
          <a:p>
            <a:pPr algn="ctr">
              <a:defRPr sz="1300" b="1">
                <a:solidFill>
                  <a:srgbClr val="26272B"/>
                </a:solidFill>
                <a:latin typeface="Malgun Gothic"/>
              </a:defRPr>
            </a:pPr>
            <a:r>
              <a:rPr lang="ko-KR" altLang="en-US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계정 </a:t>
            </a:r>
            <a:r>
              <a: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/ </a:t>
            </a:r>
            <a:r>
              <a:rPr lang="ko-KR" altLang="en-US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회원 관리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03670" y="3056532"/>
            <a:ext cx="1901952" cy="676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1800" b="1">
                <a:solidFill>
                  <a:srgbClr val="1443F0"/>
                </a:solidFill>
                <a:latin typeface="Segoe UI Symbol"/>
              </a:defRPr>
            </a:pPr>
            <a:r>
              <a:rPr lang="ko-KR" altLang="en-US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▣</a:t>
            </a:r>
          </a:p>
          <a:p>
            <a:pPr algn="ctr">
              <a:defRPr sz="1300" b="1">
                <a:solidFill>
                  <a:srgbClr val="26272B"/>
                </a:solidFill>
                <a:latin typeface="Malgun Gothic"/>
              </a:defRPr>
            </a:pPr>
            <a:r>
              <a:rPr lang="ko-KR" altLang="en-US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실시간 관제</a:t>
            </a:r>
            <a:endParaRPr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6503670" y="4400700"/>
            <a:ext cx="1901952" cy="8595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1120" b="1">
                <a:solidFill>
                  <a:srgbClr val="26272B"/>
                </a:solidFill>
                <a:latin typeface="Malgun Gothic"/>
              </a:defRPr>
            </a:pPr>
            <a:r>
              <a:rPr lang="en-US" altLang="ko-KR" sz="1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JSON </a:t>
            </a:r>
            <a:r>
              <a:rPr lang="ko-KR" altLang="en-US" sz="1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저장소</a:t>
            </a:r>
            <a:br>
              <a:rPr lang="ko-KR" altLang="en-US" sz="1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</a:br>
            <a:r>
              <a:rPr lang="ko-KR" altLang="en-US" sz="1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로그 </a:t>
            </a:r>
            <a:r>
              <a:rPr lang="en-US" altLang="ko-KR" sz="1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· </a:t>
            </a:r>
            <a:r>
              <a:rPr lang="ko-KR" altLang="en-US" sz="1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대상자 </a:t>
            </a:r>
            <a:r>
              <a:rPr lang="en-US" altLang="ko-KR" sz="1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· </a:t>
            </a:r>
            <a:r>
              <a:rPr lang="ko-KR" altLang="en-US" sz="1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계정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72550" y="2389020"/>
            <a:ext cx="2587752" cy="18288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7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118872" rIns="73152" rtlCol="0" anchor="ctr"/>
          <a:lstStyle/>
          <a:p>
            <a:pPr algn="ctr">
              <a:defRPr sz="1400" b="1">
                <a:solidFill>
                  <a:srgbClr val="1443F0"/>
                </a:solidFill>
                <a:latin typeface="Malgun Gothic"/>
              </a:defRPr>
            </a:pPr>
            <a:r>
              <a:rPr lang="en-US" altLang="ko-KR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AI </a:t>
            </a:r>
            <a:r>
              <a:rPr lang="ko-KR" altLang="en-US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분석 엔진</a:t>
            </a:r>
          </a:p>
          <a:p>
            <a:pPr algn="ctr">
              <a:defRPr sz="1050">
                <a:solidFill>
                  <a:srgbClr val="26272B"/>
                </a:solidFill>
                <a:latin typeface="Arial"/>
              </a:defRPr>
            </a:pPr>
            <a:r>
              <a:rPr lang="en-US" altLang="ko-KR" sz="11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OpenCV   YOLO   InsightFace</a:t>
            </a:r>
          </a:p>
          <a:p>
            <a:pPr algn="ctr">
              <a:defRPr sz="1050">
                <a:solidFill>
                  <a:srgbClr val="71747B"/>
                </a:solidFill>
                <a:latin typeface="Malgun Gothic"/>
              </a:defRPr>
            </a:pPr>
            <a:r>
              <a:rPr lang="ko-KR" altLang="en-US" sz="11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사람 탐지 </a:t>
            </a:r>
            <a:r>
              <a:rPr lang="en-US" altLang="ko-KR" sz="11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· </a:t>
            </a:r>
            <a:r>
              <a:rPr lang="ko-KR" altLang="en-US" sz="11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추적 </a:t>
            </a:r>
            <a:r>
              <a:rPr lang="en-US" altLang="ko-KR" sz="11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· </a:t>
            </a:r>
            <a:r>
              <a:rPr lang="ko-KR" altLang="en-US" sz="11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얼굴 인식</a:t>
            </a:r>
            <a:endParaRPr sz="11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6046470" y="5763156"/>
            <a:ext cx="141732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1800" b="1">
                <a:solidFill>
                  <a:srgbClr val="1443F0"/>
                </a:solidFill>
                <a:latin typeface="Segoe UI Symbol"/>
              </a:defRPr>
            </a:pPr>
            <a:r>
              <a:rPr lang="ko-KR" altLang="en-US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▥</a:t>
            </a:r>
          </a:p>
          <a:p>
            <a:pPr algn="ctr">
              <a:defRPr sz="1220" b="1">
                <a:solidFill>
                  <a:srgbClr val="26272B"/>
                </a:solidFill>
                <a:latin typeface="Malgun Gothic"/>
              </a:defRPr>
            </a:pPr>
            <a:r>
              <a:rPr lang="ko-KR" altLang="en-US" sz="1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대시보드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527797" y="5763156"/>
            <a:ext cx="1444752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1800" b="1">
                <a:solidFill>
                  <a:srgbClr val="1443F0"/>
                </a:solidFill>
                <a:latin typeface="Segoe UI Symbol"/>
              </a:defRPr>
            </a:pPr>
            <a:r>
              <a:rPr lang="ko-KR" altLang="en-US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◔</a:t>
            </a:r>
          </a:p>
          <a:p>
            <a:pPr algn="ctr">
              <a:defRPr sz="1220" b="1">
                <a:solidFill>
                  <a:srgbClr val="26272B"/>
                </a:solidFill>
                <a:latin typeface="Malgun Gothic"/>
              </a:defRPr>
            </a:pPr>
            <a:r>
              <a:rPr lang="ko-KR" altLang="en-US" sz="1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알림 </a:t>
            </a:r>
            <a:r>
              <a:rPr lang="en-US" altLang="ko-KR" sz="1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/ </a:t>
            </a:r>
            <a:r>
              <a:rPr lang="ko-KR" altLang="en-US" sz="1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로그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205722" y="5744867"/>
            <a:ext cx="141732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A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tIns="36576" rIns="73152" bIns="36576" rtlCol="0" anchor="ctr"/>
          <a:lstStyle/>
          <a:p>
            <a:pPr algn="ctr">
              <a:defRPr sz="1800" b="1">
                <a:solidFill>
                  <a:srgbClr val="1443F0"/>
                </a:solidFill>
                <a:latin typeface="Segoe UI Symbol"/>
              </a:defRPr>
            </a:pPr>
            <a:r>
              <a:rPr lang="ko-KR" altLang="en-US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◎</a:t>
            </a:r>
          </a:p>
          <a:p>
            <a:pPr algn="ctr">
              <a:defRPr sz="1220" b="1">
                <a:solidFill>
                  <a:srgbClr val="26272B"/>
                </a:solidFill>
                <a:latin typeface="Malgun Gothic"/>
              </a:defRPr>
            </a:pPr>
            <a:r>
              <a:rPr lang="ko-KR" altLang="en-US" sz="1200" dirty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탐지 결과</a:t>
            </a:r>
          </a:p>
        </p:txBody>
      </p:sp>
      <p:sp>
        <p:nvSpPr>
          <p:cNvPr id="35" name="Google Shape;86;p13">
            <a:extLst>
              <a:ext uri="{FF2B5EF4-FFF2-40B4-BE49-F238E27FC236}">
                <a16:creationId xmlns:a16="http://schemas.microsoft.com/office/drawing/2014/main" id="{E04A4474-2736-C460-A196-B7B307E30FD3}"/>
              </a:ext>
            </a:extLst>
          </p:cNvPr>
          <p:cNvSpPr/>
          <p:nvPr/>
        </p:nvSpPr>
        <p:spPr>
          <a:xfrm>
            <a:off x="771525" y="1365795"/>
            <a:ext cx="106489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Calibri"/>
              <a:sym typeface="Calibri"/>
            </a:endParaRPr>
          </a:p>
        </p:txBody>
      </p:sp>
      <p:sp>
        <p:nvSpPr>
          <p:cNvPr id="36" name="Google Shape;179;p16">
            <a:extLst>
              <a:ext uri="{FF2B5EF4-FFF2-40B4-BE49-F238E27FC236}">
                <a16:creationId xmlns:a16="http://schemas.microsoft.com/office/drawing/2014/main" id="{C61A91A3-870B-7D10-34CB-703CF2F67625}"/>
              </a:ext>
            </a:extLst>
          </p:cNvPr>
          <p:cNvSpPr txBox="1"/>
          <p:nvPr/>
        </p:nvSpPr>
        <p:spPr>
          <a:xfrm>
            <a:off x="771525" y="581025"/>
            <a:ext cx="11181397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altLang="ko-KR" sz="2850" b="1" dirty="0" smtClean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Poppins Black"/>
              </a:rPr>
              <a:t>04. </a:t>
            </a:r>
            <a:r>
              <a:rPr lang="ko-KR" altLang="en-US" sz="2850" b="1" dirty="0" smtClean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Poppins Black"/>
              </a:rPr>
              <a:t>사용 툴 및 개발 환경</a:t>
            </a:r>
            <a:endParaRPr lang="ko-KR" altLang="en-US" sz="2850" b="1" dirty="0">
              <a:solidFill>
                <a:srgbClr val="0F172A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Poppins Black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606641" y="1375321"/>
            <a:ext cx="10979123" cy="479687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8" name="직선 연결선 37"/>
          <p:cNvCxnSpPr/>
          <p:nvPr/>
        </p:nvCxnSpPr>
        <p:spPr>
          <a:xfrm flipV="1">
            <a:off x="606641" y="1145219"/>
            <a:ext cx="10979123" cy="9327"/>
          </a:xfrm>
          <a:prstGeom prst="line">
            <a:avLst/>
          </a:prstGeom>
          <a:ln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98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hape 20"/>
          <p:cNvSpPr>
            <a:spLocks noChangeAspect="1"/>
          </p:cNvSpPr>
          <p:nvPr/>
        </p:nvSpPr>
        <p:spPr>
          <a:xfrm>
            <a:off x="6367128" y="3911229"/>
            <a:ext cx="1548000" cy="1660105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25400" dist="50800" dir="2700000" algn="bl" rotWithShape="0">
              <a:srgbClr val="9CA3AF">
                <a:alpha val="12000"/>
              </a:srgbClr>
            </a:outerShdw>
          </a:effectLst>
        </p:spPr>
      </p:sp>
      <p:sp>
        <p:nvSpPr>
          <p:cNvPr id="31" name="TextBox 30"/>
          <p:cNvSpPr txBox="1"/>
          <p:nvPr/>
        </p:nvSpPr>
        <p:spPr>
          <a:xfrm>
            <a:off x="6564687" y="5007621"/>
            <a:ext cx="11528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i="1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데이터 기반</a:t>
            </a:r>
            <a:endParaRPr lang="en-US" altLang="ko-KR" i="1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ctr"/>
            <a:r>
              <a:rPr lang="ko-KR" altLang="en-US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의사결정 지원</a:t>
            </a:r>
            <a:endParaRPr lang="ko-KR" altLang="en-US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625" t="17813" r="2500" b="71875"/>
          <a:stretch/>
        </p:blipFill>
        <p:spPr>
          <a:xfrm>
            <a:off x="6622421" y="3958016"/>
            <a:ext cx="1037414" cy="1078218"/>
          </a:xfrm>
          <a:prstGeom prst="rect">
            <a:avLst/>
          </a:prstGeom>
        </p:spPr>
      </p:pic>
      <p:sp>
        <p:nvSpPr>
          <p:cNvPr id="72" name="Shape 20"/>
          <p:cNvSpPr>
            <a:spLocks noChangeAspect="1"/>
          </p:cNvSpPr>
          <p:nvPr/>
        </p:nvSpPr>
        <p:spPr>
          <a:xfrm>
            <a:off x="8073799" y="3910417"/>
            <a:ext cx="1548000" cy="1660105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25400" dist="50800" dir="2700000" algn="bl" rotWithShape="0">
              <a:srgbClr val="9CA3AF">
                <a:alpha val="12000"/>
              </a:srgbClr>
            </a:outerShdw>
          </a:effectLst>
        </p:spPr>
      </p:sp>
      <p:sp>
        <p:nvSpPr>
          <p:cNvPr id="73" name="Shape 20"/>
          <p:cNvSpPr>
            <a:spLocks noChangeAspect="1"/>
          </p:cNvSpPr>
          <p:nvPr/>
        </p:nvSpPr>
        <p:spPr>
          <a:xfrm>
            <a:off x="9780470" y="3905302"/>
            <a:ext cx="1548000" cy="1660105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25400" dist="50800" dir="2700000" algn="bl" rotWithShape="0">
              <a:srgbClr val="9CA3AF">
                <a:alpha val="12000"/>
              </a:srgbClr>
            </a:outerShdw>
          </a:effectLst>
        </p:spPr>
      </p:sp>
      <p:sp>
        <p:nvSpPr>
          <p:cNvPr id="63" name="Shape 20"/>
          <p:cNvSpPr>
            <a:spLocks noChangeAspect="1"/>
          </p:cNvSpPr>
          <p:nvPr/>
        </p:nvSpPr>
        <p:spPr>
          <a:xfrm>
            <a:off x="6367128" y="2066732"/>
            <a:ext cx="1548000" cy="1660105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25400" dist="50800" dir="2700000" algn="bl" rotWithShape="0">
              <a:srgbClr val="9CA3AF">
                <a:alpha val="12000"/>
              </a:srgbClr>
            </a:outerShdw>
          </a:effectLst>
        </p:spPr>
      </p:sp>
      <p:sp>
        <p:nvSpPr>
          <p:cNvPr id="64" name="Shape 20"/>
          <p:cNvSpPr>
            <a:spLocks noChangeAspect="1"/>
          </p:cNvSpPr>
          <p:nvPr/>
        </p:nvSpPr>
        <p:spPr>
          <a:xfrm>
            <a:off x="8073799" y="2065920"/>
            <a:ext cx="1548000" cy="1660105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25400" dist="50800" dir="2700000" algn="bl" rotWithShape="0">
              <a:srgbClr val="9CA3AF">
                <a:alpha val="12000"/>
              </a:srgbClr>
            </a:outerShdw>
          </a:effectLst>
        </p:spPr>
      </p:sp>
      <p:sp>
        <p:nvSpPr>
          <p:cNvPr id="65" name="Shape 20"/>
          <p:cNvSpPr>
            <a:spLocks noChangeAspect="1"/>
          </p:cNvSpPr>
          <p:nvPr/>
        </p:nvSpPr>
        <p:spPr>
          <a:xfrm>
            <a:off x="9780470" y="2060805"/>
            <a:ext cx="1548000" cy="1660105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25400" dist="50800" dir="2700000" algn="bl" rotWithShape="0">
              <a:srgbClr val="9CA3AF">
                <a:alpha val="12000"/>
              </a:srgbClr>
            </a:outerShdw>
          </a:effectLst>
        </p:spPr>
      </p:sp>
      <p:sp>
        <p:nvSpPr>
          <p:cNvPr id="61" name="Shape 20"/>
          <p:cNvSpPr>
            <a:spLocks noChangeAspect="1"/>
          </p:cNvSpPr>
          <p:nvPr/>
        </p:nvSpPr>
        <p:spPr>
          <a:xfrm>
            <a:off x="1588198" y="3868530"/>
            <a:ext cx="1656000" cy="1719470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25400" dist="50800" dir="2700000" algn="bl" rotWithShape="0">
              <a:srgbClr val="9CA3AF">
                <a:alpha val="12000"/>
              </a:srgbClr>
            </a:outerShdw>
          </a:effectLst>
        </p:spPr>
      </p:sp>
      <p:sp>
        <p:nvSpPr>
          <p:cNvPr id="21" name="TextBox 20"/>
          <p:cNvSpPr txBox="1"/>
          <p:nvPr/>
        </p:nvSpPr>
        <p:spPr>
          <a:xfrm>
            <a:off x="1894260" y="5048114"/>
            <a:ext cx="10438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대규모 행사</a:t>
            </a:r>
            <a:endParaRPr lang="en-US" altLang="ko-KR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ctr"/>
            <a:r>
              <a:rPr lang="ko-KR" altLang="en-US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및 시설 보안</a:t>
            </a:r>
            <a:endParaRPr lang="ko-KR" altLang="en-US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60" name="Shape 20"/>
          <p:cNvSpPr>
            <a:spLocks noChangeAspect="1"/>
          </p:cNvSpPr>
          <p:nvPr/>
        </p:nvSpPr>
        <p:spPr>
          <a:xfrm>
            <a:off x="3436855" y="3868530"/>
            <a:ext cx="1656000" cy="1719470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25400" dist="50800" dir="2700000" algn="bl" rotWithShape="0">
              <a:srgbClr val="9CA3AF">
                <a:alpha val="12000"/>
              </a:srgbClr>
            </a:outerShdw>
          </a:effectLst>
        </p:spPr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688" t="17813" r="18437" b="71875"/>
          <a:stretch/>
        </p:blipFill>
        <p:spPr>
          <a:xfrm>
            <a:off x="10035762" y="3983216"/>
            <a:ext cx="1037414" cy="1078218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250" t="24844" r="61875" b="66250"/>
          <a:stretch/>
        </p:blipFill>
        <p:spPr>
          <a:xfrm>
            <a:off x="1785560" y="3936971"/>
            <a:ext cx="1261277" cy="1132129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313" t="23906" r="52812" b="65781"/>
          <a:stretch/>
        </p:blipFill>
        <p:spPr>
          <a:xfrm>
            <a:off x="3723601" y="3936971"/>
            <a:ext cx="1089285" cy="1132129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854" t="17813" r="42500" b="71973"/>
          <a:stretch/>
        </p:blipFill>
        <p:spPr>
          <a:xfrm>
            <a:off x="6632389" y="2113519"/>
            <a:ext cx="1012475" cy="1078218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786" t="17716" r="34651" b="71874"/>
          <a:stretch/>
        </p:blipFill>
        <p:spPr>
          <a:xfrm>
            <a:off x="8357009" y="2113519"/>
            <a:ext cx="980970" cy="1078218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719" t="18073" r="26406" b="71614"/>
          <a:stretch/>
        </p:blipFill>
        <p:spPr>
          <a:xfrm>
            <a:off x="10035763" y="2136840"/>
            <a:ext cx="1037414" cy="1078218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812" t="17813" r="10625" b="71875"/>
          <a:stretch/>
        </p:blipFill>
        <p:spPr>
          <a:xfrm>
            <a:off x="8352669" y="3955413"/>
            <a:ext cx="990260" cy="1078218"/>
          </a:xfrm>
          <a:prstGeom prst="rect">
            <a:avLst/>
          </a:prstGeom>
        </p:spPr>
      </p:pic>
      <p:sp>
        <p:nvSpPr>
          <p:cNvPr id="51" name="Shape 20"/>
          <p:cNvSpPr>
            <a:spLocks noChangeAspect="1"/>
          </p:cNvSpPr>
          <p:nvPr/>
        </p:nvSpPr>
        <p:spPr>
          <a:xfrm>
            <a:off x="671809" y="2089379"/>
            <a:ext cx="1656000" cy="1719470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25400" dist="50800" dir="2700000" algn="bl" rotWithShape="0">
              <a:srgbClr val="9CA3AF">
                <a:alpha val="12000"/>
              </a:srgbClr>
            </a:outerShdw>
          </a:effectLst>
        </p:spPr>
      </p:sp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12" t="23906" r="89688" b="65313"/>
          <a:stretch/>
        </p:blipFill>
        <p:spPr>
          <a:xfrm>
            <a:off x="926032" y="2174940"/>
            <a:ext cx="1136646" cy="113212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92927" y="3256269"/>
            <a:ext cx="9989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i="1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실시간</a:t>
            </a:r>
            <a:r>
              <a:rPr lang="ko-KR" altLang="en-US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관제</a:t>
            </a:r>
            <a:endParaRPr lang="en-US" altLang="ko-KR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ctr"/>
            <a:r>
              <a:rPr lang="ko-KR" altLang="en-US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시스템</a:t>
            </a:r>
            <a:endParaRPr lang="ko-KR" altLang="en-US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52" name="Shape 20"/>
          <p:cNvSpPr>
            <a:spLocks noChangeAspect="1"/>
          </p:cNvSpPr>
          <p:nvPr/>
        </p:nvSpPr>
        <p:spPr>
          <a:xfrm>
            <a:off x="2511103" y="2082732"/>
            <a:ext cx="1656000" cy="1719470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25400" dist="50800" dir="2700000" algn="bl" rotWithShape="0">
              <a:srgbClr val="9CA3AF">
                <a:alpha val="12000"/>
              </a:srgbClr>
            </a:outerShdw>
          </a:effectLst>
        </p:spPr>
      </p:sp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88" t="24844" r="79374" b="65312"/>
          <a:stretch/>
        </p:blipFill>
        <p:spPr>
          <a:xfrm>
            <a:off x="2636988" y="2193155"/>
            <a:ext cx="1400512" cy="113212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837498" y="3250825"/>
            <a:ext cx="9989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재난</a:t>
            </a:r>
            <a:r>
              <a:rPr lang="en-US" altLang="ko-KR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·</a:t>
            </a:r>
            <a:r>
              <a:rPr lang="ko-KR" altLang="en-US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재해</a:t>
            </a:r>
            <a:endParaRPr lang="en-US" altLang="ko-KR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ctr"/>
            <a:r>
              <a:rPr lang="ko-KR" altLang="en-US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실종자 수색</a:t>
            </a:r>
            <a:endParaRPr lang="ko-KR" altLang="en-US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691577" y="5050263"/>
            <a:ext cx="11528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국가 및 국방</a:t>
            </a:r>
            <a:endParaRPr lang="en-US" altLang="ko-KR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ctr"/>
            <a:r>
              <a:rPr lang="ko-KR" altLang="en-US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중요시설 </a:t>
            </a:r>
            <a:r>
              <a:rPr lang="ko-KR" altLang="en-US" i="1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보안</a:t>
            </a:r>
            <a:endParaRPr lang="ko-KR" altLang="en-US" i="1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619190" y="3163125"/>
            <a:ext cx="10438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i="1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신속한</a:t>
            </a:r>
            <a:r>
              <a:rPr lang="ko-KR" altLang="en-US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 대상</a:t>
            </a:r>
            <a:endParaRPr lang="en-US" altLang="ko-KR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ctr"/>
            <a:r>
              <a:rPr lang="ko-KR" altLang="en-US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식별 및 대응</a:t>
            </a:r>
            <a:endParaRPr lang="ko-KR" altLang="en-US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426379" y="3191737"/>
            <a:ext cx="8451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관제 업무</a:t>
            </a:r>
            <a:endParaRPr lang="en-US" altLang="ko-KR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ctr"/>
            <a:r>
              <a:rPr lang="ko-KR" altLang="en-US" i="1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자동화</a:t>
            </a:r>
            <a:endParaRPr lang="ko-KR" altLang="en-US" i="1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0054974" y="3163125"/>
            <a:ext cx="9989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수색 효율성</a:t>
            </a:r>
            <a:endParaRPr lang="en-US" altLang="ko-KR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ctr"/>
            <a:r>
              <a:rPr lang="ko-KR" altLang="en-US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강화</a:t>
            </a:r>
            <a:endParaRPr lang="ko-KR" altLang="en-US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447689" y="5033631"/>
            <a:ext cx="8002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운영비용</a:t>
            </a:r>
            <a:endParaRPr lang="en-US" altLang="ko-KR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ctr"/>
            <a:r>
              <a:rPr lang="ko-KR" altLang="en-US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절감</a:t>
            </a:r>
            <a:endParaRPr lang="ko-KR" altLang="en-US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0154359" y="5007621"/>
            <a:ext cx="8002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공공안전</a:t>
            </a:r>
            <a:endParaRPr lang="en-US" altLang="ko-KR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ctr"/>
            <a:r>
              <a:rPr lang="ko-KR" altLang="en-US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강화</a:t>
            </a:r>
            <a:endParaRPr lang="ko-KR" altLang="en-US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34" name="모서리가 둥근 직사각형 33"/>
          <p:cNvSpPr/>
          <p:nvPr/>
        </p:nvSpPr>
        <p:spPr>
          <a:xfrm>
            <a:off x="606236" y="1380505"/>
            <a:ext cx="1250560" cy="380371"/>
          </a:xfrm>
          <a:prstGeom prst="roundRect">
            <a:avLst/>
          </a:prstGeom>
          <a:solidFill>
            <a:srgbClr val="1443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1. </a:t>
            </a:r>
            <a:r>
              <a:rPr lang="ko-KR" altLang="en-US" sz="16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활용방안</a:t>
            </a:r>
            <a:endParaRPr lang="ko-KR" altLang="en-US" sz="16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35" name="모서리가 둥근 직사각형 34"/>
          <p:cNvSpPr/>
          <p:nvPr/>
        </p:nvSpPr>
        <p:spPr>
          <a:xfrm>
            <a:off x="6104182" y="1366716"/>
            <a:ext cx="1250560" cy="380371"/>
          </a:xfrm>
          <a:prstGeom prst="roundRect">
            <a:avLst/>
          </a:prstGeom>
          <a:solidFill>
            <a:srgbClr val="1443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2. </a:t>
            </a:r>
            <a:r>
              <a:rPr lang="ko-KR" altLang="en-US" sz="16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기대효과</a:t>
            </a:r>
            <a:endParaRPr lang="ko-KR" altLang="en-US" sz="16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40" name="Google Shape;179;p16"/>
          <p:cNvSpPr txBox="1"/>
          <p:nvPr/>
        </p:nvSpPr>
        <p:spPr>
          <a:xfrm>
            <a:off x="771525" y="581025"/>
            <a:ext cx="11181397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altLang="ko-KR" sz="2850" b="1" dirty="0" smtClean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Poppins Black"/>
              </a:rPr>
              <a:t>05   </a:t>
            </a:r>
            <a:r>
              <a:rPr lang="ko-KR" altLang="en-US" sz="2850" b="1" dirty="0" smtClean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Poppins Black"/>
              </a:rPr>
              <a:t>활용방안 및 기대효과</a:t>
            </a:r>
            <a:endParaRPr lang="ko-KR" altLang="en-US" sz="2850" b="1" dirty="0">
              <a:solidFill>
                <a:srgbClr val="0F172A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Poppins Black"/>
            </a:endParaRPr>
          </a:p>
        </p:txBody>
      </p:sp>
      <p:cxnSp>
        <p:nvCxnSpPr>
          <p:cNvPr id="38" name="직선 연결선 37"/>
          <p:cNvCxnSpPr/>
          <p:nvPr/>
        </p:nvCxnSpPr>
        <p:spPr>
          <a:xfrm flipV="1">
            <a:off x="606641" y="1145219"/>
            <a:ext cx="10979123" cy="9327"/>
          </a:xfrm>
          <a:prstGeom prst="line">
            <a:avLst/>
          </a:prstGeom>
          <a:ln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Shape 20"/>
          <p:cNvSpPr>
            <a:spLocks noChangeAspect="1"/>
          </p:cNvSpPr>
          <p:nvPr/>
        </p:nvSpPr>
        <p:spPr>
          <a:xfrm>
            <a:off x="4365485" y="2084840"/>
            <a:ext cx="1656000" cy="1719470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25400" dist="50800" dir="2700000" algn="bl" rotWithShape="0">
              <a:srgbClr val="9CA3AF">
                <a:alpha val="12000"/>
              </a:srgbClr>
            </a:outerShdw>
          </a:effectLst>
        </p:spPr>
      </p:sp>
      <p:pic>
        <p:nvPicPr>
          <p:cNvPr id="55" name="그림 5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87" t="23906" r="70625" b="65781"/>
          <a:stretch/>
        </p:blipFill>
        <p:spPr>
          <a:xfrm>
            <a:off x="4622343" y="2177855"/>
            <a:ext cx="1138798" cy="1132129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4717643" y="3251888"/>
            <a:ext cx="9541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스마트시티</a:t>
            </a:r>
            <a:endParaRPr lang="en-US" altLang="ko-KR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ctr"/>
            <a:r>
              <a:rPr lang="ko-KR" altLang="en-US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통합 관제</a:t>
            </a:r>
            <a:endParaRPr lang="ko-KR" altLang="en-US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79" name="직사각형 78"/>
          <p:cNvSpPr/>
          <p:nvPr/>
        </p:nvSpPr>
        <p:spPr>
          <a:xfrm>
            <a:off x="606641" y="1375321"/>
            <a:ext cx="10979123" cy="479687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6771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Shape 20"/>
          <p:cNvSpPr>
            <a:spLocks noChangeAspect="1"/>
          </p:cNvSpPr>
          <p:nvPr/>
        </p:nvSpPr>
        <p:spPr>
          <a:xfrm>
            <a:off x="4304957" y="2054869"/>
            <a:ext cx="1548000" cy="816865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25400" dist="50800" dir="2700000" algn="bl" rotWithShape="0">
              <a:srgbClr val="9CA3AF">
                <a:alpha val="12000"/>
              </a:srgbClr>
            </a:outerShdw>
          </a:effectLst>
        </p:spPr>
      </p:sp>
      <p:sp>
        <p:nvSpPr>
          <p:cNvPr id="77" name="Shape 20"/>
          <p:cNvSpPr>
            <a:spLocks noChangeAspect="1"/>
          </p:cNvSpPr>
          <p:nvPr/>
        </p:nvSpPr>
        <p:spPr>
          <a:xfrm>
            <a:off x="888702" y="2054869"/>
            <a:ext cx="1548000" cy="816865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25400" dist="50800" dir="2700000" algn="bl" rotWithShape="0">
              <a:srgbClr val="9CA3AF">
                <a:alpha val="12000"/>
              </a:srgbClr>
            </a:outerShdw>
          </a:effectLst>
        </p:spPr>
      </p:sp>
      <p:sp>
        <p:nvSpPr>
          <p:cNvPr id="78" name="Shape 20"/>
          <p:cNvSpPr>
            <a:spLocks noChangeAspect="1"/>
          </p:cNvSpPr>
          <p:nvPr/>
        </p:nvSpPr>
        <p:spPr>
          <a:xfrm>
            <a:off x="696013" y="3173761"/>
            <a:ext cx="1548000" cy="816865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25400" dist="50800" dir="2700000" algn="bl" rotWithShape="0">
              <a:srgbClr val="9CA3AF">
                <a:alpha val="12000"/>
              </a:srgbClr>
            </a:outerShdw>
          </a:effectLst>
        </p:spPr>
      </p:sp>
      <p:sp>
        <p:nvSpPr>
          <p:cNvPr id="79" name="Shape 20"/>
          <p:cNvSpPr>
            <a:spLocks noChangeAspect="1"/>
          </p:cNvSpPr>
          <p:nvPr/>
        </p:nvSpPr>
        <p:spPr>
          <a:xfrm>
            <a:off x="4469554" y="3173761"/>
            <a:ext cx="1548000" cy="816865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25400" dist="50800" dir="2700000" algn="bl" rotWithShape="0">
              <a:srgbClr val="9CA3AF">
                <a:alpha val="12000"/>
              </a:srgbClr>
            </a:outerShdw>
          </a:effectLst>
        </p:spPr>
      </p:sp>
      <p:sp>
        <p:nvSpPr>
          <p:cNvPr id="80" name="Shape 20"/>
          <p:cNvSpPr>
            <a:spLocks noChangeAspect="1"/>
          </p:cNvSpPr>
          <p:nvPr/>
        </p:nvSpPr>
        <p:spPr>
          <a:xfrm>
            <a:off x="4343360" y="4290389"/>
            <a:ext cx="1548000" cy="816865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25400" dist="50800" dir="2700000" algn="bl" rotWithShape="0">
              <a:srgbClr val="9CA3AF">
                <a:alpha val="12000"/>
              </a:srgbClr>
            </a:outerShdw>
          </a:effectLst>
        </p:spPr>
      </p:sp>
      <p:sp>
        <p:nvSpPr>
          <p:cNvPr id="81" name="Shape 20"/>
          <p:cNvSpPr>
            <a:spLocks noChangeAspect="1"/>
          </p:cNvSpPr>
          <p:nvPr/>
        </p:nvSpPr>
        <p:spPr>
          <a:xfrm>
            <a:off x="875597" y="4290389"/>
            <a:ext cx="1548000" cy="816865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25400" dist="50800" dir="2700000" algn="bl" rotWithShape="0">
              <a:srgbClr val="9CA3AF">
                <a:alpha val="12000"/>
              </a:srgbClr>
            </a:outerShdw>
          </a:effectLst>
        </p:spPr>
      </p:sp>
      <p:sp>
        <p:nvSpPr>
          <p:cNvPr id="82" name="Shape 20"/>
          <p:cNvSpPr>
            <a:spLocks noChangeAspect="1"/>
          </p:cNvSpPr>
          <p:nvPr/>
        </p:nvSpPr>
        <p:spPr>
          <a:xfrm>
            <a:off x="2581017" y="4853770"/>
            <a:ext cx="1548000" cy="816865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25400" dist="50800" dir="2700000" algn="bl" rotWithShape="0">
              <a:srgbClr val="9CA3AF">
                <a:alpha val="12000"/>
              </a:srgbClr>
            </a:outerShdw>
          </a:effectLst>
        </p:spPr>
      </p:sp>
      <p:sp>
        <p:nvSpPr>
          <p:cNvPr id="71" name="Shape 20"/>
          <p:cNvSpPr>
            <a:spLocks noChangeAspect="1"/>
          </p:cNvSpPr>
          <p:nvPr/>
        </p:nvSpPr>
        <p:spPr>
          <a:xfrm>
            <a:off x="9780470" y="3905302"/>
            <a:ext cx="1548000" cy="1660105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25400" dist="50800" dir="2700000" algn="bl" rotWithShape="0">
              <a:srgbClr val="9CA3AF">
                <a:alpha val="12000"/>
              </a:srgbClr>
            </a:outerShdw>
          </a:effectLst>
        </p:spPr>
      </p:sp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219" t="55313" r="4375" b="34375"/>
          <a:stretch/>
        </p:blipFill>
        <p:spPr>
          <a:xfrm>
            <a:off x="10056051" y="3995805"/>
            <a:ext cx="996836" cy="1069774"/>
          </a:xfrm>
          <a:prstGeom prst="rect">
            <a:avLst/>
          </a:prstGeom>
        </p:spPr>
      </p:pic>
      <p:sp>
        <p:nvSpPr>
          <p:cNvPr id="69" name="Shape 20"/>
          <p:cNvSpPr>
            <a:spLocks noChangeAspect="1"/>
          </p:cNvSpPr>
          <p:nvPr/>
        </p:nvSpPr>
        <p:spPr>
          <a:xfrm>
            <a:off x="6367128" y="3911229"/>
            <a:ext cx="1548000" cy="1660105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25400" dist="50800" dir="2700000" algn="bl" rotWithShape="0">
              <a:srgbClr val="9CA3AF">
                <a:alpha val="12000"/>
              </a:srgbClr>
            </a:outerShdw>
          </a:effectLst>
        </p:spPr>
      </p:sp>
      <p:sp>
        <p:nvSpPr>
          <p:cNvPr id="70" name="Shape 20"/>
          <p:cNvSpPr>
            <a:spLocks noChangeAspect="1"/>
          </p:cNvSpPr>
          <p:nvPr/>
        </p:nvSpPr>
        <p:spPr>
          <a:xfrm>
            <a:off x="8073799" y="3910417"/>
            <a:ext cx="1548000" cy="1660105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25400" dist="50800" dir="2700000" algn="bl" rotWithShape="0">
              <a:srgbClr val="9CA3AF">
                <a:alpha val="12000"/>
              </a:srgbClr>
            </a:outerShdw>
          </a:effectLst>
        </p:spPr>
      </p:sp>
      <p:sp>
        <p:nvSpPr>
          <p:cNvPr id="72" name="Shape 20"/>
          <p:cNvSpPr>
            <a:spLocks noChangeAspect="1"/>
          </p:cNvSpPr>
          <p:nvPr/>
        </p:nvSpPr>
        <p:spPr>
          <a:xfrm>
            <a:off x="6367128" y="2066732"/>
            <a:ext cx="1548000" cy="1660105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25400" dist="50800" dir="2700000" algn="bl" rotWithShape="0">
              <a:srgbClr val="9CA3AF">
                <a:alpha val="12000"/>
              </a:srgbClr>
            </a:outerShdw>
          </a:effectLst>
        </p:spPr>
      </p:sp>
      <p:sp>
        <p:nvSpPr>
          <p:cNvPr id="73" name="Shape 20"/>
          <p:cNvSpPr>
            <a:spLocks noChangeAspect="1"/>
          </p:cNvSpPr>
          <p:nvPr/>
        </p:nvSpPr>
        <p:spPr>
          <a:xfrm>
            <a:off x="8073799" y="2065920"/>
            <a:ext cx="1548000" cy="1660105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25400" dist="50800" dir="2700000" algn="bl" rotWithShape="0">
              <a:srgbClr val="9CA3AF">
                <a:alpha val="12000"/>
              </a:srgbClr>
            </a:outerShdw>
          </a:effectLst>
        </p:spPr>
      </p:sp>
      <p:sp>
        <p:nvSpPr>
          <p:cNvPr id="74" name="Shape 20"/>
          <p:cNvSpPr>
            <a:spLocks noChangeAspect="1"/>
          </p:cNvSpPr>
          <p:nvPr/>
        </p:nvSpPr>
        <p:spPr>
          <a:xfrm>
            <a:off x="9780470" y="2060805"/>
            <a:ext cx="1548000" cy="1660105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25400" dist="50800" dir="2700000" algn="bl" rotWithShape="0">
              <a:srgbClr val="9CA3AF">
                <a:alpha val="12000"/>
              </a:srgbClr>
            </a:outerShdw>
          </a:effectLst>
        </p:spPr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282" t="55313" r="20156" b="34375"/>
          <a:stretch/>
        </p:blipFill>
        <p:spPr>
          <a:xfrm>
            <a:off x="6630554" y="3990626"/>
            <a:ext cx="1021147" cy="1069774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094" t="55313" r="12344" b="34375"/>
          <a:stretch/>
        </p:blipFill>
        <p:spPr>
          <a:xfrm>
            <a:off x="8336920" y="3990626"/>
            <a:ext cx="1021147" cy="1069774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532" t="55313" r="43594" b="34375"/>
          <a:stretch/>
        </p:blipFill>
        <p:spPr>
          <a:xfrm>
            <a:off x="6606241" y="2174457"/>
            <a:ext cx="1069774" cy="1069774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344" t="55313" r="36094" b="34375"/>
          <a:stretch/>
        </p:blipFill>
        <p:spPr>
          <a:xfrm>
            <a:off x="8336920" y="2149173"/>
            <a:ext cx="1021147" cy="1069774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157" t="55313" r="28281" b="34375"/>
          <a:stretch/>
        </p:blipFill>
        <p:spPr>
          <a:xfrm>
            <a:off x="10048878" y="2145125"/>
            <a:ext cx="1021147" cy="1069774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6718577" y="5121921"/>
            <a:ext cx="8451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위치 추적</a:t>
            </a:r>
            <a:endParaRPr lang="ko-KR" altLang="en-US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6718576" y="3274734"/>
            <a:ext cx="8451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통합 관제</a:t>
            </a:r>
            <a:endParaRPr lang="ko-KR" altLang="en-US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8320582" y="3280637"/>
            <a:ext cx="10567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AI </a:t>
            </a:r>
            <a:r>
              <a:rPr lang="ko-KR" altLang="en-US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자동 탐지</a:t>
            </a:r>
            <a:endParaRPr lang="ko-KR" altLang="en-US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10131917" y="3280636"/>
            <a:ext cx="8451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얼굴 인식</a:t>
            </a:r>
            <a:endParaRPr lang="ko-KR" altLang="en-US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8348303" y="5121921"/>
            <a:ext cx="9989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실시간 알림</a:t>
            </a:r>
            <a:endParaRPr lang="ko-KR" altLang="en-US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10231304" y="5121921"/>
            <a:ext cx="6463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확장성</a:t>
            </a:r>
            <a:endParaRPr lang="ko-KR" altLang="en-US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pic>
        <p:nvPicPr>
          <p:cNvPr id="22" name="그림 2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56" t="55449" r="91719" b="39395"/>
          <a:stretch/>
        </p:blipFill>
        <p:spPr>
          <a:xfrm>
            <a:off x="1007965" y="2146102"/>
            <a:ext cx="583513" cy="641865"/>
          </a:xfrm>
          <a:prstGeom prst="rect">
            <a:avLst/>
          </a:prstGeom>
        </p:spPr>
      </p:pic>
      <p:pic>
        <p:nvPicPr>
          <p:cNvPr id="23" name="그림 2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719" t="55449" r="65156" b="39863"/>
          <a:stretch/>
        </p:blipFill>
        <p:spPr>
          <a:xfrm>
            <a:off x="4404042" y="2146102"/>
            <a:ext cx="641863" cy="641865"/>
          </a:xfrm>
          <a:prstGeom prst="rect">
            <a:avLst/>
          </a:prstGeom>
        </p:spPr>
      </p:pic>
      <p:pic>
        <p:nvPicPr>
          <p:cNvPr id="24" name="그림 2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593" t="64356" r="62657" b="30488"/>
          <a:stretch/>
        </p:blipFill>
        <p:spPr>
          <a:xfrm>
            <a:off x="4669662" y="3280167"/>
            <a:ext cx="700216" cy="641865"/>
          </a:xfrm>
          <a:prstGeom prst="rect">
            <a:avLst/>
          </a:prstGeom>
        </p:spPr>
      </p:pic>
      <p:pic>
        <p:nvPicPr>
          <p:cNvPr id="25" name="그림 2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68" t="63887" r="93282" b="30488"/>
          <a:stretch/>
        </p:blipFill>
        <p:spPr>
          <a:xfrm>
            <a:off x="738785" y="3280167"/>
            <a:ext cx="641864" cy="641865"/>
          </a:xfrm>
          <a:prstGeom prst="rect">
            <a:avLst/>
          </a:prstGeom>
        </p:spPr>
      </p:pic>
      <p:pic>
        <p:nvPicPr>
          <p:cNvPr id="26" name="그림 2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44" t="72324" r="91719" b="21582"/>
          <a:stretch/>
        </p:blipFill>
        <p:spPr>
          <a:xfrm>
            <a:off x="1031243" y="4384197"/>
            <a:ext cx="543115" cy="641865"/>
          </a:xfrm>
          <a:prstGeom prst="rect">
            <a:avLst/>
          </a:prstGeom>
        </p:spPr>
      </p:pic>
      <p:pic>
        <p:nvPicPr>
          <p:cNvPr id="27" name="그림 2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44" t="73262" r="64844" b="22050"/>
          <a:stretch/>
        </p:blipFill>
        <p:spPr>
          <a:xfrm>
            <a:off x="4443198" y="4383337"/>
            <a:ext cx="577678" cy="641865"/>
          </a:xfrm>
          <a:prstGeom prst="rect">
            <a:avLst/>
          </a:prstGeom>
        </p:spPr>
      </p:pic>
      <p:pic>
        <p:nvPicPr>
          <p:cNvPr id="28" name="그림 27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94" t="79356" r="78593" b="17363"/>
          <a:stretch/>
        </p:blipFill>
        <p:spPr>
          <a:xfrm>
            <a:off x="2681605" y="5055469"/>
            <a:ext cx="641864" cy="499228"/>
          </a:xfrm>
          <a:prstGeom prst="rect">
            <a:avLst/>
          </a:prstGeom>
        </p:spPr>
      </p:pic>
      <p:sp>
        <p:nvSpPr>
          <p:cNvPr id="29" name="타원 28"/>
          <p:cNvSpPr>
            <a:spLocks noChangeAspect="1"/>
          </p:cNvSpPr>
          <p:nvPr/>
        </p:nvSpPr>
        <p:spPr>
          <a:xfrm>
            <a:off x="2572495" y="2752318"/>
            <a:ext cx="1569002" cy="1569002"/>
          </a:xfrm>
          <a:prstGeom prst="ellipse">
            <a:avLst/>
          </a:prstGeom>
          <a:solidFill>
            <a:srgbClr val="1443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4000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AI</a:t>
            </a:r>
          </a:p>
          <a:p>
            <a:pPr algn="ctr"/>
            <a:r>
              <a:rPr lang="ko-KR" altLang="en-US" sz="1510" dirty="0" smtClean="0">
                <a:solidFill>
                  <a:schemeClr val="bg1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관제  시스템</a:t>
            </a:r>
            <a:endParaRPr lang="ko-KR" altLang="en-US" sz="1510" dirty="0">
              <a:solidFill>
                <a:schemeClr val="bg1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45" name="모서리가 둥근 직사각형 44"/>
          <p:cNvSpPr/>
          <p:nvPr/>
        </p:nvSpPr>
        <p:spPr>
          <a:xfrm>
            <a:off x="606236" y="1380074"/>
            <a:ext cx="2366251" cy="377393"/>
          </a:xfrm>
          <a:prstGeom prst="roundRect">
            <a:avLst/>
          </a:prstGeom>
          <a:solidFill>
            <a:srgbClr val="1443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3. </a:t>
            </a:r>
            <a:r>
              <a:rPr lang="ko-KR" altLang="en-US" sz="16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비즈니스 실무 확장성</a:t>
            </a:r>
            <a:endParaRPr lang="ko-KR" altLang="en-US" sz="16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46" name="모서리가 둥근 직사각형 45"/>
          <p:cNvSpPr/>
          <p:nvPr/>
        </p:nvSpPr>
        <p:spPr>
          <a:xfrm>
            <a:off x="6096628" y="1379642"/>
            <a:ext cx="2151137" cy="377393"/>
          </a:xfrm>
          <a:prstGeom prst="roundRect">
            <a:avLst/>
          </a:prstGeom>
          <a:solidFill>
            <a:srgbClr val="1443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6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4. </a:t>
            </a:r>
            <a:r>
              <a:rPr lang="ko-KR" altLang="en-US" sz="1600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산출물의 기대 효용</a:t>
            </a:r>
            <a:endParaRPr lang="ko-KR" altLang="en-US" sz="16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49" name="Google Shape;179;p16"/>
          <p:cNvSpPr txBox="1"/>
          <p:nvPr/>
        </p:nvSpPr>
        <p:spPr>
          <a:xfrm>
            <a:off x="771525" y="581025"/>
            <a:ext cx="11181397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altLang="ko-KR" sz="2850" b="1" dirty="0" smtClean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Poppins Black"/>
              </a:rPr>
              <a:t>05   </a:t>
            </a:r>
            <a:r>
              <a:rPr lang="ko-KR" altLang="en-US" sz="2850" b="1" dirty="0" smtClean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Poppins Black"/>
              </a:rPr>
              <a:t>활용방안 및 기대효과</a:t>
            </a:r>
            <a:endParaRPr lang="ko-KR" altLang="en-US" sz="2850" b="1" dirty="0">
              <a:solidFill>
                <a:srgbClr val="0F172A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Poppins Black"/>
            </a:endParaRPr>
          </a:p>
        </p:txBody>
      </p:sp>
      <p:cxnSp>
        <p:nvCxnSpPr>
          <p:cNvPr id="50" name="직선 연결선 49"/>
          <p:cNvCxnSpPr/>
          <p:nvPr/>
        </p:nvCxnSpPr>
        <p:spPr>
          <a:xfrm flipV="1">
            <a:off x="606641" y="1145219"/>
            <a:ext cx="10979123" cy="9327"/>
          </a:xfrm>
          <a:prstGeom prst="line">
            <a:avLst/>
          </a:prstGeom>
          <a:ln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4469554" y="2202824"/>
            <a:ext cx="13446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재난관리</a:t>
            </a:r>
            <a:endParaRPr lang="en-US" altLang="ko-KR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r"/>
            <a:r>
              <a:rPr lang="ko-KR" altLang="en-US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본부</a:t>
            </a:r>
            <a:endParaRPr lang="ko-KR" altLang="en-US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4640058" y="3319451"/>
            <a:ext cx="13446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공항</a:t>
            </a:r>
            <a:endParaRPr lang="en-US" altLang="ko-KR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r"/>
            <a:r>
              <a:rPr lang="ko-KR" altLang="en-US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항만</a:t>
            </a:r>
            <a:endParaRPr lang="ko-KR" altLang="en-US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4511485" y="4437211"/>
            <a:ext cx="13446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민간</a:t>
            </a:r>
            <a:endParaRPr lang="en-US" altLang="ko-KR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r"/>
            <a:r>
              <a:rPr lang="ko-KR" altLang="en-US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보안업체</a:t>
            </a:r>
            <a:endParaRPr lang="ko-KR" altLang="en-US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2752758" y="5000592"/>
            <a:ext cx="13446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행사</a:t>
            </a:r>
            <a:endParaRPr lang="en-US" altLang="ko-KR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r"/>
            <a:r>
              <a:rPr lang="ko-KR" altLang="en-US" dirty="0" err="1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운영사</a:t>
            </a:r>
            <a:endParaRPr lang="ko-KR" altLang="en-US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1033572" y="4544932"/>
            <a:ext cx="13446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군부대</a:t>
            </a:r>
            <a:endParaRPr lang="ko-KR" altLang="en-US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1038722" y="2202824"/>
            <a:ext cx="13446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경찰청</a:t>
            </a:r>
            <a:endParaRPr lang="en-US" altLang="ko-KR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r"/>
            <a:r>
              <a:rPr lang="ko-KR" altLang="en-US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지자체</a:t>
            </a:r>
            <a:endParaRPr lang="ko-KR" altLang="en-US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857234" y="3319451"/>
            <a:ext cx="13446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스마트</a:t>
            </a:r>
            <a:endParaRPr lang="en-US" altLang="ko-KR" dirty="0" smtClean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  <a:p>
            <a:pPr algn="r"/>
            <a:r>
              <a:rPr lang="ko-KR" altLang="en-US" dirty="0" smtClean="0"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시티</a:t>
            </a:r>
            <a:endParaRPr lang="ko-KR" altLang="en-US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89" name="직사각형 88"/>
          <p:cNvSpPr/>
          <p:nvPr/>
        </p:nvSpPr>
        <p:spPr>
          <a:xfrm>
            <a:off x="606641" y="1375321"/>
            <a:ext cx="10979123" cy="479687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0858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hape 20"/>
          <p:cNvSpPr>
            <a:spLocks/>
          </p:cNvSpPr>
          <p:nvPr/>
        </p:nvSpPr>
        <p:spPr>
          <a:xfrm>
            <a:off x="2865822" y="1361740"/>
            <a:ext cx="1939326" cy="4796880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25400" dist="50800" dir="2700000" algn="bl" rotWithShape="0">
              <a:srgbClr val="9CA3AF">
                <a:alpha val="12000"/>
              </a:srgbClr>
            </a:outerShdw>
          </a:effectLst>
        </p:spPr>
      </p:sp>
      <p:sp>
        <p:nvSpPr>
          <p:cNvPr id="53" name="Shape 20"/>
          <p:cNvSpPr>
            <a:spLocks noChangeAspect="1"/>
          </p:cNvSpPr>
          <p:nvPr/>
        </p:nvSpPr>
        <p:spPr>
          <a:xfrm>
            <a:off x="3116787" y="1793854"/>
            <a:ext cx="1440000" cy="1440000"/>
          </a:xfrm>
          <a:prstGeom prst="roundRect">
            <a:avLst>
              <a:gd name="adj" fmla="val 3817"/>
            </a:avLst>
          </a:prstGeom>
          <a:blipFill>
            <a:blip r:embed="rId3"/>
            <a:stretch>
              <a:fillRect/>
            </a:stretch>
          </a:blipFill>
          <a:ln w="12700">
            <a:solidFill>
              <a:srgbClr val="E7EAF1"/>
            </a:solidFill>
            <a:prstDash val="solid"/>
          </a:ln>
          <a:effectLst>
            <a:outerShdw blurRad="25400" dist="50800" dir="2700000" algn="bl" rotWithShape="0">
              <a:srgbClr val="9CA3AF">
                <a:alpha val="12000"/>
              </a:srgbClr>
            </a:outerShdw>
          </a:effectLst>
        </p:spPr>
      </p:sp>
      <p:sp>
        <p:nvSpPr>
          <p:cNvPr id="47" name="Shape 20"/>
          <p:cNvSpPr>
            <a:spLocks/>
          </p:cNvSpPr>
          <p:nvPr/>
        </p:nvSpPr>
        <p:spPr>
          <a:xfrm>
            <a:off x="9641149" y="1375320"/>
            <a:ext cx="1939326" cy="4796880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25400" dist="50800" dir="2700000" algn="bl" rotWithShape="0">
              <a:srgbClr val="9CA3AF">
                <a:alpha val="12000"/>
              </a:srgbClr>
            </a:outerShdw>
          </a:effectLst>
        </p:spPr>
      </p:sp>
      <p:sp>
        <p:nvSpPr>
          <p:cNvPr id="48" name="Shape 20"/>
          <p:cNvSpPr>
            <a:spLocks/>
          </p:cNvSpPr>
          <p:nvPr/>
        </p:nvSpPr>
        <p:spPr>
          <a:xfrm>
            <a:off x="624225" y="1375320"/>
            <a:ext cx="1939326" cy="4796880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25400" dist="50800" dir="2700000" algn="bl" rotWithShape="0">
              <a:srgbClr val="9CA3AF">
                <a:alpha val="12000"/>
              </a:srgbClr>
            </a:outerShdw>
          </a:effectLst>
        </p:spPr>
      </p:sp>
      <p:sp>
        <p:nvSpPr>
          <p:cNvPr id="50" name="Shape 20"/>
          <p:cNvSpPr>
            <a:spLocks/>
          </p:cNvSpPr>
          <p:nvPr/>
        </p:nvSpPr>
        <p:spPr>
          <a:xfrm>
            <a:off x="7394132" y="1375319"/>
            <a:ext cx="1939326" cy="4796880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25400" dist="50800" dir="2700000" algn="bl" rotWithShape="0">
              <a:srgbClr val="9CA3AF">
                <a:alpha val="12000"/>
              </a:srgbClr>
            </a:outerShdw>
          </a:effectLst>
        </p:spPr>
      </p:sp>
      <p:sp>
        <p:nvSpPr>
          <p:cNvPr id="51" name="Shape 20"/>
          <p:cNvSpPr>
            <a:spLocks/>
          </p:cNvSpPr>
          <p:nvPr/>
        </p:nvSpPr>
        <p:spPr>
          <a:xfrm>
            <a:off x="5125132" y="1375319"/>
            <a:ext cx="1939326" cy="4796880"/>
          </a:xfrm>
          <a:prstGeom prst="roundRect">
            <a:avLst>
              <a:gd name="adj" fmla="val 3817"/>
            </a:avLst>
          </a:prstGeom>
          <a:solidFill>
            <a:srgbClr val="FFFFFF"/>
          </a:solidFill>
          <a:ln w="12700">
            <a:solidFill>
              <a:srgbClr val="E7EAF1"/>
            </a:solidFill>
            <a:prstDash val="solid"/>
          </a:ln>
          <a:effectLst>
            <a:outerShdw blurRad="25400" dist="50800" dir="2700000" algn="bl" rotWithShape="0">
              <a:srgbClr val="9CA3AF">
                <a:alpha val="12000"/>
              </a:srgbClr>
            </a:outerShdw>
          </a:effectLst>
        </p:spPr>
      </p:sp>
      <p:sp>
        <p:nvSpPr>
          <p:cNvPr id="8" name="Text 8"/>
          <p:cNvSpPr/>
          <p:nvPr/>
        </p:nvSpPr>
        <p:spPr>
          <a:xfrm>
            <a:off x="781581" y="3592326"/>
            <a:ext cx="1624614" cy="3233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6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팀장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9" name="Text 9"/>
          <p:cNvSpPr/>
          <p:nvPr/>
        </p:nvSpPr>
        <p:spPr>
          <a:xfrm>
            <a:off x="781581" y="3996539"/>
            <a:ext cx="1624614" cy="2964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6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박정호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0" name="Text 10"/>
          <p:cNvSpPr/>
          <p:nvPr/>
        </p:nvSpPr>
        <p:spPr>
          <a:xfrm>
            <a:off x="769273" y="4697176"/>
            <a:ext cx="1649230" cy="336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기획·PM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1" name="Text 11"/>
          <p:cNvSpPr/>
          <p:nvPr/>
        </p:nvSpPr>
        <p:spPr>
          <a:xfrm>
            <a:off x="843119" y="5276549"/>
            <a:ext cx="1501538" cy="78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/>
            <a:r>
              <a:rPr lang="ko-KR" altLang="en-US" sz="16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프로젝트 리드</a:t>
            </a:r>
            <a:endParaRPr lang="en-US" altLang="ko-KR" sz="1600" dirty="0" smtClean="0"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Noto Sans CJK KR" pitchFamily="34" charset="-120"/>
            </a:endParaRPr>
          </a:p>
          <a:p>
            <a:pPr algn="ctr"/>
            <a:r>
              <a:rPr lang="ko-KR" altLang="en-US" sz="16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영상 분석</a:t>
            </a:r>
            <a:r>
              <a:rPr lang="en-US" altLang="ko-KR" sz="16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sz="16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추적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5" name="Text 16"/>
          <p:cNvSpPr/>
          <p:nvPr/>
        </p:nvSpPr>
        <p:spPr>
          <a:xfrm>
            <a:off x="3019726" y="3592326"/>
            <a:ext cx="1624614" cy="3233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팀원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6" name="Text 17"/>
          <p:cNvSpPr/>
          <p:nvPr/>
        </p:nvSpPr>
        <p:spPr>
          <a:xfrm>
            <a:off x="3019726" y="3996539"/>
            <a:ext cx="1624614" cy="2964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6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김태준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7" name="Text 18"/>
          <p:cNvSpPr/>
          <p:nvPr/>
        </p:nvSpPr>
        <p:spPr>
          <a:xfrm>
            <a:off x="3007419" y="4697176"/>
            <a:ext cx="1649230" cy="336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600" b="1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미니맵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8" name="Text 19"/>
          <p:cNvSpPr/>
          <p:nvPr/>
        </p:nvSpPr>
        <p:spPr>
          <a:xfrm>
            <a:off x="3081265" y="5276549"/>
            <a:ext cx="1501538" cy="78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/>
            <a:r>
              <a:rPr lang="ko-KR" altLang="en-US" sz="16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지도</a:t>
            </a:r>
            <a:endParaRPr lang="en-US" altLang="ko-KR" sz="1600" dirty="0" smtClean="0"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Noto Sans CJK KR" pitchFamily="34" charset="-120"/>
            </a:endParaRPr>
          </a:p>
          <a:p>
            <a:pPr algn="ctr"/>
            <a:r>
              <a:rPr lang="ko-KR" altLang="en-US" sz="16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동선 추적</a:t>
            </a:r>
            <a:endParaRPr lang="en-US" altLang="ko-KR" sz="1600" dirty="0" smtClean="0"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Noto Sans CJK KR" pitchFamily="34" charset="-120"/>
            </a:endParaRPr>
          </a:p>
        </p:txBody>
      </p:sp>
      <p:sp>
        <p:nvSpPr>
          <p:cNvPr id="22" name="Text 24"/>
          <p:cNvSpPr/>
          <p:nvPr/>
        </p:nvSpPr>
        <p:spPr>
          <a:xfrm>
            <a:off x="5287500" y="3592326"/>
            <a:ext cx="1624614" cy="3233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팀원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3" name="Text 25"/>
          <p:cNvSpPr/>
          <p:nvPr/>
        </p:nvSpPr>
        <p:spPr>
          <a:xfrm>
            <a:off x="5287500" y="3996539"/>
            <a:ext cx="1624614" cy="2964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6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이규찬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4" name="Text 26"/>
          <p:cNvSpPr/>
          <p:nvPr/>
        </p:nvSpPr>
        <p:spPr>
          <a:xfrm>
            <a:off x="5275192" y="4697176"/>
            <a:ext cx="1649230" cy="336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6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회원 서비스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5" name="Text 27"/>
          <p:cNvSpPr/>
          <p:nvPr/>
        </p:nvSpPr>
        <p:spPr>
          <a:xfrm>
            <a:off x="5349038" y="5276549"/>
            <a:ext cx="1501538" cy="78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/>
            <a:r>
              <a:rPr lang="ko-KR" altLang="en-US" sz="16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회원 </a:t>
            </a:r>
            <a:endParaRPr lang="en-US" altLang="ko-KR" sz="1600" dirty="0" smtClean="0"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Noto Sans CJK KR" pitchFamily="34" charset="-120"/>
            </a:endParaRPr>
          </a:p>
          <a:p>
            <a:pPr algn="ctr"/>
            <a:r>
              <a:rPr lang="ko-KR" altLang="en-US" sz="16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계정 관리</a:t>
            </a:r>
            <a:r>
              <a:rPr lang="en-US" sz="16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, </a:t>
            </a:r>
            <a:r>
              <a:rPr lang="ko-KR" altLang="en-US" sz="16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검증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29" name="Text 32"/>
          <p:cNvSpPr/>
          <p:nvPr/>
        </p:nvSpPr>
        <p:spPr>
          <a:xfrm>
            <a:off x="7548843" y="3598495"/>
            <a:ext cx="1624614" cy="3233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팀원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30" name="Text 33"/>
          <p:cNvSpPr/>
          <p:nvPr/>
        </p:nvSpPr>
        <p:spPr>
          <a:xfrm>
            <a:off x="7548843" y="4002708"/>
            <a:ext cx="1624614" cy="2964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6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이윤호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31" name="Text 34"/>
          <p:cNvSpPr/>
          <p:nvPr/>
        </p:nvSpPr>
        <p:spPr>
          <a:xfrm>
            <a:off x="7536536" y="4703345"/>
            <a:ext cx="1649230" cy="336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6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로그 분석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32" name="Text 35"/>
          <p:cNvSpPr/>
          <p:nvPr/>
        </p:nvSpPr>
        <p:spPr>
          <a:xfrm>
            <a:off x="7610382" y="5282718"/>
            <a:ext cx="1501538" cy="78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/>
            <a:r>
              <a:rPr lang="ko-KR" altLang="en-US" sz="16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로그 </a:t>
            </a:r>
            <a:endParaRPr lang="en-US" altLang="ko-KR" sz="1600" dirty="0" smtClean="0"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Noto Sans CJK KR" pitchFamily="34" charset="-120"/>
            </a:endParaRPr>
          </a:p>
          <a:p>
            <a:pPr algn="ctr"/>
            <a:r>
              <a:rPr lang="ko-KR" altLang="en-US" sz="16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분석</a:t>
            </a:r>
            <a:r>
              <a:rPr lang="en-US" altLang="ko-KR" sz="16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, </a:t>
            </a:r>
            <a:r>
              <a:rPr lang="ko-KR" altLang="en-US" sz="16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가공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36" name="Text 40"/>
          <p:cNvSpPr/>
          <p:nvPr/>
        </p:nvSpPr>
        <p:spPr>
          <a:xfrm>
            <a:off x="9801149" y="3592326"/>
            <a:ext cx="1624614" cy="3233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팀원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37" name="Text 41"/>
          <p:cNvSpPr/>
          <p:nvPr/>
        </p:nvSpPr>
        <p:spPr>
          <a:xfrm>
            <a:off x="9801149" y="3996539"/>
            <a:ext cx="1624614" cy="2964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6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장동근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38" name="Text 42"/>
          <p:cNvSpPr/>
          <p:nvPr/>
        </p:nvSpPr>
        <p:spPr>
          <a:xfrm>
            <a:off x="9788842" y="4697176"/>
            <a:ext cx="1649230" cy="336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6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개발 지원</a:t>
            </a:r>
            <a:r>
              <a:rPr lang="en-US" altLang="ko-KR" sz="16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, </a:t>
            </a:r>
            <a:r>
              <a:rPr lang="ko-KR" altLang="en-US" sz="16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점검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39" name="Text 43"/>
          <p:cNvSpPr/>
          <p:nvPr/>
        </p:nvSpPr>
        <p:spPr>
          <a:xfrm>
            <a:off x="9862688" y="5276549"/>
            <a:ext cx="1501538" cy="78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/>
            <a:endParaRPr lang="en-US" sz="1600" dirty="0"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40" name="Text 35"/>
          <p:cNvSpPr/>
          <p:nvPr/>
        </p:nvSpPr>
        <p:spPr>
          <a:xfrm>
            <a:off x="9863787" y="5288981"/>
            <a:ext cx="1501538" cy="78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algn="ctr"/>
            <a:r>
              <a:rPr lang="ko-KR" altLang="en-US" sz="16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공통 모듈 </a:t>
            </a:r>
            <a:endParaRPr lang="en-US" altLang="ko-KR" sz="1600" dirty="0" smtClean="0"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Noto Sans CJK KR" pitchFamily="34" charset="-120"/>
            </a:endParaRPr>
          </a:p>
          <a:p>
            <a:pPr algn="ctr"/>
            <a:r>
              <a:rPr lang="ko-KR" altLang="en-US" sz="16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작성</a:t>
            </a:r>
            <a:r>
              <a:rPr lang="en-US" altLang="ko-KR" sz="16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, </a:t>
            </a:r>
            <a:r>
              <a:rPr lang="ko-KR" altLang="en-US" sz="16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Noto Sans CJK KR" pitchFamily="34" charset="-120"/>
              </a:rPr>
              <a:t>정리</a:t>
            </a:r>
            <a:endParaRPr lang="en-US" altLang="ko-KR" sz="1600" dirty="0">
              <a:solidFill>
                <a:schemeClr val="tx1">
                  <a:lumMod val="85000"/>
                  <a:lumOff val="15000"/>
                </a:schemeClr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pic>
        <p:nvPicPr>
          <p:cNvPr id="44" name="그림 4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67083" y="291180"/>
            <a:ext cx="1597838" cy="1065225"/>
          </a:xfrm>
          <a:prstGeom prst="rect">
            <a:avLst/>
          </a:prstGeom>
        </p:spPr>
      </p:pic>
      <p:sp>
        <p:nvSpPr>
          <p:cNvPr id="46" name="Google Shape;139;p15"/>
          <p:cNvSpPr txBox="1"/>
          <p:nvPr/>
        </p:nvSpPr>
        <p:spPr>
          <a:xfrm>
            <a:off x="501932" y="652500"/>
            <a:ext cx="11181397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r>
              <a:rPr lang="en-US" altLang="ko-KR" sz="2850" b="1" dirty="0" smtClean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Poppins Black"/>
              </a:rPr>
              <a:t>10   </a:t>
            </a:r>
            <a:r>
              <a:rPr lang="ko-KR" altLang="en-US" sz="2850" b="1" dirty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Poppins Black"/>
              </a:rPr>
              <a:t>팀</a:t>
            </a:r>
            <a:r>
              <a:rPr lang="ko-KR" altLang="en-US" sz="2850" b="1" dirty="0" smtClean="0">
                <a:solidFill>
                  <a:srgbClr val="0F172A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  <a:cs typeface="Poppins Black"/>
              </a:rPr>
              <a:t> 소개</a:t>
            </a:r>
            <a:endParaRPr lang="en-US" altLang="ko-KR" sz="2850" b="1" dirty="0">
              <a:solidFill>
                <a:srgbClr val="0F172A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  <a:cs typeface="Poppins Black"/>
            </a:endParaRPr>
          </a:p>
        </p:txBody>
      </p:sp>
      <p:cxnSp>
        <p:nvCxnSpPr>
          <p:cNvPr id="45" name="직선 연결선 44"/>
          <p:cNvCxnSpPr/>
          <p:nvPr/>
        </p:nvCxnSpPr>
        <p:spPr>
          <a:xfrm flipV="1">
            <a:off x="606641" y="1145219"/>
            <a:ext cx="10979123" cy="9327"/>
          </a:xfrm>
          <a:prstGeom prst="line">
            <a:avLst/>
          </a:prstGeom>
          <a:ln>
            <a:solidFill>
              <a:schemeClr val="bg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Shape 20"/>
          <p:cNvSpPr>
            <a:spLocks noChangeAspect="1"/>
          </p:cNvSpPr>
          <p:nvPr/>
        </p:nvSpPr>
        <p:spPr>
          <a:xfrm>
            <a:off x="881180" y="1793854"/>
            <a:ext cx="1440000" cy="1440000"/>
          </a:xfrm>
          <a:prstGeom prst="roundRect">
            <a:avLst>
              <a:gd name="adj" fmla="val 3817"/>
            </a:avLst>
          </a:prstGeom>
          <a:blipFill>
            <a:blip r:embed="rId5"/>
            <a:stretch>
              <a:fillRect/>
            </a:stretch>
          </a:blipFill>
          <a:ln w="12700">
            <a:solidFill>
              <a:srgbClr val="E7EAF1"/>
            </a:solidFill>
            <a:prstDash val="solid"/>
          </a:ln>
          <a:effectLst>
            <a:outerShdw blurRad="25400" dist="50800" dir="2700000" algn="bl" rotWithShape="0">
              <a:srgbClr val="9CA3AF">
                <a:alpha val="12000"/>
              </a:srgbClr>
            </a:outerShdw>
          </a:effectLst>
        </p:spPr>
      </p:sp>
      <p:sp>
        <p:nvSpPr>
          <p:cNvPr id="54" name="Shape 20"/>
          <p:cNvSpPr>
            <a:spLocks noChangeAspect="1"/>
          </p:cNvSpPr>
          <p:nvPr/>
        </p:nvSpPr>
        <p:spPr>
          <a:xfrm>
            <a:off x="5379640" y="1793854"/>
            <a:ext cx="1440000" cy="1440000"/>
          </a:xfrm>
          <a:prstGeom prst="roundRect">
            <a:avLst>
              <a:gd name="adj" fmla="val 3817"/>
            </a:avLst>
          </a:prstGeom>
          <a:blipFill>
            <a:blip r:embed="rId6"/>
            <a:stretch>
              <a:fillRect/>
            </a:stretch>
          </a:blipFill>
          <a:ln w="12700">
            <a:solidFill>
              <a:srgbClr val="E7EAF1"/>
            </a:solidFill>
            <a:prstDash val="solid"/>
          </a:ln>
          <a:effectLst>
            <a:outerShdw blurRad="25400" dist="50800" dir="2700000" algn="bl" rotWithShape="0">
              <a:srgbClr val="9CA3AF">
                <a:alpha val="12000"/>
              </a:srgbClr>
            </a:outerShdw>
          </a:effectLst>
        </p:spPr>
      </p:sp>
      <p:sp>
        <p:nvSpPr>
          <p:cNvPr id="55" name="Shape 20"/>
          <p:cNvSpPr>
            <a:spLocks noChangeAspect="1"/>
          </p:cNvSpPr>
          <p:nvPr/>
        </p:nvSpPr>
        <p:spPr>
          <a:xfrm>
            <a:off x="7647531" y="1793854"/>
            <a:ext cx="1440000" cy="1440000"/>
          </a:xfrm>
          <a:prstGeom prst="roundRect">
            <a:avLst>
              <a:gd name="adj" fmla="val 3817"/>
            </a:avLst>
          </a:prstGeom>
          <a:blipFill>
            <a:blip r:embed="rId7"/>
            <a:stretch>
              <a:fillRect/>
            </a:stretch>
          </a:blipFill>
          <a:ln w="12700">
            <a:solidFill>
              <a:srgbClr val="E7EAF1"/>
            </a:solidFill>
            <a:prstDash val="solid"/>
          </a:ln>
          <a:effectLst>
            <a:outerShdw blurRad="25400" dist="50800" dir="2700000" algn="bl" rotWithShape="0">
              <a:srgbClr val="9CA3AF">
                <a:alpha val="12000"/>
              </a:srgbClr>
            </a:outerShdw>
          </a:effectLst>
        </p:spPr>
      </p:sp>
      <p:sp>
        <p:nvSpPr>
          <p:cNvPr id="56" name="Shape 20"/>
          <p:cNvSpPr>
            <a:spLocks noChangeAspect="1"/>
          </p:cNvSpPr>
          <p:nvPr/>
        </p:nvSpPr>
        <p:spPr>
          <a:xfrm>
            <a:off x="9890812" y="1793854"/>
            <a:ext cx="1440000" cy="1440000"/>
          </a:xfrm>
          <a:prstGeom prst="roundRect">
            <a:avLst>
              <a:gd name="adj" fmla="val 3817"/>
            </a:avLst>
          </a:prstGeom>
          <a:blipFill>
            <a:blip r:embed="rId8"/>
            <a:stretch>
              <a:fillRect/>
            </a:stretch>
          </a:blipFill>
          <a:ln w="12700">
            <a:solidFill>
              <a:srgbClr val="E7EAF1"/>
            </a:solidFill>
            <a:prstDash val="solid"/>
          </a:ln>
          <a:effectLst>
            <a:outerShdw blurRad="25400" dist="50800" dir="2700000" algn="bl" rotWithShape="0">
              <a:srgbClr val="9CA3AF">
                <a:alpha val="12000"/>
              </a:srgbClr>
            </a:outerShdw>
          </a:effectLst>
        </p:spPr>
      </p:sp>
      <p:sp>
        <p:nvSpPr>
          <p:cNvPr id="57" name="직사각형 56"/>
          <p:cNvSpPr/>
          <p:nvPr/>
        </p:nvSpPr>
        <p:spPr>
          <a:xfrm>
            <a:off x="606641" y="1375321"/>
            <a:ext cx="10979123" cy="479687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6443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461</TotalTime>
  <Words>1378</Words>
  <Application>Microsoft Office PowerPoint</Application>
  <PresentationFormat>와이드스크린</PresentationFormat>
  <Paragraphs>431</Paragraphs>
  <Slides>19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13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33" baseType="lpstr">
      <vt:lpstr>맑은 고딕</vt:lpstr>
      <vt:lpstr>Poppins</vt:lpstr>
      <vt:lpstr>Poppins Black</vt:lpstr>
      <vt:lpstr>나눔스퀘어_ac</vt:lpstr>
      <vt:lpstr>맑은 고딕</vt:lpstr>
      <vt:lpstr>Calibri</vt:lpstr>
      <vt:lpstr>Arial</vt:lpstr>
      <vt:lpstr>프리텐다드</vt:lpstr>
      <vt:lpstr>Gothic A1 Black</vt:lpstr>
      <vt:lpstr>프리텐다드 Medium</vt:lpstr>
      <vt:lpstr>Gothic A1</vt:lpstr>
      <vt:lpstr>나눔스퀘어_ac Bold</vt:lpstr>
      <vt:lpstr>Noto Sans CJK KR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cp:lastModifiedBy>DW</cp:lastModifiedBy>
  <cp:revision>502</cp:revision>
  <dcterms:modified xsi:type="dcterms:W3CDTF">2026-07-15T08:01:18Z</dcterms:modified>
</cp:coreProperties>
</file>