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9" r:id="rId2"/>
  </p:sldIdLst>
  <p:sldSz cx="12192000" cy="6858000"/>
  <p:notesSz cx="6858000" cy="9144000"/>
  <p:embeddedFontLst>
    <p:embeddedFont>
      <p:font typeface="나눔스퀘어 Bold" panose="020B0600000101010101" pitchFamily="50" charset="-127"/>
      <p:bold r:id="rId4"/>
    </p:embeddedFont>
    <p:embeddedFont>
      <p:font typeface="나눔스퀘어" panose="020B0600000101010101" pitchFamily="50" charset="-127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나눔스퀘어_ac Bold" panose="020B0600000101010101" pitchFamily="50" charset="-127"/>
      <p:bold r:id="rId12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80D0"/>
    <a:srgbClr val="E7F0FB"/>
    <a:srgbClr val="FFFFFF"/>
    <a:srgbClr val="F8FAFC"/>
    <a:srgbClr val="1E63E8"/>
    <a:srgbClr val="0081C8"/>
    <a:srgbClr val="1C65E6"/>
    <a:srgbClr val="FEF8F8"/>
    <a:srgbClr val="F7946D"/>
    <a:srgbClr val="D0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189" autoAdjust="0"/>
    <p:restoredTop sz="92567" autoAdjust="0"/>
  </p:normalViewPr>
  <p:slideViewPr>
    <p:cSldViewPr snapToGrid="0">
      <p:cViewPr varScale="1">
        <p:scale>
          <a:sx n="75" d="100"/>
          <a:sy n="75" d="100"/>
        </p:scale>
        <p:origin x="780" y="4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3" Type="http://schemas.microsoft.com/office/2015/10/relationships/revisionInfo" Target="revisionInfo.xml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220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637313" y="655782"/>
            <a:ext cx="0" cy="286327"/>
          </a:xfrm>
          <a:prstGeom prst="line">
            <a:avLst/>
          </a:prstGeom>
          <a:ln w="53975">
            <a:gradFill flip="none" rotWithShape="1">
              <a:gsLst>
                <a:gs pos="0">
                  <a:srgbClr val="0081C8"/>
                </a:gs>
                <a:gs pos="100000">
                  <a:srgbClr val="1C65E5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2;p4"/>
          <p:cNvSpPr txBox="1">
            <a:spLocks noGrp="1"/>
          </p:cNvSpPr>
          <p:nvPr>
            <p:ph type="title" hasCustomPrompt="1"/>
          </p:nvPr>
        </p:nvSpPr>
        <p:spPr>
          <a:xfrm>
            <a:off x="770237" y="582037"/>
            <a:ext cx="8229600" cy="43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dirty="0" err="1" smtClean="0"/>
              <a:t>타이틀명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itle and Content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 userDrawn="1"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06</a:t>
            </a:r>
            <a:endParaRPr lang="en-US" sz="18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 2"/>
          <p:cNvSpPr/>
          <p:nvPr userDrawn="1"/>
        </p:nvSpPr>
        <p:spPr>
          <a:xfrm>
            <a:off x="1261872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33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화면별 기능 설명</a:t>
            </a:r>
            <a:endParaRPr lang="en-US" sz="23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3"/>
          <p:cNvSpPr/>
          <p:nvPr userDrawn="1"/>
        </p:nvSpPr>
        <p:spPr>
          <a:xfrm>
            <a:off x="1261872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대시보드</a:t>
            </a:r>
            <a:r>
              <a:rPr lang="en-US" sz="1250" b="1" kern="0" spc="100" dirty="0">
                <a:solidFill>
                  <a:srgbClr val="C9A96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 </a:t>
            </a:r>
            <a:r>
              <a:rPr lang="en-US" sz="1250" b="1" kern="0" spc="1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화면</a:t>
            </a:r>
            <a:endParaRPr lang="en-US" sz="1250" dirty="0">
              <a:solidFill>
                <a:schemeClr val="bg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79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66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661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모서리가 둥근 직사각형 38">
            <a:extLst>
              <a:ext uri="{FF2B5EF4-FFF2-40B4-BE49-F238E27FC236}">
                <a16:creationId xmlns:a16="http://schemas.microsoft.com/office/drawing/2014/main" id="{6D5B135D-DD24-671C-1784-D3264C91D0F7}"/>
              </a:ext>
            </a:extLst>
          </p:cNvPr>
          <p:cNvSpPr/>
          <p:nvPr userDrawn="1"/>
        </p:nvSpPr>
        <p:spPr>
          <a:xfrm>
            <a:off x="0" y="0"/>
            <a:ext cx="12192000" cy="49619"/>
          </a:xfrm>
          <a:prstGeom prst="roundRect">
            <a:avLst>
              <a:gd name="adj" fmla="val 36695"/>
            </a:avLst>
          </a:prstGeom>
          <a:gradFill>
            <a:gsLst>
              <a:gs pos="44000">
                <a:srgbClr val="0081C8"/>
              </a:gs>
              <a:gs pos="100000">
                <a:srgbClr val="2061EA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2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249" y="1365795"/>
            <a:ext cx="3390900" cy="4813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직선 연결선 39"/>
          <p:cNvCxnSpPr/>
          <p:nvPr/>
        </p:nvCxnSpPr>
        <p:spPr>
          <a:xfrm>
            <a:off x="1381232" y="3419939"/>
            <a:ext cx="1869296" cy="223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257" y="1373438"/>
            <a:ext cx="3390900" cy="48027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직선 연결선 38"/>
          <p:cNvCxnSpPr/>
          <p:nvPr/>
        </p:nvCxnSpPr>
        <p:spPr>
          <a:xfrm>
            <a:off x="8946601" y="3416964"/>
            <a:ext cx="1869296" cy="223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47874" y="214208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249" y="2277456"/>
            <a:ext cx="396000" cy="396000"/>
          </a:xfrm>
          <a:prstGeom prst="rect">
            <a:avLst/>
          </a:prstGeom>
        </p:spPr>
      </p:pic>
      <p:pic>
        <p:nvPicPr>
          <p:cNvPr id="22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00753" y="1365076"/>
            <a:ext cx="3390900" cy="4813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3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214208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232" y="2284095"/>
            <a:ext cx="396000" cy="396000"/>
          </a:xfrm>
          <a:prstGeom prst="rect">
            <a:avLst/>
          </a:prstGeom>
        </p:spPr>
      </p:pic>
      <p:pic>
        <p:nvPicPr>
          <p:cNvPr id="24" name="Google Shape;12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77324" y="214280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696" y="2284095"/>
            <a:ext cx="396000" cy="396000"/>
          </a:xfrm>
          <a:prstGeom prst="rect">
            <a:avLst/>
          </a:prstGeom>
        </p:spPr>
      </p:pic>
      <p:sp>
        <p:nvSpPr>
          <p:cNvPr id="140" name="Google Shape;140;p15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5" name="Google Shape;128;p15"/>
          <p:cNvSpPr txBox="1"/>
          <p:nvPr/>
        </p:nvSpPr>
        <p:spPr>
          <a:xfrm>
            <a:off x="1423467" y="3078097"/>
            <a:ext cx="17815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 smtClean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나눔스퀘어_ac Bold"/>
                <a:sym typeface="나눔스퀘어_ac Bold"/>
              </a:rPr>
              <a:t>현재 시스템</a:t>
            </a:r>
            <a:endParaRPr sz="2000" dirty="0">
              <a:solidFill>
                <a:schemeClr val="accent1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Google Shape;129;p15"/>
          <p:cNvSpPr txBox="1"/>
          <p:nvPr/>
        </p:nvSpPr>
        <p:spPr>
          <a:xfrm>
            <a:off x="847725" y="3782602"/>
            <a:ext cx="2988261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altLang="ko-KR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AI </a:t>
            </a: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객체 탐지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나눔스퀘어_ac Bold"/>
              </a:rPr>
              <a:t>얼굴 식별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나눔스퀘어_ac Bold"/>
              </a:rPr>
              <a:t>객체 추적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나눔스퀘어_ac Bold"/>
              </a:rPr>
              <a:t>이벤트 로그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나눔스퀘어_ac Bold"/>
              </a:rPr>
              <a:t>웹 관제 시스템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Google Shape;131;p15"/>
          <p:cNvSpPr txBox="1"/>
          <p:nvPr/>
        </p:nvSpPr>
        <p:spPr>
          <a:xfrm>
            <a:off x="5093674" y="3078097"/>
            <a:ext cx="20046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 smtClean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나눔스퀘어_ac Bold"/>
                <a:sym typeface="나눔스퀘어_ac Bold"/>
              </a:rPr>
              <a:t>기능 고도화</a:t>
            </a:r>
            <a:endParaRPr sz="2000" dirty="0">
              <a:solidFill>
                <a:schemeClr val="accent1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Google Shape;132;p15"/>
          <p:cNvSpPr txBox="1"/>
          <p:nvPr/>
        </p:nvSpPr>
        <p:spPr>
          <a:xfrm>
            <a:off x="4648200" y="3782603"/>
            <a:ext cx="28956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이상행동 </a:t>
            </a:r>
            <a:r>
              <a:rPr lang="en-US" altLang="ko-KR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AI </a:t>
            </a: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분석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다중 </a:t>
            </a:r>
            <a:r>
              <a:rPr lang="en-US" altLang="ko-KR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CCTV </a:t>
            </a: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자동 연계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모바일 실시간 알림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err="1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클라우드</a:t>
            </a: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 기반 관제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위험지역 분석 및 예측</a:t>
            </a:r>
            <a:endParaRPr lang="en-US" altLang="ko-KR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</p:txBody>
      </p:sp>
      <p:sp>
        <p:nvSpPr>
          <p:cNvPr id="31" name="Google Shape;134;p15"/>
          <p:cNvSpPr txBox="1"/>
          <p:nvPr/>
        </p:nvSpPr>
        <p:spPr>
          <a:xfrm>
            <a:off x="9031143" y="3075119"/>
            <a:ext cx="17002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2000" b="1" i="0" u="none" strike="noStrike" cap="none" dirty="0" smtClean="0">
                <a:solidFill>
                  <a:schemeClr val="accent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나눔스퀘어_ac Bold"/>
                <a:sym typeface="나눔스퀘어_ac Bold"/>
              </a:rPr>
              <a:t>최종 목표</a:t>
            </a:r>
            <a:endParaRPr lang="ko-KR" altLang="en-US" sz="2000" b="1" dirty="0">
              <a:solidFill>
                <a:schemeClr val="accent1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나눔스퀘어_ac Bold"/>
            </a:endParaRPr>
          </a:p>
        </p:txBody>
      </p:sp>
      <p:sp>
        <p:nvSpPr>
          <p:cNvPr id="32" name="Google Shape;135;p15"/>
          <p:cNvSpPr txBox="1"/>
          <p:nvPr/>
        </p:nvSpPr>
        <p:spPr>
          <a:xfrm>
            <a:off x="8433906" y="3782603"/>
            <a:ext cx="2895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altLang="ko-KR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AI </a:t>
            </a:r>
            <a:r>
              <a:rPr lang="en-US" altLang="ko-KR" dirty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Smart Surveillance </a:t>
            </a:r>
            <a:r>
              <a:rPr lang="en-US" altLang="ko-KR" dirty="0" smtClean="0">
                <a:solidFill>
                  <a:srgbClr val="47556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_ac Bold"/>
                <a:sym typeface="나눔스퀘어_ac Bold"/>
              </a:rPr>
              <a:t>Platform</a:t>
            </a:r>
          </a:p>
          <a:p>
            <a:pPr algn="ctr">
              <a:lnSpc>
                <a:spcPct val="160000"/>
              </a:lnSpc>
            </a:pPr>
            <a:endParaRPr lang="en-US" altLang="ko-KR" sz="400" dirty="0" smtClean="0">
              <a:solidFill>
                <a:srgbClr val="47556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나눔스퀘어_ac Bold"/>
              <a:sym typeface="나눔스퀘어_ac Bold"/>
            </a:endParaRPr>
          </a:p>
          <a:p>
            <a:pPr algn="ctr">
              <a:lnSpc>
                <a:spcPct val="16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나눔스퀘어_ac Bold"/>
              </a:rPr>
              <a:t>"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나눔스퀘어_ac Bold"/>
              </a:rPr>
              <a:t>예방 중심의 스마트 통합 관제 시스템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나눔스퀘어_ac Bold"/>
              </a:rPr>
              <a:t>"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sym typeface="나눔스퀘어_ac Bold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5168812" y="3417609"/>
            <a:ext cx="1869296" cy="223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확장 방향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>
            <a:off x="3878062" y="3417609"/>
            <a:ext cx="474750" cy="600211"/>
          </a:xfrm>
          <a:prstGeom prst="rightArrow">
            <a:avLst/>
          </a:prstGeom>
          <a:solidFill>
            <a:srgbClr val="088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오른쪽 화살표 37"/>
          <p:cNvSpPr/>
          <p:nvPr/>
        </p:nvSpPr>
        <p:spPr>
          <a:xfrm>
            <a:off x="7625266" y="3417608"/>
            <a:ext cx="474750" cy="600211"/>
          </a:xfrm>
          <a:prstGeom prst="rightArrow">
            <a:avLst/>
          </a:prstGeom>
          <a:solidFill>
            <a:srgbClr val="088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69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50</Words>
  <Application>Microsoft Office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나눔스퀘어 Bold</vt:lpstr>
      <vt:lpstr>Arial</vt:lpstr>
      <vt:lpstr>나눔스퀘어</vt:lpstr>
      <vt:lpstr>Calibri</vt:lpstr>
      <vt:lpstr>맑은 고딕</vt:lpstr>
      <vt:lpstr>나눔스퀘어_ac Bold</vt:lpstr>
      <vt:lpstr>맑은 고딕</vt:lpstr>
      <vt:lpstr>Office Theme</vt:lpstr>
      <vt:lpstr>향후 확장 방향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user</cp:lastModifiedBy>
  <cp:revision>666</cp:revision>
  <dcterms:modified xsi:type="dcterms:W3CDTF">2026-07-21T12:50:16Z</dcterms:modified>
</cp:coreProperties>
</file>