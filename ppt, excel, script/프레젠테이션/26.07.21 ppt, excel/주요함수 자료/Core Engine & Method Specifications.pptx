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6975" y="2524125"/>
            <a:ext cx="76209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4500" i="0" u="none">
                <a:solidFill>
                  <a:srgbClr val="F8FAFC"/>
                </a:solidFill>
                <a:latin typeface="Poppins"/>
              </a:rPr>
              <a:t>지능형 관제 엔진 </a:t>
            </a:r>
            <a:r>
              <a:rPr b="1" sz="4500" i="0" u="none">
                <a:solidFill>
                  <a:srgbClr val="F8FAFC"/>
                </a:solidFill>
                <a:latin typeface="Poppins"/>
              </a:rPr>
              <a:t>핵심 함수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4237" y="3857625"/>
            <a:ext cx="53435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Noto Sans KR Light"/>
              </a:rPr>
              <a:t>보안 쉴드 솔루션 E2E 파이프라인 주요 메소드 및 아키텍처 상세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429" y="1995487"/>
            <a:ext cx="22897951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76362"/>
            <a:ext cx="1856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역할 및 권한 설계의 영속성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38362"/>
            <a:ext cx="176792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계정 생성 단계에서 역할을 검증하고 정교한 인메모리 권한 관리를 수립합니다.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205162"/>
            <a:ext cx="14821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make_member()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ADMIN/OBSERVER 별 권한 자동 매핑 및 신규 유저 데이터 딕셔너리 빌딩을 보장합니다.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719637"/>
            <a:ext cx="14821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apply_permissions()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이미 소유한 중복 권한 유무를 동적 검사하여 계정 파일에 즉시 영속화(Sync)합니다.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1404" y="2490787"/>
            <a:ext cx="9290595" cy="294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F43F5E"/>
                </a:solidFill>
                <a:latin typeface="Consolas"/>
              </a:rPr>
              <a:t>def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make_member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member_data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now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get_current_time_stamp_formated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member_data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</a:t>
            </a:r>
            <a:r>
              <a:rPr b="0" sz="1012" i="0" u="none">
                <a:solidFill>
                  <a:srgbClr val="34D399"/>
                </a:solidFill>
                <a:latin typeface="Consolas"/>
              </a:rPr>
              <a:t>"permission"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 == </a:t>
            </a:r>
            <a:r>
              <a:rPr b="0" sz="1012" i="0" u="none">
                <a:solidFill>
                  <a:srgbClr val="34D399"/>
                </a:solidFill>
                <a:latin typeface="Consolas"/>
              </a:rPr>
              <a:t>"ADMIN"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else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permissions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[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perm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value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for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perm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OBSERVER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return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{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configs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KEY_PERMISSIONS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permissions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,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configs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KEY_IS_FIRST_LOGIN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True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90412" y="2176462"/>
            <a:ext cx="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Consolas"/>
              </a:rPr>
              <a:t>auth_domain.py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8100" y="2677120"/>
            <a:ext cx="22536001" cy="186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28975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43450"/>
            <a:ext cx="133498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- 1. 사용자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50" y="2033587"/>
            <a:ext cx="19341554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09600"/>
            <a:ext cx="1540192" cy="1057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백그라운드 스트림 수집 및 가용성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19275"/>
            <a:ext cx="1466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무중단 영상 흐름을 유지하기 위해 자원 경합을 방지하고 프레임을 안전하게 제어합니다.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86075"/>
            <a:ext cx="11811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_capture_loop()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무한 백그라운드 캡처 루프를 돌며 미작동 시 자동 재접속 및 영상 완료 시 처음부터 무한 재생을 지원합니다.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857750"/>
            <a:ext cx="11811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_read_frame() &amp; release()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멀티스레드 레이스 컨디션을 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self.lock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제어로 차단하고 안정적으로 비디오 자원을 영구 반환합니다.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325" y="2528887"/>
            <a:ext cx="9591675" cy="294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F43F5E"/>
                </a:solidFill>
                <a:latin typeface="Consolas"/>
              </a:rPr>
              <a:t>def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_capture_loop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self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):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while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self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on_running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success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,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frame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self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camera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read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success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and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frame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is not None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time.sleep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sleep_time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else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self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camera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set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CAP_PROP_POS_FRAMES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,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0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0" sz="1012" i="1" u="none">
                <a:solidFill>
                  <a:srgbClr val="64748B"/>
                </a:solidFill>
                <a:latin typeface="Consolas"/>
              </a:rPr>
              <a:t># 루프 재생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97651" y="2214562"/>
            <a:ext cx="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Consolas"/>
              </a:rPr>
              <a:t>camera_stream.py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7713" y="2715220"/>
            <a:ext cx="18979604" cy="186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4559" y="2715220"/>
            <a:ext cx="18979604" cy="18633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1941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1087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-219075"/>
            <a:ext cx="1145143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- 2. 영상 입력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-21907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175" y="2033587"/>
            <a:ext cx="24055089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962025"/>
            <a:ext cx="1670208" cy="1057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추적 주기 지능형 조율과 특징점 매칭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71700"/>
            <a:ext cx="15906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GPU 오버헤드를 막기 위해 인식 빈도를 조절하고 선형대수 연산 기반 실시간 분류를 수행합니다.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238500"/>
            <a:ext cx="130492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track_identified()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미식별자(1초)와 기식별자(30초) 주기를 달리하여 AI 연산 지연을 최적화하고 화면 탈출 시 가비지 컬렉션을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981575"/>
            <a:ext cx="130492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identify()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특징점 임베딩 벡터 간 코사인 유사도(Dot Product)를 고속 매핑하여 임계값 0.45 이상 타겟을 검출합니다.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150" y="2528887"/>
            <a:ext cx="9467850" cy="294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F43F5E"/>
                </a:solidFill>
                <a:latin typeface="Consolas"/>
              </a:rPr>
              <a:t>def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identify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person_img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faces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get_face_app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().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get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person_img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 not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faces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: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return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NO_MATCH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current_embedding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faces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0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normed_embedding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best_idx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np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argmax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similarities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IDENTIFY_THREASHOLD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&gt;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similarities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best_idx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]: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return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NO_MATCH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5581" y="2214562"/>
            <a:ext cx="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Consolas"/>
              </a:rPr>
              <a:t>ai_engine.py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6164" y="2715220"/>
            <a:ext cx="23693139" cy="186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71837"/>
            <a:ext cx="1905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14912"/>
            <a:ext cx="1905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133350"/>
            <a:ext cx="1145143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- 3. AI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998" y="1995487"/>
            <a:ext cx="23073419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2862"/>
            <a:ext cx="1340323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이벤트 발생 영속화 및 클라이언트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14462"/>
            <a:ext cx="12764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신규 침입/탐지 건을 JSON 데이터로 백업하고 단방향 SSE 파이프를 통해 실시간 브로드캐스트합니다.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938462"/>
            <a:ext cx="99074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add_event()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생성된 이벤트를 고유 UUID 및 미읽음 상태(False)로 보존 처리하며 파일 I/O 정밀 예외처리를 진행합니다.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138737"/>
            <a:ext cx="990748" cy="171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connectSSE()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웹 브라우저의 EventSource 개체를 연결해 토스트 알림을 즉각 트리거하고 실시간 테이블 행 데이터를 가공합니다.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9973" y="2490787"/>
            <a:ext cx="9782026" cy="294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F43F5E"/>
                </a:solidFill>
                <a:latin typeface="Consolas"/>
              </a:rPr>
              <a:t>function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connectSSE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() {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window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eventSource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return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;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window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eventSource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onmessage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async function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event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{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audio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play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();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showToast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34D399"/>
                </a:solidFill>
                <a:latin typeface="Consolas"/>
              </a:rPr>
              <a:t>"새 로그가 발생했습니다."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);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const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response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await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fetch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34D399"/>
                </a:solidFill>
                <a:latin typeface="Consolas"/>
              </a:rPr>
              <a:t>`/event_log/new?after=${lastLogId}`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); };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06733" y="2176462"/>
            <a:ext cx="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Consolas"/>
              </a:rPr>
              <a:t>sse_listener.js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551" y="2677120"/>
            <a:ext cx="22711469" cy="186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2275"/>
            <a:ext cx="133498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62550"/>
            <a:ext cx="133498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-709612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- 4. 이벤트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-709612"/>
            <a:ext cx="57150" cy="4667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2731"/>
            <a:ext cx="11049000" cy="20812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812256"/>
          <a:ext cx="11029949" cy="206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57487"/>
                <a:gridCol w="5514975"/>
                <a:gridCol w="2757487"/>
              </a:tblGrid>
              <a:tr h="68738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Noto Sans KR SemiBold"/>
                        </a:rPr>
                        <a:t>대상 함수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Noto Sans KR SemiBold"/>
                        </a:rPr>
                        <a:t>기능 핵심 설명 및 가공 파이프라인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Noto Sans KR SemiBold"/>
                        </a:rPr>
                        <a:t>대시보드 연동 가치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873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Noto Sans KR"/>
                        </a:rPr>
                        <a:t>get_dashboard_data()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Noto Sans KR"/>
                        </a:rPr>
                        <a:t>전체 활성 카메라 정보, 미승인 계정 카운트, 읽지 않은 경보 등을 취합 및 종합 데이터 패키징을 수행하여 백엔드에서 반환합니다.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D9488"/>
                          </a:solidFill>
                          <a:latin typeface="Noto Sans KR"/>
                        </a:rPr>
                        <a:t> 시스템 상태 요약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Noto Sans KR"/>
                        </a:rPr>
                        <a:t>_make_recent_events()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Noto Sans KR"/>
                        </a:rPr>
                        <a:t>로그 데이터 중 시간 포맷 역순 정렬을 거친 뒤, 인자로 지정한 상위 N개(기본 6개)를 카드 리스트 뷰 인터페이스 규격으로 포매팅합니다.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D9488"/>
                          </a:solidFill>
                          <a:latin typeface="Noto Sans KR"/>
                        </a:rPr>
                        <a:t> 실시간 식별 피드</a:t>
                      </a:r>
                    </a:p>
                  </a:txBody>
                  <a:tcPr anchor="ctr" marL="2667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326606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8512" y="3326606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53487" y="3326606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0981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8512" y="4098131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53487" y="40981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987" y="4426743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987" y="3655218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987" y="3655218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987" y="4426743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- 5. 서비스 화면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2033587"/>
            <a:ext cx="196436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04925"/>
            <a:ext cx="2110263" cy="1057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Poppins SemiBold"/>
              </a:rPr>
              <a:t>정밀 이동 궤적 생성 및 카카오 지도 렌더링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14600"/>
            <a:ext cx="20097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수천 개의 이력 로그 중 핵심 구간만 추출하는 다운샘플링 기법으로 프론트엔드 연산 부하를 제어합니다.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581400"/>
            <a:ext cx="17240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get_map_data()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타겟의 최근 10개 좌표를 정렬하고, 가독성을 위해 5분할 수준으로 데이터 균등 샘플링을 수행해 동선을 빌딩합니다.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095875"/>
            <a:ext cx="17240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Noto Sans KR"/>
              </a:rPr>
              <a:t>renderDashboardMap()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Noto Sans KR"/>
              </a:rPr>
              <a:t> Kakao Map API와 물리적 동기화를 처리하고 비정상 상태 시 가벼운 예외 안내 뷰포트를 제공합니다.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2528887"/>
            <a:ext cx="9048750" cy="294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F43F5E"/>
                </a:solidFill>
                <a:latin typeface="Consolas"/>
              </a:rPr>
              <a:t>def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get_map_data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target_id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=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None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event_logs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= 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load_json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EVENT_LOGS_FILE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) </a:t>
            </a:r>
            <a:r>
              <a:rPr b="0" sz="1012" i="1" u="none">
                <a:solidFill>
                  <a:srgbClr val="64748B"/>
                </a:solidFill>
                <a:latin typeface="Consolas"/>
              </a:rPr>
              <a:t># ... 정렬 및 최근 10개 필터 완료 후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1" sz="1012" i="0" u="none">
                <a:solidFill>
                  <a:srgbClr val="F43F5E"/>
                </a:solidFill>
                <a:latin typeface="Consolas"/>
              </a:rPr>
              <a:t>if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sampled_logs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[-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1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 !=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logs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[-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1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]: 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sampled_logs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.</a:t>
            </a:r>
            <a:r>
              <a:rPr b="0" sz="1012" i="0" u="none">
                <a:solidFill>
                  <a:srgbClr val="38BDF8"/>
                </a:solidFill>
                <a:latin typeface="Consolas"/>
              </a:rPr>
              <a:t>append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(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logs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[-</a:t>
            </a:r>
            <a:r>
              <a:rPr b="0" sz="1012" i="0" u="none">
                <a:solidFill>
                  <a:srgbClr val="FBBF24"/>
                </a:solidFill>
                <a:latin typeface="Consolas"/>
              </a:rPr>
              <a:t>1</a:t>
            </a:r>
            <a:r>
              <a:rPr b="0" sz="1012" i="0" u="none">
                <a:solidFill>
                  <a:srgbClr val="CBD5E1"/>
                </a:solidFill>
                <a:latin typeface="Consolas"/>
              </a:rPr>
              <a:t>]) </a:t>
            </a:r>
            <a:r>
              <a:rPr b="0" sz="1012" i="1" u="none">
                <a:solidFill>
                  <a:srgbClr val="64748B"/>
                </a:solidFill>
                <a:latin typeface="Consolas"/>
              </a:rPr>
              <a:t># 최종 위치 확보 보장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42697" y="2214562"/>
            <a:ext cx="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Consolas"/>
              </a:rPr>
              <a:t>map_processor.py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8815" y="2715220"/>
            <a:ext cx="19281725" cy="186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7782" y="2715220"/>
            <a:ext cx="19281725" cy="18633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14737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129212"/>
            <a:ext cx="1905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476250"/>
            <a:ext cx="1145143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03. 주요 함수 - 5. 서비스 화면 (지도 연동)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679" y="4010025"/>
            <a:ext cx="5798641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5293" y="2371725"/>
            <a:ext cx="3801412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oppins"/>
              </a:rPr>
              <a:t>Technical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152775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Noto Sans KR"/>
              </a:rPr>
              <a:t>지능형 관제 시스템 주요 함수 파이프라인 설계에 관한 테크니컬 질의를 부탁드립니다.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