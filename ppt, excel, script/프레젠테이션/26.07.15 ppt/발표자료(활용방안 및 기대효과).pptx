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5"/>
  </p:notesMasterIdLst>
  <p:sldIdLst>
    <p:sldId id="268" r:id="rId2"/>
    <p:sldId id="269" r:id="rId3"/>
    <p:sldId id="270" r:id="rId4"/>
  </p:sldIdLst>
  <p:sldSz cx="12192000" cy="6858000"/>
  <p:notesSz cx="6858000" cy="9144000"/>
  <p:embeddedFontLst>
    <p:embeddedFont>
      <p:font typeface="Poppins Black" panose="020B0600000101010101" charset="0"/>
      <p:bold r:id="rId6"/>
      <p:boldItalic r:id="rId7"/>
    </p:embeddedFon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나눔스퀘어_ac Bold" panose="020B0600000101010101" pitchFamily="50" charset="-127"/>
      <p:bold r:id="rId12"/>
    </p:embeddedFont>
    <p:embeddedFont>
      <p:font typeface="맑은 고딕" panose="020B0503020000020004" pitchFamily="50" charset="-127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43F0"/>
    <a:srgbClr val="B9D0EE"/>
    <a:srgbClr val="254061"/>
    <a:srgbClr val="F5F5F5"/>
    <a:srgbClr val="D3E8FD"/>
    <a:srgbClr val="FFFFFF"/>
    <a:srgbClr val="CAE2F7"/>
    <a:srgbClr val="25A7FF"/>
    <a:srgbClr val="F4F9FE"/>
    <a:srgbClr val="F7F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129593-B734-4C85-9C7D-A55B29953C11}" v="140" dt="2026-07-14T14:30:42.095"/>
    <p1510:client id="{B739DA07-CC4F-4792-A8DC-AA79F63479ED}" v="2957" dt="2026-07-14T16:09:22.4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077" autoAdjust="0"/>
  </p:normalViewPr>
  <p:slideViewPr>
    <p:cSldViewPr snapToGrid="0">
      <p:cViewPr>
        <p:scale>
          <a:sx n="100" d="100"/>
          <a:sy n="100" d="100"/>
        </p:scale>
        <p:origin x="954" y="42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0" Type="http://schemas.openxmlformats.org/officeDocument/2006/relationships/font" Target="fonts/font5.fntdata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55686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18989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84;p13" descr="image.png"/>
          <p:cNvPicPr preferRelativeResize="0"/>
          <p:nvPr userDrawn="1"/>
        </p:nvPicPr>
        <p:blipFill rotWithShape="1">
          <a:blip r:embed="rId11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3.jpg"/><Relationship Id="rId7" Type="http://schemas.openxmlformats.org/officeDocument/2006/relationships/image" Target="../media/image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20"/>
          <p:cNvSpPr>
            <a:spLocks noChangeAspect="1"/>
          </p:cNvSpPr>
          <p:nvPr/>
        </p:nvSpPr>
        <p:spPr>
          <a:xfrm>
            <a:off x="6367128" y="3911229"/>
            <a:ext cx="1548000" cy="1660105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31" name="TextBox 30"/>
          <p:cNvSpPr txBox="1"/>
          <p:nvPr/>
        </p:nvSpPr>
        <p:spPr>
          <a:xfrm>
            <a:off x="6564687" y="5007621"/>
            <a:ext cx="11528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데이터 기반</a:t>
            </a:r>
            <a:endParaRPr lang="en-US" altLang="ko-KR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의사결정 지원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625" t="17813" r="2500" b="71875"/>
          <a:stretch/>
        </p:blipFill>
        <p:spPr>
          <a:xfrm>
            <a:off x="6622421" y="3958016"/>
            <a:ext cx="1037414" cy="1078218"/>
          </a:xfrm>
          <a:prstGeom prst="rect">
            <a:avLst/>
          </a:prstGeom>
        </p:spPr>
      </p:pic>
      <p:sp>
        <p:nvSpPr>
          <p:cNvPr id="72" name="Shape 20"/>
          <p:cNvSpPr>
            <a:spLocks noChangeAspect="1"/>
          </p:cNvSpPr>
          <p:nvPr/>
        </p:nvSpPr>
        <p:spPr>
          <a:xfrm>
            <a:off x="8073799" y="3910417"/>
            <a:ext cx="1548000" cy="1660105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73" name="Shape 20"/>
          <p:cNvSpPr>
            <a:spLocks noChangeAspect="1"/>
          </p:cNvSpPr>
          <p:nvPr/>
        </p:nvSpPr>
        <p:spPr>
          <a:xfrm>
            <a:off x="9780470" y="3905302"/>
            <a:ext cx="1548000" cy="1660105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63" name="Shape 20"/>
          <p:cNvSpPr>
            <a:spLocks noChangeAspect="1"/>
          </p:cNvSpPr>
          <p:nvPr/>
        </p:nvSpPr>
        <p:spPr>
          <a:xfrm>
            <a:off x="6367128" y="2066732"/>
            <a:ext cx="1548000" cy="1660105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64" name="Shape 20"/>
          <p:cNvSpPr>
            <a:spLocks noChangeAspect="1"/>
          </p:cNvSpPr>
          <p:nvPr/>
        </p:nvSpPr>
        <p:spPr>
          <a:xfrm>
            <a:off x="8073799" y="2065920"/>
            <a:ext cx="1548000" cy="1660105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65" name="Shape 20"/>
          <p:cNvSpPr>
            <a:spLocks noChangeAspect="1"/>
          </p:cNvSpPr>
          <p:nvPr/>
        </p:nvSpPr>
        <p:spPr>
          <a:xfrm>
            <a:off x="9780470" y="2060805"/>
            <a:ext cx="1548000" cy="1660105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61" name="Shape 20"/>
          <p:cNvSpPr>
            <a:spLocks noChangeAspect="1"/>
          </p:cNvSpPr>
          <p:nvPr/>
        </p:nvSpPr>
        <p:spPr>
          <a:xfrm>
            <a:off x="1588198" y="3868530"/>
            <a:ext cx="1656000" cy="1719470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21" name="TextBox 20"/>
          <p:cNvSpPr txBox="1"/>
          <p:nvPr/>
        </p:nvSpPr>
        <p:spPr>
          <a:xfrm>
            <a:off x="1894260" y="5048114"/>
            <a:ext cx="10438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대규모 행사</a:t>
            </a:r>
            <a:endParaRPr lang="en-US" altLang="ko-KR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및 시설 보안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0" name="Shape 20"/>
          <p:cNvSpPr>
            <a:spLocks noChangeAspect="1"/>
          </p:cNvSpPr>
          <p:nvPr/>
        </p:nvSpPr>
        <p:spPr>
          <a:xfrm>
            <a:off x="3436855" y="3868530"/>
            <a:ext cx="1656000" cy="1719470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88" t="17813" r="18437" b="71875"/>
          <a:stretch/>
        </p:blipFill>
        <p:spPr>
          <a:xfrm>
            <a:off x="10035762" y="3983216"/>
            <a:ext cx="1037414" cy="1078218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50" t="24844" r="61875" b="66250"/>
          <a:stretch/>
        </p:blipFill>
        <p:spPr>
          <a:xfrm>
            <a:off x="1785560" y="3936971"/>
            <a:ext cx="1261277" cy="1132129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313" t="23906" r="52812" b="65781"/>
          <a:stretch/>
        </p:blipFill>
        <p:spPr>
          <a:xfrm>
            <a:off x="3723601" y="3936971"/>
            <a:ext cx="1089285" cy="1132129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54" t="17813" r="42500" b="71973"/>
          <a:stretch/>
        </p:blipFill>
        <p:spPr>
          <a:xfrm>
            <a:off x="6632389" y="2113519"/>
            <a:ext cx="1012475" cy="1078218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786" t="17716" r="34651" b="71874"/>
          <a:stretch/>
        </p:blipFill>
        <p:spPr>
          <a:xfrm>
            <a:off x="8357009" y="2113519"/>
            <a:ext cx="980970" cy="1078218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719" t="18073" r="26406" b="71614"/>
          <a:stretch/>
        </p:blipFill>
        <p:spPr>
          <a:xfrm>
            <a:off x="10035763" y="2136840"/>
            <a:ext cx="1037414" cy="1078218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812" t="17813" r="10625" b="71875"/>
          <a:stretch/>
        </p:blipFill>
        <p:spPr>
          <a:xfrm>
            <a:off x="8352669" y="3955413"/>
            <a:ext cx="990260" cy="1078218"/>
          </a:xfrm>
          <a:prstGeom prst="rect">
            <a:avLst/>
          </a:prstGeom>
        </p:spPr>
      </p:pic>
      <p:sp>
        <p:nvSpPr>
          <p:cNvPr id="51" name="Shape 20"/>
          <p:cNvSpPr>
            <a:spLocks noChangeAspect="1"/>
          </p:cNvSpPr>
          <p:nvPr/>
        </p:nvSpPr>
        <p:spPr>
          <a:xfrm>
            <a:off x="671809" y="2089379"/>
            <a:ext cx="1656000" cy="1719470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2" t="23906" r="89688" b="65313"/>
          <a:stretch/>
        </p:blipFill>
        <p:spPr>
          <a:xfrm>
            <a:off x="926032" y="2174940"/>
            <a:ext cx="1136646" cy="113212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92927" y="3256269"/>
            <a:ext cx="9989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실시간 관제</a:t>
            </a:r>
            <a:endParaRPr lang="en-US" altLang="ko-KR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시스템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52" name="Shape 20"/>
          <p:cNvSpPr>
            <a:spLocks noChangeAspect="1"/>
          </p:cNvSpPr>
          <p:nvPr/>
        </p:nvSpPr>
        <p:spPr>
          <a:xfrm>
            <a:off x="2511103" y="2082732"/>
            <a:ext cx="1656000" cy="1719470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88" t="24844" r="79374" b="65312"/>
          <a:stretch/>
        </p:blipFill>
        <p:spPr>
          <a:xfrm>
            <a:off x="2636988" y="2193155"/>
            <a:ext cx="1400512" cy="113212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837498" y="3250825"/>
            <a:ext cx="9989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재난</a:t>
            </a:r>
            <a:r>
              <a:rPr lang="en-US" altLang="ko-KR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·</a:t>
            </a:r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재해</a:t>
            </a:r>
            <a:endParaRPr lang="en-US" altLang="ko-KR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실종자 수색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691577" y="5050263"/>
            <a:ext cx="11528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국가 및 국방</a:t>
            </a:r>
            <a:endParaRPr lang="en-US" altLang="ko-KR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중요시설 보안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619190" y="3163125"/>
            <a:ext cx="10438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신속한 대상</a:t>
            </a:r>
            <a:endParaRPr lang="en-US" altLang="ko-KR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식별 및 대응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426379" y="3191737"/>
            <a:ext cx="8451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관제 업무</a:t>
            </a:r>
            <a:endParaRPr lang="en-US" altLang="ko-KR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자동화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054974" y="3163125"/>
            <a:ext cx="9989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수색 효율성</a:t>
            </a:r>
            <a:endParaRPr lang="en-US" altLang="ko-KR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강화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447689" y="5033631"/>
            <a:ext cx="8002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운영비용</a:t>
            </a:r>
            <a:endParaRPr lang="en-US" altLang="ko-KR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절감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154359" y="5007621"/>
            <a:ext cx="8002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공공안전</a:t>
            </a:r>
            <a:endParaRPr lang="en-US" altLang="ko-KR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강화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4" name="모서리가 둥근 직사각형 33"/>
          <p:cNvSpPr/>
          <p:nvPr/>
        </p:nvSpPr>
        <p:spPr>
          <a:xfrm>
            <a:off x="606236" y="1380505"/>
            <a:ext cx="1250560" cy="380371"/>
          </a:xfrm>
          <a:prstGeom prst="roundRect">
            <a:avLst/>
          </a:prstGeom>
          <a:solidFill>
            <a:srgbClr val="1443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1. </a:t>
            </a:r>
            <a:r>
              <a:rPr lang="ko-KR" altLang="en-US" sz="16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활용방안</a:t>
            </a:r>
            <a:endParaRPr lang="ko-KR" altLang="en-US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5" name="모서리가 둥근 직사각형 34"/>
          <p:cNvSpPr/>
          <p:nvPr/>
        </p:nvSpPr>
        <p:spPr>
          <a:xfrm>
            <a:off x="6104182" y="1366716"/>
            <a:ext cx="1250560" cy="380371"/>
          </a:xfrm>
          <a:prstGeom prst="roundRect">
            <a:avLst/>
          </a:prstGeom>
          <a:solidFill>
            <a:srgbClr val="1443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2. </a:t>
            </a:r>
            <a:r>
              <a:rPr lang="ko-KR" altLang="en-US" sz="16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기대효과</a:t>
            </a:r>
            <a:endParaRPr lang="ko-KR" altLang="en-US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cxnSp>
        <p:nvCxnSpPr>
          <p:cNvPr id="38" name="직선 연결선 37"/>
          <p:cNvCxnSpPr/>
          <p:nvPr/>
        </p:nvCxnSpPr>
        <p:spPr>
          <a:xfrm flipV="1">
            <a:off x="606641" y="1145219"/>
            <a:ext cx="10979123" cy="9327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Shape 20"/>
          <p:cNvSpPr>
            <a:spLocks noChangeAspect="1"/>
          </p:cNvSpPr>
          <p:nvPr/>
        </p:nvSpPr>
        <p:spPr>
          <a:xfrm>
            <a:off x="4365485" y="2084840"/>
            <a:ext cx="1656000" cy="1719470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pic>
        <p:nvPicPr>
          <p:cNvPr id="55" name="그림 5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87" t="23906" r="70625" b="65781"/>
          <a:stretch/>
        </p:blipFill>
        <p:spPr>
          <a:xfrm>
            <a:off x="4622343" y="2177855"/>
            <a:ext cx="1138798" cy="1132129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4717643" y="3251888"/>
            <a:ext cx="9541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스마트시티</a:t>
            </a:r>
            <a:endParaRPr lang="en-US" altLang="ko-KR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통합 관제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606641" y="1375321"/>
            <a:ext cx="10979123" cy="479687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Google Shape;179;p16"/>
          <p:cNvSpPr txBox="1"/>
          <p:nvPr/>
        </p:nvSpPr>
        <p:spPr>
          <a:xfrm>
            <a:off x="771526" y="581025"/>
            <a:ext cx="373996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altLang="ko-KR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05   </a:t>
            </a:r>
            <a:r>
              <a:rPr lang="ko-KR" altLang="en-US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활용방안 및 기대효과</a:t>
            </a:r>
            <a:endParaRPr lang="ko-KR" altLang="en-US" sz="2850" b="1" dirty="0">
              <a:solidFill>
                <a:srgbClr val="0F172A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Poppins Black"/>
            </a:endParaRPr>
          </a:p>
        </p:txBody>
      </p:sp>
    </p:spTree>
    <p:extLst>
      <p:ext uri="{BB962C8B-B14F-4D97-AF65-F5344CB8AC3E}">
        <p14:creationId xmlns:p14="http://schemas.microsoft.com/office/powerpoint/2010/main" val="881673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20"/>
          <p:cNvSpPr>
            <a:spLocks noChangeAspect="1"/>
          </p:cNvSpPr>
          <p:nvPr/>
        </p:nvSpPr>
        <p:spPr>
          <a:xfrm>
            <a:off x="4304957" y="2054869"/>
            <a:ext cx="1548000" cy="816865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77" name="Shape 20"/>
          <p:cNvSpPr>
            <a:spLocks noChangeAspect="1"/>
          </p:cNvSpPr>
          <p:nvPr/>
        </p:nvSpPr>
        <p:spPr>
          <a:xfrm>
            <a:off x="888702" y="2054869"/>
            <a:ext cx="1548000" cy="816865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78" name="Shape 20"/>
          <p:cNvSpPr>
            <a:spLocks noChangeAspect="1"/>
          </p:cNvSpPr>
          <p:nvPr/>
        </p:nvSpPr>
        <p:spPr>
          <a:xfrm>
            <a:off x="696013" y="3173761"/>
            <a:ext cx="1548000" cy="816865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79" name="Shape 20"/>
          <p:cNvSpPr>
            <a:spLocks noChangeAspect="1"/>
          </p:cNvSpPr>
          <p:nvPr/>
        </p:nvSpPr>
        <p:spPr>
          <a:xfrm>
            <a:off x="4469554" y="3173761"/>
            <a:ext cx="1548000" cy="816865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80" name="Shape 20"/>
          <p:cNvSpPr>
            <a:spLocks noChangeAspect="1"/>
          </p:cNvSpPr>
          <p:nvPr/>
        </p:nvSpPr>
        <p:spPr>
          <a:xfrm>
            <a:off x="4343360" y="4290389"/>
            <a:ext cx="1548000" cy="816865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81" name="Shape 20"/>
          <p:cNvSpPr>
            <a:spLocks noChangeAspect="1"/>
          </p:cNvSpPr>
          <p:nvPr/>
        </p:nvSpPr>
        <p:spPr>
          <a:xfrm>
            <a:off x="875597" y="4290389"/>
            <a:ext cx="1548000" cy="816865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82" name="Shape 20"/>
          <p:cNvSpPr>
            <a:spLocks noChangeAspect="1"/>
          </p:cNvSpPr>
          <p:nvPr/>
        </p:nvSpPr>
        <p:spPr>
          <a:xfrm>
            <a:off x="2581017" y="4853770"/>
            <a:ext cx="1548000" cy="816865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71" name="Shape 20"/>
          <p:cNvSpPr>
            <a:spLocks noChangeAspect="1"/>
          </p:cNvSpPr>
          <p:nvPr/>
        </p:nvSpPr>
        <p:spPr>
          <a:xfrm>
            <a:off x="9780470" y="3905302"/>
            <a:ext cx="1548000" cy="1660105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19" t="55313" r="4375" b="34375"/>
          <a:stretch/>
        </p:blipFill>
        <p:spPr>
          <a:xfrm>
            <a:off x="10056051" y="3995805"/>
            <a:ext cx="996836" cy="1069774"/>
          </a:xfrm>
          <a:prstGeom prst="rect">
            <a:avLst/>
          </a:prstGeom>
        </p:spPr>
      </p:pic>
      <p:sp>
        <p:nvSpPr>
          <p:cNvPr id="69" name="Shape 20"/>
          <p:cNvSpPr>
            <a:spLocks noChangeAspect="1"/>
          </p:cNvSpPr>
          <p:nvPr/>
        </p:nvSpPr>
        <p:spPr>
          <a:xfrm>
            <a:off x="6367128" y="3911229"/>
            <a:ext cx="1548000" cy="1660105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70" name="Shape 20"/>
          <p:cNvSpPr>
            <a:spLocks noChangeAspect="1"/>
          </p:cNvSpPr>
          <p:nvPr/>
        </p:nvSpPr>
        <p:spPr>
          <a:xfrm>
            <a:off x="8073799" y="3910417"/>
            <a:ext cx="1548000" cy="1660105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72" name="Shape 20"/>
          <p:cNvSpPr>
            <a:spLocks noChangeAspect="1"/>
          </p:cNvSpPr>
          <p:nvPr/>
        </p:nvSpPr>
        <p:spPr>
          <a:xfrm>
            <a:off x="6367128" y="2066732"/>
            <a:ext cx="1548000" cy="1660105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73" name="Shape 20"/>
          <p:cNvSpPr>
            <a:spLocks noChangeAspect="1"/>
          </p:cNvSpPr>
          <p:nvPr/>
        </p:nvSpPr>
        <p:spPr>
          <a:xfrm>
            <a:off x="8073799" y="2065920"/>
            <a:ext cx="1548000" cy="1660105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74" name="Shape 20"/>
          <p:cNvSpPr>
            <a:spLocks noChangeAspect="1"/>
          </p:cNvSpPr>
          <p:nvPr/>
        </p:nvSpPr>
        <p:spPr>
          <a:xfrm>
            <a:off x="9780470" y="2060805"/>
            <a:ext cx="1548000" cy="1660105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282" t="55313" r="20156" b="34375"/>
          <a:stretch/>
        </p:blipFill>
        <p:spPr>
          <a:xfrm>
            <a:off x="6630554" y="3990626"/>
            <a:ext cx="1021147" cy="106977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094" t="55313" r="12344" b="34375"/>
          <a:stretch/>
        </p:blipFill>
        <p:spPr>
          <a:xfrm>
            <a:off x="8336920" y="3990626"/>
            <a:ext cx="1021147" cy="1069774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32" t="55313" r="43594" b="34375"/>
          <a:stretch/>
        </p:blipFill>
        <p:spPr>
          <a:xfrm>
            <a:off x="6606241" y="2174457"/>
            <a:ext cx="1069774" cy="1069774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344" t="55313" r="36094" b="34375"/>
          <a:stretch/>
        </p:blipFill>
        <p:spPr>
          <a:xfrm>
            <a:off x="8336920" y="2149173"/>
            <a:ext cx="1021147" cy="1069774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157" t="55313" r="28281" b="34375"/>
          <a:stretch/>
        </p:blipFill>
        <p:spPr>
          <a:xfrm>
            <a:off x="10048878" y="2145125"/>
            <a:ext cx="1021147" cy="1069774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718577" y="5121921"/>
            <a:ext cx="8451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위치 추적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718576" y="3274734"/>
            <a:ext cx="8451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통합 관제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8320582" y="3280637"/>
            <a:ext cx="10567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AI </a:t>
            </a:r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자동 탐지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0131917" y="3280636"/>
            <a:ext cx="8451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얼굴 인식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8348303" y="5121921"/>
            <a:ext cx="9989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실시간 알림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0231304" y="5121921"/>
            <a:ext cx="6463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확장성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6" t="55449" r="91719" b="39395"/>
          <a:stretch/>
        </p:blipFill>
        <p:spPr>
          <a:xfrm>
            <a:off x="1007965" y="2146102"/>
            <a:ext cx="583513" cy="641865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719" t="55449" r="65156" b="39863"/>
          <a:stretch/>
        </p:blipFill>
        <p:spPr>
          <a:xfrm>
            <a:off x="4404042" y="2146102"/>
            <a:ext cx="641863" cy="641865"/>
          </a:xfrm>
          <a:prstGeom prst="rect">
            <a:avLst/>
          </a:prstGeom>
        </p:spPr>
      </p:pic>
      <p:pic>
        <p:nvPicPr>
          <p:cNvPr id="24" name="그림 2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93" t="64356" r="62657" b="30488"/>
          <a:stretch/>
        </p:blipFill>
        <p:spPr>
          <a:xfrm>
            <a:off x="4669662" y="3280167"/>
            <a:ext cx="700216" cy="641865"/>
          </a:xfrm>
          <a:prstGeom prst="rect">
            <a:avLst/>
          </a:prstGeom>
        </p:spPr>
      </p:pic>
      <p:pic>
        <p:nvPicPr>
          <p:cNvPr id="25" name="그림 2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8" t="63887" r="93282" b="30488"/>
          <a:stretch/>
        </p:blipFill>
        <p:spPr>
          <a:xfrm>
            <a:off x="738785" y="3280167"/>
            <a:ext cx="641864" cy="641865"/>
          </a:xfrm>
          <a:prstGeom prst="rect">
            <a:avLst/>
          </a:prstGeom>
        </p:spPr>
      </p:pic>
      <p:pic>
        <p:nvPicPr>
          <p:cNvPr id="26" name="그림 2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4" t="72324" r="91719" b="21582"/>
          <a:stretch/>
        </p:blipFill>
        <p:spPr>
          <a:xfrm>
            <a:off x="1031243" y="4384197"/>
            <a:ext cx="543115" cy="641865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44" t="73262" r="64844" b="22050"/>
          <a:stretch/>
        </p:blipFill>
        <p:spPr>
          <a:xfrm>
            <a:off x="4443198" y="4383337"/>
            <a:ext cx="577678" cy="641865"/>
          </a:xfrm>
          <a:prstGeom prst="rect">
            <a:avLst/>
          </a:prstGeom>
        </p:spPr>
      </p:pic>
      <p:pic>
        <p:nvPicPr>
          <p:cNvPr id="28" name="그림 2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94" t="79356" r="78593" b="17363"/>
          <a:stretch/>
        </p:blipFill>
        <p:spPr>
          <a:xfrm>
            <a:off x="2681605" y="5055469"/>
            <a:ext cx="641864" cy="499228"/>
          </a:xfrm>
          <a:prstGeom prst="rect">
            <a:avLst/>
          </a:prstGeom>
        </p:spPr>
      </p:pic>
      <p:sp>
        <p:nvSpPr>
          <p:cNvPr id="29" name="타원 28"/>
          <p:cNvSpPr>
            <a:spLocks noChangeAspect="1"/>
          </p:cNvSpPr>
          <p:nvPr/>
        </p:nvSpPr>
        <p:spPr>
          <a:xfrm>
            <a:off x="2572495" y="2752318"/>
            <a:ext cx="1569002" cy="1569002"/>
          </a:xfrm>
          <a:prstGeom prst="ellipse">
            <a:avLst/>
          </a:prstGeom>
          <a:solidFill>
            <a:srgbClr val="1443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AI</a:t>
            </a:r>
          </a:p>
          <a:p>
            <a:pPr algn="ctr"/>
            <a:r>
              <a:rPr lang="ko-KR" altLang="en-US" sz="1510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관제  시스템</a:t>
            </a:r>
            <a:endParaRPr lang="ko-KR" altLang="en-US" sz="1510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45" name="모서리가 둥근 직사각형 44"/>
          <p:cNvSpPr/>
          <p:nvPr/>
        </p:nvSpPr>
        <p:spPr>
          <a:xfrm>
            <a:off x="606236" y="1380074"/>
            <a:ext cx="2366251" cy="377393"/>
          </a:xfrm>
          <a:prstGeom prst="roundRect">
            <a:avLst/>
          </a:prstGeom>
          <a:solidFill>
            <a:srgbClr val="1443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3. </a:t>
            </a:r>
            <a:r>
              <a:rPr lang="ko-KR" altLang="en-US" sz="16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비즈니스 실무 확장성</a:t>
            </a:r>
            <a:endParaRPr lang="ko-KR" altLang="en-US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46" name="모서리가 둥근 직사각형 45"/>
          <p:cNvSpPr/>
          <p:nvPr/>
        </p:nvSpPr>
        <p:spPr>
          <a:xfrm>
            <a:off x="6096628" y="1379642"/>
            <a:ext cx="2151137" cy="377393"/>
          </a:xfrm>
          <a:prstGeom prst="roundRect">
            <a:avLst/>
          </a:prstGeom>
          <a:solidFill>
            <a:srgbClr val="1443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4. </a:t>
            </a:r>
            <a:r>
              <a:rPr lang="ko-KR" altLang="en-US" sz="16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산출물의 기대 효용</a:t>
            </a:r>
            <a:endParaRPr lang="ko-KR" altLang="en-US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49" name="Google Shape;179;p16"/>
          <p:cNvSpPr txBox="1"/>
          <p:nvPr/>
        </p:nvSpPr>
        <p:spPr>
          <a:xfrm>
            <a:off x="771526" y="581025"/>
            <a:ext cx="373996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altLang="ko-KR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05   </a:t>
            </a:r>
            <a:r>
              <a:rPr lang="ko-KR" altLang="en-US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활용방안 및 기대효과</a:t>
            </a:r>
            <a:endParaRPr lang="ko-KR" altLang="en-US" sz="2850" b="1" dirty="0">
              <a:solidFill>
                <a:srgbClr val="0F172A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Poppins Black"/>
            </a:endParaRPr>
          </a:p>
        </p:txBody>
      </p:sp>
      <p:cxnSp>
        <p:nvCxnSpPr>
          <p:cNvPr id="50" name="직선 연결선 49"/>
          <p:cNvCxnSpPr/>
          <p:nvPr/>
        </p:nvCxnSpPr>
        <p:spPr>
          <a:xfrm flipV="1">
            <a:off x="606641" y="1145219"/>
            <a:ext cx="10979123" cy="9327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469554" y="2202824"/>
            <a:ext cx="13446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재난관리</a:t>
            </a:r>
            <a:endParaRPr lang="en-US" altLang="ko-KR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본부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4640058" y="3319451"/>
            <a:ext cx="13446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공항</a:t>
            </a:r>
            <a:endParaRPr lang="en-US" altLang="ko-KR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항만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4511485" y="4437211"/>
            <a:ext cx="13446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민간</a:t>
            </a:r>
            <a:endParaRPr lang="en-US" altLang="ko-KR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보안업체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2752758" y="5000592"/>
            <a:ext cx="13446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행사</a:t>
            </a:r>
            <a:endParaRPr lang="en-US" altLang="ko-KR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r"/>
            <a:r>
              <a:rPr lang="ko-KR" altLang="en-US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운영사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1033572" y="4544932"/>
            <a:ext cx="13446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군부대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038722" y="2202824"/>
            <a:ext cx="13446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경찰청</a:t>
            </a:r>
            <a:endParaRPr lang="en-US" altLang="ko-KR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지자체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857234" y="3319451"/>
            <a:ext cx="13446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스마트</a:t>
            </a:r>
            <a:endParaRPr lang="en-US" altLang="ko-KR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시티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606641" y="1375321"/>
            <a:ext cx="10979123" cy="479687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9487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20"/>
          <p:cNvSpPr>
            <a:spLocks/>
          </p:cNvSpPr>
          <p:nvPr/>
        </p:nvSpPr>
        <p:spPr>
          <a:xfrm>
            <a:off x="2865822" y="1361740"/>
            <a:ext cx="1939326" cy="4796880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53" name="Shape 20"/>
          <p:cNvSpPr>
            <a:spLocks noChangeAspect="1"/>
          </p:cNvSpPr>
          <p:nvPr/>
        </p:nvSpPr>
        <p:spPr>
          <a:xfrm>
            <a:off x="3116787" y="1793854"/>
            <a:ext cx="1440000" cy="1440000"/>
          </a:xfrm>
          <a:prstGeom prst="roundRect">
            <a:avLst>
              <a:gd name="adj" fmla="val 3817"/>
            </a:avLst>
          </a:prstGeom>
          <a:blipFill>
            <a:blip r:embed="rId3"/>
            <a:stretch>
              <a:fillRect/>
            </a:stretch>
          </a:blip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47" name="Shape 20"/>
          <p:cNvSpPr>
            <a:spLocks/>
          </p:cNvSpPr>
          <p:nvPr/>
        </p:nvSpPr>
        <p:spPr>
          <a:xfrm>
            <a:off x="9641149" y="1375320"/>
            <a:ext cx="1939326" cy="4796880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48" name="Shape 20"/>
          <p:cNvSpPr>
            <a:spLocks/>
          </p:cNvSpPr>
          <p:nvPr/>
        </p:nvSpPr>
        <p:spPr>
          <a:xfrm>
            <a:off x="624225" y="1375320"/>
            <a:ext cx="1939326" cy="4796880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50" name="Shape 20"/>
          <p:cNvSpPr>
            <a:spLocks/>
          </p:cNvSpPr>
          <p:nvPr/>
        </p:nvSpPr>
        <p:spPr>
          <a:xfrm>
            <a:off x="7394132" y="1375319"/>
            <a:ext cx="1939326" cy="4796880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51" name="Shape 20"/>
          <p:cNvSpPr>
            <a:spLocks/>
          </p:cNvSpPr>
          <p:nvPr/>
        </p:nvSpPr>
        <p:spPr>
          <a:xfrm>
            <a:off x="5125132" y="1375319"/>
            <a:ext cx="1939326" cy="4796880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8" name="Text 8"/>
          <p:cNvSpPr/>
          <p:nvPr/>
        </p:nvSpPr>
        <p:spPr>
          <a:xfrm>
            <a:off x="781581" y="3592326"/>
            <a:ext cx="1624614" cy="3233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6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팀장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9" name="Text 9"/>
          <p:cNvSpPr/>
          <p:nvPr/>
        </p:nvSpPr>
        <p:spPr>
          <a:xfrm>
            <a:off x="781581" y="3996539"/>
            <a:ext cx="1624614" cy="296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박정호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0" name="Text 10"/>
          <p:cNvSpPr/>
          <p:nvPr/>
        </p:nvSpPr>
        <p:spPr>
          <a:xfrm>
            <a:off x="769273" y="4697176"/>
            <a:ext cx="1649230" cy="336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기획·PM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1" name="Text 11"/>
          <p:cNvSpPr/>
          <p:nvPr/>
        </p:nvSpPr>
        <p:spPr>
          <a:xfrm>
            <a:off x="843119" y="5276549"/>
            <a:ext cx="1501538" cy="78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ko-KR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프로젝트 리드</a:t>
            </a:r>
            <a:endParaRPr lang="en-US" altLang="ko-KR" sz="1600" dirty="0" smtClean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Noto Sans CJK KR" pitchFamily="34" charset="-120"/>
            </a:endParaRPr>
          </a:p>
          <a:p>
            <a:pPr algn="ctr"/>
            <a:r>
              <a:rPr lang="ko-KR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영상 분석</a:t>
            </a:r>
            <a:r>
              <a:rPr lang="en-US" altLang="ko-KR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추적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5" name="Text 16"/>
          <p:cNvSpPr/>
          <p:nvPr/>
        </p:nvSpPr>
        <p:spPr>
          <a:xfrm>
            <a:off x="3019726" y="3592326"/>
            <a:ext cx="1624614" cy="3233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팀원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6" name="Text 17"/>
          <p:cNvSpPr/>
          <p:nvPr/>
        </p:nvSpPr>
        <p:spPr>
          <a:xfrm>
            <a:off x="3019726" y="3996539"/>
            <a:ext cx="1624614" cy="296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김태준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7" name="Text 18"/>
          <p:cNvSpPr/>
          <p:nvPr/>
        </p:nvSpPr>
        <p:spPr>
          <a:xfrm>
            <a:off x="3007419" y="4697176"/>
            <a:ext cx="1649230" cy="336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600" b="1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미니맵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8" name="Text 19"/>
          <p:cNvSpPr/>
          <p:nvPr/>
        </p:nvSpPr>
        <p:spPr>
          <a:xfrm>
            <a:off x="3081265" y="5276549"/>
            <a:ext cx="1501538" cy="78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ko-KR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지도</a:t>
            </a:r>
            <a:endParaRPr lang="en-US" altLang="ko-KR" sz="1600" dirty="0" smtClean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Noto Sans CJK KR" pitchFamily="34" charset="-120"/>
            </a:endParaRPr>
          </a:p>
          <a:p>
            <a:pPr algn="ctr"/>
            <a:r>
              <a:rPr lang="ko-KR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동선 추적</a:t>
            </a:r>
            <a:endParaRPr lang="en-US" altLang="ko-KR" sz="1600" dirty="0" smtClean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Noto Sans CJK KR" pitchFamily="34" charset="-120"/>
            </a:endParaRPr>
          </a:p>
        </p:txBody>
      </p:sp>
      <p:sp>
        <p:nvSpPr>
          <p:cNvPr id="22" name="Text 24"/>
          <p:cNvSpPr/>
          <p:nvPr/>
        </p:nvSpPr>
        <p:spPr>
          <a:xfrm>
            <a:off x="5287500" y="3592326"/>
            <a:ext cx="1624614" cy="3233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팀원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3" name="Text 25"/>
          <p:cNvSpPr/>
          <p:nvPr/>
        </p:nvSpPr>
        <p:spPr>
          <a:xfrm>
            <a:off x="5287500" y="3996539"/>
            <a:ext cx="1624614" cy="296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6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이규찬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4" name="Text 26"/>
          <p:cNvSpPr/>
          <p:nvPr/>
        </p:nvSpPr>
        <p:spPr>
          <a:xfrm>
            <a:off x="5275192" y="4697176"/>
            <a:ext cx="1649230" cy="336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6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회원 서비스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5" name="Text 27"/>
          <p:cNvSpPr/>
          <p:nvPr/>
        </p:nvSpPr>
        <p:spPr>
          <a:xfrm>
            <a:off x="5349038" y="5276549"/>
            <a:ext cx="1501538" cy="78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ko-KR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회원 </a:t>
            </a:r>
            <a:endParaRPr lang="en-US" altLang="ko-KR" sz="1600" dirty="0" smtClean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Noto Sans CJK KR" pitchFamily="34" charset="-120"/>
            </a:endParaRPr>
          </a:p>
          <a:p>
            <a:pPr algn="ctr"/>
            <a:r>
              <a:rPr lang="ko-KR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계정 관리</a:t>
            </a:r>
            <a:r>
              <a:rPr 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, </a:t>
            </a:r>
            <a:r>
              <a:rPr lang="ko-KR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검증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9" name="Text 32"/>
          <p:cNvSpPr/>
          <p:nvPr/>
        </p:nvSpPr>
        <p:spPr>
          <a:xfrm>
            <a:off x="7548843" y="3598495"/>
            <a:ext cx="1624614" cy="3233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팀원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0" name="Text 33"/>
          <p:cNvSpPr/>
          <p:nvPr/>
        </p:nvSpPr>
        <p:spPr>
          <a:xfrm>
            <a:off x="7548843" y="4002708"/>
            <a:ext cx="1624614" cy="296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이윤호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1" name="Text 34"/>
          <p:cNvSpPr/>
          <p:nvPr/>
        </p:nvSpPr>
        <p:spPr>
          <a:xfrm>
            <a:off x="7536536" y="4703345"/>
            <a:ext cx="1649230" cy="336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6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로그 분석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2" name="Text 35"/>
          <p:cNvSpPr/>
          <p:nvPr/>
        </p:nvSpPr>
        <p:spPr>
          <a:xfrm>
            <a:off x="7610382" y="5282718"/>
            <a:ext cx="1501538" cy="78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ko-KR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로그 </a:t>
            </a:r>
            <a:endParaRPr lang="en-US" altLang="ko-KR" sz="1600" dirty="0" smtClean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Noto Sans CJK KR" pitchFamily="34" charset="-120"/>
            </a:endParaRPr>
          </a:p>
          <a:p>
            <a:pPr algn="ctr"/>
            <a:r>
              <a:rPr lang="ko-KR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분석</a:t>
            </a:r>
            <a:r>
              <a:rPr lang="en-US" altLang="ko-KR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, </a:t>
            </a:r>
            <a:r>
              <a:rPr lang="ko-KR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가공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6" name="Text 40"/>
          <p:cNvSpPr/>
          <p:nvPr/>
        </p:nvSpPr>
        <p:spPr>
          <a:xfrm>
            <a:off x="9801149" y="3592326"/>
            <a:ext cx="1624614" cy="3233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팀원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7" name="Text 41"/>
          <p:cNvSpPr/>
          <p:nvPr/>
        </p:nvSpPr>
        <p:spPr>
          <a:xfrm>
            <a:off x="9801149" y="3996539"/>
            <a:ext cx="1624614" cy="296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6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장동근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8" name="Text 42"/>
          <p:cNvSpPr/>
          <p:nvPr/>
        </p:nvSpPr>
        <p:spPr>
          <a:xfrm>
            <a:off x="9788842" y="4697176"/>
            <a:ext cx="1649230" cy="336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개발 지원</a:t>
            </a:r>
            <a:r>
              <a:rPr lang="en-US" altLang="ko-KR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점검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9" name="Text 43"/>
          <p:cNvSpPr/>
          <p:nvPr/>
        </p:nvSpPr>
        <p:spPr>
          <a:xfrm>
            <a:off x="9862688" y="5276549"/>
            <a:ext cx="1501538" cy="78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endParaRPr lang="en-US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40" name="Text 35"/>
          <p:cNvSpPr/>
          <p:nvPr/>
        </p:nvSpPr>
        <p:spPr>
          <a:xfrm>
            <a:off x="9863787" y="5288981"/>
            <a:ext cx="1501538" cy="78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algn="ctr"/>
            <a:r>
              <a:rPr lang="ko-KR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공통 모듈 </a:t>
            </a:r>
            <a:endParaRPr lang="en-US" altLang="ko-KR" sz="1600" dirty="0" smtClean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Noto Sans CJK KR" pitchFamily="34" charset="-120"/>
            </a:endParaRPr>
          </a:p>
          <a:p>
            <a:pPr algn="ctr"/>
            <a:r>
              <a:rPr lang="ko-KR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작성</a:t>
            </a:r>
            <a:r>
              <a:rPr lang="en-US" altLang="ko-KR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, </a:t>
            </a:r>
            <a:r>
              <a:rPr lang="ko-KR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정리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44" name="그림 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7083" y="291180"/>
            <a:ext cx="1597838" cy="1065225"/>
          </a:xfrm>
          <a:prstGeom prst="rect">
            <a:avLst/>
          </a:prstGeom>
        </p:spPr>
      </p:pic>
      <p:sp>
        <p:nvSpPr>
          <p:cNvPr id="46" name="Google Shape;139;p15"/>
          <p:cNvSpPr txBox="1"/>
          <p:nvPr/>
        </p:nvSpPr>
        <p:spPr>
          <a:xfrm>
            <a:off x="501933" y="652500"/>
            <a:ext cx="1819248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altLang="ko-KR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10   </a:t>
            </a:r>
            <a:r>
              <a:rPr lang="ko-KR" altLang="en-US" sz="2850" b="1" dirty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팀</a:t>
            </a:r>
            <a:r>
              <a:rPr lang="ko-KR" altLang="en-US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 소개</a:t>
            </a:r>
            <a:endParaRPr lang="en-US" altLang="ko-KR" sz="2850" b="1" dirty="0">
              <a:solidFill>
                <a:srgbClr val="0F172A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Poppins Black"/>
            </a:endParaRPr>
          </a:p>
        </p:txBody>
      </p:sp>
      <p:cxnSp>
        <p:nvCxnSpPr>
          <p:cNvPr id="45" name="직선 연결선 44"/>
          <p:cNvCxnSpPr/>
          <p:nvPr/>
        </p:nvCxnSpPr>
        <p:spPr>
          <a:xfrm flipV="1">
            <a:off x="606641" y="1145219"/>
            <a:ext cx="10979123" cy="9327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Shape 20"/>
          <p:cNvSpPr>
            <a:spLocks noChangeAspect="1"/>
          </p:cNvSpPr>
          <p:nvPr/>
        </p:nvSpPr>
        <p:spPr>
          <a:xfrm>
            <a:off x="881180" y="1793854"/>
            <a:ext cx="1440000" cy="1440000"/>
          </a:xfrm>
          <a:prstGeom prst="roundRect">
            <a:avLst>
              <a:gd name="adj" fmla="val 3817"/>
            </a:avLst>
          </a:prstGeom>
          <a:blipFill>
            <a:blip r:embed="rId5"/>
            <a:stretch>
              <a:fillRect/>
            </a:stretch>
          </a:blip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54" name="Shape 20"/>
          <p:cNvSpPr>
            <a:spLocks noChangeAspect="1"/>
          </p:cNvSpPr>
          <p:nvPr/>
        </p:nvSpPr>
        <p:spPr>
          <a:xfrm>
            <a:off x="5379640" y="1793854"/>
            <a:ext cx="1440000" cy="1440000"/>
          </a:xfrm>
          <a:prstGeom prst="roundRect">
            <a:avLst>
              <a:gd name="adj" fmla="val 3817"/>
            </a:avLst>
          </a:prstGeom>
          <a:blipFill>
            <a:blip r:embed="rId6"/>
            <a:stretch>
              <a:fillRect/>
            </a:stretch>
          </a:blip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55" name="Shape 20"/>
          <p:cNvSpPr>
            <a:spLocks noChangeAspect="1"/>
          </p:cNvSpPr>
          <p:nvPr/>
        </p:nvSpPr>
        <p:spPr>
          <a:xfrm>
            <a:off x="7647531" y="1793854"/>
            <a:ext cx="1440000" cy="1440000"/>
          </a:xfrm>
          <a:prstGeom prst="roundRect">
            <a:avLst>
              <a:gd name="adj" fmla="val 3817"/>
            </a:avLst>
          </a:prstGeom>
          <a:blipFill>
            <a:blip r:embed="rId7"/>
            <a:stretch>
              <a:fillRect/>
            </a:stretch>
          </a:blip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56" name="Shape 20"/>
          <p:cNvSpPr>
            <a:spLocks noChangeAspect="1"/>
          </p:cNvSpPr>
          <p:nvPr/>
        </p:nvSpPr>
        <p:spPr>
          <a:xfrm>
            <a:off x="9890812" y="1793854"/>
            <a:ext cx="1440000" cy="1440000"/>
          </a:xfrm>
          <a:prstGeom prst="roundRect">
            <a:avLst>
              <a:gd name="adj" fmla="val 3817"/>
            </a:avLst>
          </a:prstGeom>
          <a:blipFill>
            <a:blip r:embed="rId8"/>
            <a:stretch>
              <a:fillRect/>
            </a:stretch>
          </a:blip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57" name="직사각형 56"/>
          <p:cNvSpPr/>
          <p:nvPr/>
        </p:nvSpPr>
        <p:spPr>
          <a:xfrm>
            <a:off x="606641" y="1375321"/>
            <a:ext cx="10979123" cy="479687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0540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462</TotalTime>
  <Words>140</Words>
  <Application>Microsoft Office PowerPoint</Application>
  <PresentationFormat>와이드스크린</PresentationFormat>
  <Paragraphs>75</Paragraphs>
  <Slides>3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0" baseType="lpstr">
      <vt:lpstr>Arial</vt:lpstr>
      <vt:lpstr>Poppins Black</vt:lpstr>
      <vt:lpstr>Noto Sans CJK KR</vt:lpstr>
      <vt:lpstr>Calibri</vt:lpstr>
      <vt:lpstr>나눔스퀘어_ac Bold</vt:lpstr>
      <vt:lpstr>맑은 고딕</vt:lpstr>
      <vt:lpstr>Office Theme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DW</cp:lastModifiedBy>
  <cp:revision>505</cp:revision>
  <dcterms:modified xsi:type="dcterms:W3CDTF">2026-07-20T00:51:23Z</dcterms:modified>
</cp:coreProperties>
</file>