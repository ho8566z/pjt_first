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2" r:id="rId3"/>
    <p:sldId id="277" r:id="rId4"/>
    <p:sldId id="278" r:id="rId5"/>
    <p:sldId id="279" r:id="rId6"/>
    <p:sldId id="258" r:id="rId7"/>
    <p:sldId id="259" r:id="rId8"/>
    <p:sldId id="280" r:id="rId9"/>
    <p:sldId id="281" r:id="rId10"/>
    <p:sldId id="261" r:id="rId11"/>
  </p:sldIdLst>
  <p:sldSz cx="12192000" cy="6858000"/>
  <p:notesSz cx="6858000" cy="9144000"/>
  <p:embeddedFontLst>
    <p:embeddedFont>
      <p:font typeface="맑은 고딕" panose="020B0503020000020004" pitchFamily="50" charset="-127"/>
      <p:regular r:id="rId13"/>
      <p:bold r:id="rId14"/>
    </p:embeddedFont>
    <p:embeddedFont>
      <p:font typeface="나눔스퀘어_ac" panose="020B0600000101010101" pitchFamily="50" charset="-127"/>
      <p:regular r:id="rId15"/>
    </p:embeddedFont>
    <p:embeddedFont>
      <p:font typeface="Poppins Black" panose="020B0600000101010101" charset="0"/>
      <p:bold r:id="rId16"/>
      <p:boldItalic r:id="rId17"/>
    </p:embeddedFont>
    <p:embeddedFont>
      <p:font typeface="프리텐다드 Medium" panose="020B0600000101010101" charset="-127"/>
      <p:regular r:id="rId18"/>
    </p:embeddedFont>
    <p:embeddedFont>
      <p:font typeface="나눔스퀘어_ac Bold" panose="020B0600000101010101" pitchFamily="50" charset="-127"/>
      <p:bold r:id="rId19"/>
    </p:embeddedFont>
    <p:embeddedFont>
      <p:font typeface="프리텐다드" panose="020B0600000101010101" charset="-127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Gothic A1" panose="020B0600000101010101" charset="-127"/>
      <p:regular r:id="rId25"/>
      <p:bold r:id="rId26"/>
    </p:embeddedFont>
    <p:embeddedFont>
      <p:font typeface="Gothic A1 Black" panose="020B0600000101010101" charset="-127"/>
      <p:bold r:id="rId27"/>
    </p:embeddedFont>
    <p:embeddedFont>
      <p:font typeface="Poppins" panose="020B0600000101010101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1C8"/>
    <a:srgbClr val="2061EA"/>
    <a:srgbClr val="007DC9"/>
    <a:srgbClr val="F8FAFC"/>
    <a:srgbClr val="CAE2F7"/>
    <a:srgbClr val="F7FCFF"/>
    <a:srgbClr val="F09234"/>
    <a:srgbClr val="F5F5F5"/>
    <a:srgbClr val="D3E8F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12" autoAdjust="0"/>
  </p:normalViewPr>
  <p:slideViewPr>
    <p:cSldViewPr snapToGrid="0">
      <p:cViewPr>
        <p:scale>
          <a:sx n="100" d="100"/>
          <a:sy n="100" d="100"/>
        </p:scale>
        <p:origin x="234" y="2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381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0295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242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771525" y="2635048"/>
            <a:ext cx="11181397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sz="4000" b="0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보행자</a:t>
            </a:r>
            <a:r>
              <a:rPr lang="en-US" sz="4000" b="0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r>
              <a:rPr lang="ko-KR" alt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검색/추적을 위한</a:t>
            </a:r>
            <a:r>
              <a:rPr lang="en-US" sz="4000" b="0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Gothic A1 Black"/>
            </a:endParaRPr>
          </a:p>
          <a:p>
            <a:pPr>
              <a:lnSpc>
                <a:spcPct val="114999"/>
              </a:lnSpc>
            </a:pPr>
            <a:r>
              <a:rPr lang="ko-KR" alt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실시간</a:t>
            </a:r>
            <a:r>
              <a:rPr 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r>
              <a:rPr lang="en-US" sz="4000" b="0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관제</a:t>
            </a:r>
            <a:r>
              <a:rPr 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r>
              <a:rPr lang="ko-KR" alt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프로그램</a:t>
            </a:r>
            <a:endParaRPr lang="en-US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095978"/>
            <a:ext cx="106489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드론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및 CCTV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동영상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분석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기반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실시간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신원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시스템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71525" y="4500413"/>
            <a:ext cx="238125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968260" y="5387016"/>
            <a:ext cx="254317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박정호, 이윤호,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장동근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,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이규찬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, 김태준</a:t>
            </a: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511" y="5429879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980536" y="5387017"/>
            <a:ext cx="149542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Group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: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딱코</a:t>
            </a:r>
            <a:endParaRPr lang="en-US" sz="11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B2655-41CF-A4B9-5793-C510781C3A0B}"/>
              </a:ext>
            </a:extLst>
          </p:cNvPr>
          <p:cNvSpPr txBox="1"/>
          <p:nvPr/>
        </p:nvSpPr>
        <p:spPr>
          <a:xfrm>
            <a:off x="669235" y="1036983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AIOT </a:t>
            </a:r>
            <a:r>
              <a:rPr lang="ko-KR" altLang="en-US" sz="1200" b="1" dirty="0" err="1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드론</a:t>
            </a:r>
            <a:r>
              <a:rPr lang="en-US" sz="1200" b="1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en-US" sz="1200" b="1" i="0" u="none" strike="noStrik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5회차</a:t>
            </a:r>
            <a:endParaRPr lang="ko-KR" altLang="en-US" sz="1200" b="1" i="0" u="none" strike="noStrike" dirty="0">
              <a:solidFill>
                <a:srgbClr val="0284C7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076247" y="0"/>
            <a:ext cx="4115753" cy="6858000"/>
          </a:xfrm>
          <a:prstGeom prst="rect">
            <a:avLst/>
          </a:prstGeom>
          <a:gradFill flip="none" rotWithShape="1">
            <a:gsLst>
              <a:gs pos="3000">
                <a:srgbClr val="FFFFFF"/>
              </a:gs>
              <a:gs pos="52000">
                <a:srgbClr val="EAF4FE">
                  <a:alpha val="20000"/>
                </a:srgbClr>
              </a:gs>
              <a:gs pos="100000">
                <a:srgbClr val="DAEFF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모서리가 둥근 직사각형 70"/>
          <p:cNvSpPr/>
          <p:nvPr/>
        </p:nvSpPr>
        <p:spPr>
          <a:xfrm flipH="1">
            <a:off x="4069226" y="274638"/>
            <a:ext cx="45719" cy="6259484"/>
          </a:xfrm>
          <a:prstGeom prst="roundRect">
            <a:avLst>
              <a:gd name="adj" fmla="val 8370"/>
            </a:avLst>
          </a:prstGeom>
          <a:solidFill>
            <a:schemeClr val="bg1"/>
          </a:solidFill>
          <a:ln>
            <a:noFill/>
          </a:ln>
          <a:effectLst>
            <a:outerShdw blurRad="139700" sx="98000" sy="98000" algn="ctr" rotWithShape="0">
              <a:schemeClr val="accent1">
                <a:lumMod val="50000"/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282765" y="274638"/>
            <a:ext cx="7566335" cy="6326187"/>
          </a:xfrm>
          <a:prstGeom prst="rect">
            <a:avLst/>
          </a:prstGeom>
          <a:noFill/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06090" y="274638"/>
            <a:ext cx="3876675" cy="6326187"/>
          </a:xfrm>
          <a:prstGeom prst="rect">
            <a:avLst/>
          </a:prstGeom>
          <a:gradFill flip="none" rotWithShape="1">
            <a:gsLst>
              <a:gs pos="28000">
                <a:srgbClr val="F4F9FE"/>
              </a:gs>
              <a:gs pos="61000">
                <a:srgbClr val="F7FCFF"/>
              </a:gs>
              <a:gs pos="97000">
                <a:srgbClr val="F4F9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8490" y="341341"/>
            <a:ext cx="2461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INDEX</a:t>
            </a:r>
            <a:endParaRPr lang="ko-KR" altLang="en-US" sz="24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 flipV="1">
            <a:off x="664366" y="1049226"/>
            <a:ext cx="3309939" cy="1"/>
          </a:xfrm>
          <a:prstGeom prst="line">
            <a:avLst/>
          </a:prstGeom>
          <a:ln w="25400">
            <a:solidFill>
              <a:srgbClr val="CAE2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6"/>
          <p:cNvSpPr txBox="1"/>
          <p:nvPr/>
        </p:nvSpPr>
        <p:spPr>
          <a:xfrm>
            <a:off x="664366" y="1332036"/>
            <a:ext cx="2791646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0"/>
              </a:spcBef>
            </a:pPr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01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프로젝트 소개</a:t>
            </a: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 algn="l">
              <a:spcBef>
                <a:spcPct val="0"/>
              </a:spcBef>
            </a:pP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 algn="l">
              <a:spcBef>
                <a:spcPct val="0"/>
              </a:spcBef>
            </a:pPr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02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상용 솔루션 벤치마킹</a:t>
            </a: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03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프로젝트 구현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04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사용 툴 및 개발환경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05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활용방안 및 기대 효과</a:t>
            </a: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07</a:t>
            </a:r>
            <a:r>
              <a:rPr lang="en-US" altLang="ko-KR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테스트 및 시연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08</a:t>
            </a:r>
            <a:r>
              <a:rPr lang="en-US" altLang="ko-KR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문제점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09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Q&amp;A</a:t>
            </a:r>
          </a:p>
          <a:p>
            <a:pPr lvl="0"/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10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팀 소개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2300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5"/>
          <p:cNvSpPr/>
          <p:nvPr/>
        </p:nvSpPr>
        <p:spPr>
          <a:xfrm>
            <a:off x="6002647" y="4564610"/>
            <a:ext cx="5129694" cy="162209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065" y="1376039"/>
            <a:ext cx="4321575" cy="4802819"/>
          </a:xfrm>
          <a:prstGeom prst="rect">
            <a:avLst/>
          </a:prstGeom>
        </p:spPr>
      </p:pic>
      <p:sp>
        <p:nvSpPr>
          <p:cNvPr id="60" name="자유형 59"/>
          <p:cNvSpPr/>
          <p:nvPr/>
        </p:nvSpPr>
        <p:spPr>
          <a:xfrm>
            <a:off x="1150620" y="1371600"/>
            <a:ext cx="9974580" cy="3185160"/>
          </a:xfrm>
          <a:custGeom>
            <a:avLst/>
            <a:gdLst>
              <a:gd name="connsiteX0" fmla="*/ 9974580 w 9974580"/>
              <a:gd name="connsiteY0" fmla="*/ 0 h 3185160"/>
              <a:gd name="connsiteX1" fmla="*/ 9974580 w 9974580"/>
              <a:gd name="connsiteY1" fmla="*/ 2887980 h 3185160"/>
              <a:gd name="connsiteX2" fmla="*/ 2819400 w 9974580"/>
              <a:gd name="connsiteY2" fmla="*/ 3185160 h 3185160"/>
              <a:gd name="connsiteX3" fmla="*/ 0 w 9974580"/>
              <a:gd name="connsiteY3" fmla="*/ 3185160 h 3185160"/>
              <a:gd name="connsiteX4" fmla="*/ 0 w 9974580"/>
              <a:gd name="connsiteY4" fmla="*/ 1508760 h 3185160"/>
              <a:gd name="connsiteX5" fmla="*/ 4853940 w 9974580"/>
              <a:gd name="connsiteY5" fmla="*/ 7620 h 3185160"/>
              <a:gd name="connsiteX6" fmla="*/ 9974580 w 9974580"/>
              <a:gd name="connsiteY6" fmla="*/ 0 h 318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74580" h="3185160">
                <a:moveTo>
                  <a:pt x="9974580" y="0"/>
                </a:moveTo>
                <a:lnTo>
                  <a:pt x="9974580" y="2887980"/>
                </a:lnTo>
                <a:lnTo>
                  <a:pt x="2819400" y="3185160"/>
                </a:lnTo>
                <a:lnTo>
                  <a:pt x="0" y="3185160"/>
                </a:lnTo>
                <a:lnTo>
                  <a:pt x="0" y="1508760"/>
                </a:lnTo>
                <a:lnTo>
                  <a:pt x="4853940" y="7620"/>
                </a:lnTo>
                <a:lnTo>
                  <a:pt x="9974580" y="0"/>
                </a:lnTo>
                <a:close/>
              </a:path>
            </a:pathLst>
          </a:custGeom>
          <a:gradFill>
            <a:gsLst>
              <a:gs pos="19000">
                <a:schemeClr val="bg1">
                  <a:alpha val="10000"/>
                </a:schemeClr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0" scaled="1"/>
          </a:gradFill>
          <a:ln w="1270">
            <a:solidFill>
              <a:schemeClr val="bg2">
                <a:lumMod val="60000"/>
                <a:lumOff val="4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20"/>
          <p:cNvSpPr txBox="1"/>
          <p:nvPr/>
        </p:nvSpPr>
        <p:spPr>
          <a:xfrm>
            <a:off x="6089061" y="4638498"/>
            <a:ext cx="3925253" cy="1508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1. </a:t>
            </a:r>
            <a:r>
              <a:rPr lang="ko-KR" alt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드론과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 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CCTV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등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매체로부터 영상물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수집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"/>
              <a:sym typeface="프리텐다드"/>
            </a:endParaRPr>
          </a:p>
          <a:p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"/>
              <a:sym typeface="프리텐다드"/>
            </a:endParaRPr>
          </a:p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2.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객체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탐지 및 얼굴 인식 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"/>
              <a:sym typeface="프리텐다드"/>
            </a:endParaRPr>
          </a:p>
          <a:p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"/>
              <a:sym typeface="프리텐다드"/>
            </a:endParaRPr>
          </a:p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3.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실종자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·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수배자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등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주의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인물 식별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및</a:t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로깅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"/>
              <a:sym typeface="프리텐다드"/>
            </a:endParaRPr>
          </a:p>
          <a:p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"/>
              <a:sym typeface="프리텐다드"/>
            </a:endParaRPr>
          </a:p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4.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rPr>
              <a:t>위치 기반 추적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"/>
              <a:sym typeface="프리텐다드"/>
            </a:endParaRPr>
          </a:p>
        </p:txBody>
      </p:sp>
      <p:sp>
        <p:nvSpPr>
          <p:cNvPr id="9" name="Google Shape;139;p15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01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647" y="1376039"/>
            <a:ext cx="5129694" cy="287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8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6272212" y="3848100"/>
            <a:ext cx="5138737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3" name="Google Shape;139;p15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01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모서리가 둥근 직사각형 73"/>
          <p:cNvSpPr/>
          <p:nvPr/>
        </p:nvSpPr>
        <p:spPr>
          <a:xfrm>
            <a:off x="626067" y="1373251"/>
            <a:ext cx="2061715" cy="264814"/>
          </a:xfrm>
          <a:prstGeom prst="roundRect">
            <a:avLst/>
          </a:prstGeom>
          <a:solidFill>
            <a:srgbClr val="008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771525" y="1338107"/>
            <a:ext cx="1777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프로젝트 선정 배경</a:t>
            </a:r>
            <a:endParaRPr lang="ko-KR" altLang="en-US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grpSp>
        <p:nvGrpSpPr>
          <p:cNvPr id="99" name="그룹 98"/>
          <p:cNvGrpSpPr/>
          <p:nvPr/>
        </p:nvGrpSpPr>
        <p:grpSpPr>
          <a:xfrm>
            <a:off x="626067" y="1820231"/>
            <a:ext cx="4831756" cy="4332919"/>
            <a:chOff x="626067" y="1820231"/>
            <a:chExt cx="4752115" cy="4740231"/>
          </a:xfrm>
        </p:grpSpPr>
        <p:sp>
          <p:nvSpPr>
            <p:cNvPr id="100" name="모서리가 둥근 직사각형 99"/>
            <p:cNvSpPr/>
            <p:nvPr/>
          </p:nvSpPr>
          <p:spPr>
            <a:xfrm>
              <a:off x="626071" y="1820231"/>
              <a:ext cx="4752111" cy="843570"/>
            </a:xfrm>
            <a:prstGeom prst="roundRect">
              <a:avLst>
                <a:gd name="adj" fmla="val 36695"/>
              </a:avLst>
            </a:prstGeom>
            <a:gradFill>
              <a:gsLst>
                <a:gs pos="44000">
                  <a:srgbClr val="0081C8"/>
                </a:gs>
                <a:gs pos="100000">
                  <a:srgbClr val="2061E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모서리가 둥근 직사각형 100"/>
            <p:cNvSpPr/>
            <p:nvPr/>
          </p:nvSpPr>
          <p:spPr>
            <a:xfrm>
              <a:off x="626067" y="1917569"/>
              <a:ext cx="4752114" cy="4642893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913309" y="2166973"/>
            <a:ext cx="4437968" cy="307777"/>
            <a:chOff x="913309" y="2166973"/>
            <a:chExt cx="4437968" cy="307777"/>
          </a:xfrm>
        </p:grpSpPr>
        <p:sp>
          <p:nvSpPr>
            <p:cNvPr id="104" name="Google Shape;104;p14"/>
            <p:cNvSpPr txBox="1"/>
            <p:nvPr/>
          </p:nvSpPr>
          <p:spPr>
            <a:xfrm>
              <a:off x="1276785" y="2166973"/>
              <a:ext cx="40744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000" b="1" i="0" u="none" strike="noStrike" cap="none" dirty="0" err="1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기존</a:t>
              </a:r>
              <a:r>
                <a:rPr 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 </a:t>
              </a:r>
              <a:r>
                <a:rPr lang="ko-KR" alt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수색</a:t>
              </a:r>
              <a:r>
                <a:rPr lang="en-US" altLang="ko-KR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시스템의</a:t>
              </a:r>
              <a:r>
                <a:rPr lang="en-US" sz="2000" b="1" i="0" u="none" strike="noStrike" cap="none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en-US" sz="2000" b="1" i="0" u="none" strike="noStrike" cap="none" dirty="0" err="1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한계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pic>
          <p:nvPicPr>
            <p:cNvPr id="107" name="Google Shape;107;p14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13309" y="2218243"/>
              <a:ext cx="196028" cy="209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그룹 107"/>
          <p:cNvGrpSpPr/>
          <p:nvPr/>
        </p:nvGrpSpPr>
        <p:grpSpPr>
          <a:xfrm>
            <a:off x="974559" y="2980495"/>
            <a:ext cx="4183420" cy="1034129"/>
            <a:chOff x="1108454" y="2986821"/>
            <a:chExt cx="4183420" cy="1034129"/>
          </a:xfrm>
        </p:grpSpPr>
        <p:sp>
          <p:nvSpPr>
            <p:cNvPr id="109" name="Google Shape;108;p14"/>
            <p:cNvSpPr txBox="1"/>
            <p:nvPr/>
          </p:nvSpPr>
          <p:spPr>
            <a:xfrm>
              <a:off x="1286661" y="2986821"/>
              <a:ext cx="4005213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b="1" i="0" u="none" strike="noStrike" cap="none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수색</a:t>
              </a:r>
              <a:r>
                <a:rPr lang="en-US" b="1" i="0" u="none" strike="noStrike" cap="none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en-US" b="1" i="0" u="none" strike="noStrike" cap="none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인력의</a:t>
              </a:r>
              <a:r>
                <a:rPr lang="en-US" b="1" i="0" u="none" strike="noStrike" cap="none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en-US" b="1" i="0" u="none" strike="noStrike" cap="none" dirty="0" err="1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한계</a:t>
              </a:r>
              <a:endParaRPr lang="en-US" b="1" dirty="0" smtClean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  <a:sym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보행자</a:t>
              </a:r>
              <a:r>
                <a:rPr 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전체를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상대로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수색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검문</a:t>
              </a:r>
              <a:r>
                <a:rPr 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불가능</a:t>
              </a:r>
              <a:r>
                <a:rPr lang="en-US" altLang="ko-KR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.</a:t>
              </a:r>
              <a:endParaRPr lang="en-US" altLang="ko-KR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목격자</a:t>
              </a:r>
              <a:r>
                <a:rPr 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신고에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의존할 수밖에 없는 현행 수색 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시스템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.</a:t>
              </a:r>
              <a:endParaRPr lang="ko-KR" altLang="en-US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</p:txBody>
        </p:sp>
        <p:sp>
          <p:nvSpPr>
            <p:cNvPr id="113" name="Google Shape;113;p14"/>
            <p:cNvSpPr txBox="1"/>
            <p:nvPr/>
          </p:nvSpPr>
          <p:spPr>
            <a:xfrm>
              <a:off x="1108454" y="2998501"/>
              <a:ext cx="80193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0284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•</a:t>
              </a:r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114" name="그룹 113"/>
          <p:cNvGrpSpPr/>
          <p:nvPr/>
        </p:nvGrpSpPr>
        <p:grpSpPr>
          <a:xfrm>
            <a:off x="1011323" y="4339283"/>
            <a:ext cx="4146917" cy="1034129"/>
            <a:chOff x="1111490" y="4767894"/>
            <a:chExt cx="4146917" cy="1034129"/>
          </a:xfrm>
        </p:grpSpPr>
        <p:sp>
          <p:nvSpPr>
            <p:cNvPr id="117" name="Google Shape;109;p14"/>
            <p:cNvSpPr txBox="1"/>
            <p:nvPr/>
          </p:nvSpPr>
          <p:spPr>
            <a:xfrm>
              <a:off x="1253194" y="4767894"/>
              <a:ext cx="4005213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ko-KR" altLang="en-US" b="1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수동 관제 시스템의 </a:t>
              </a:r>
              <a:r>
                <a:rPr lang="ko-KR" altLang="en-US" b="1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한계</a:t>
              </a:r>
              <a:endParaRPr lang="en-US" altLang="ko-KR" b="1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  <a:sym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요원 </a:t>
              </a: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1인이 감당해야 하는 과다한 영상 수로 인해 모니터링 공백 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발생</a:t>
              </a:r>
              <a:endParaRPr lang="ko-KR" altLang="en-US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</p:txBody>
        </p:sp>
        <p:sp>
          <p:nvSpPr>
            <p:cNvPr id="118" name="Google Shape;114;p14"/>
            <p:cNvSpPr txBox="1"/>
            <p:nvPr/>
          </p:nvSpPr>
          <p:spPr>
            <a:xfrm>
              <a:off x="1111490" y="4770372"/>
              <a:ext cx="80193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0284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•</a:t>
              </a:r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그룹 44"/>
          <p:cNvGrpSpPr/>
          <p:nvPr/>
        </p:nvGrpSpPr>
        <p:grpSpPr>
          <a:xfrm>
            <a:off x="6108537" y="1807725"/>
            <a:ext cx="5477228" cy="4345426"/>
            <a:chOff x="626067" y="1820231"/>
            <a:chExt cx="4752117" cy="4740231"/>
          </a:xfrm>
        </p:grpSpPr>
        <p:sp>
          <p:nvSpPr>
            <p:cNvPr id="46" name="모서리가 둥근 직사각형 45"/>
            <p:cNvSpPr/>
            <p:nvPr/>
          </p:nvSpPr>
          <p:spPr>
            <a:xfrm>
              <a:off x="626070" y="1820231"/>
              <a:ext cx="4752114" cy="843570"/>
            </a:xfrm>
            <a:prstGeom prst="roundRect">
              <a:avLst>
                <a:gd name="adj" fmla="val 36695"/>
              </a:avLst>
            </a:prstGeom>
            <a:gradFill>
              <a:gsLst>
                <a:gs pos="44000">
                  <a:srgbClr val="0081C8"/>
                </a:gs>
                <a:gs pos="100000">
                  <a:srgbClr val="2061E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모서리가 둥근 직사각형 46"/>
            <p:cNvSpPr/>
            <p:nvPr/>
          </p:nvSpPr>
          <p:spPr>
            <a:xfrm>
              <a:off x="626067" y="1917569"/>
              <a:ext cx="4752114" cy="4642893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626067" y="1820231"/>
            <a:ext cx="4831756" cy="4332919"/>
            <a:chOff x="626067" y="1820231"/>
            <a:chExt cx="4752115" cy="4740231"/>
          </a:xfrm>
        </p:grpSpPr>
        <p:sp>
          <p:nvSpPr>
            <p:cNvPr id="37" name="모서리가 둥근 직사각형 36"/>
            <p:cNvSpPr/>
            <p:nvPr/>
          </p:nvSpPr>
          <p:spPr>
            <a:xfrm>
              <a:off x="626071" y="1820231"/>
              <a:ext cx="4752111" cy="843570"/>
            </a:xfrm>
            <a:prstGeom prst="roundRect">
              <a:avLst>
                <a:gd name="adj" fmla="val 36695"/>
              </a:avLst>
            </a:prstGeom>
            <a:gradFill>
              <a:gsLst>
                <a:gs pos="44000">
                  <a:srgbClr val="0081C8"/>
                </a:gs>
                <a:gs pos="100000">
                  <a:srgbClr val="2061E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모서리가 둥근 직사각형 3"/>
            <p:cNvSpPr/>
            <p:nvPr/>
          </p:nvSpPr>
          <p:spPr>
            <a:xfrm>
              <a:off x="626067" y="1917569"/>
              <a:ext cx="4752114" cy="4642893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모서리가 둥근 직사각형 12"/>
          <p:cNvSpPr/>
          <p:nvPr/>
        </p:nvSpPr>
        <p:spPr>
          <a:xfrm>
            <a:off x="626067" y="1373251"/>
            <a:ext cx="2061715" cy="264814"/>
          </a:xfrm>
          <a:prstGeom prst="roundRect">
            <a:avLst/>
          </a:prstGeom>
          <a:solidFill>
            <a:srgbClr val="008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Google Shape;105;p14"/>
          <p:cNvSpPr/>
          <p:nvPr/>
        </p:nvSpPr>
        <p:spPr>
          <a:xfrm>
            <a:off x="6715064" y="3835593"/>
            <a:ext cx="5138737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6471688" y="2166972"/>
            <a:ext cx="4693771" cy="307777"/>
            <a:chOff x="7151658" y="2154466"/>
            <a:chExt cx="4693771" cy="307777"/>
          </a:xfrm>
        </p:grpSpPr>
        <p:sp>
          <p:nvSpPr>
            <p:cNvPr id="106" name="Google Shape;106;p14"/>
            <p:cNvSpPr txBox="1"/>
            <p:nvPr/>
          </p:nvSpPr>
          <p:spPr>
            <a:xfrm>
              <a:off x="7489885" y="2154466"/>
              <a:ext cx="43555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ko-KR" altLang="en-US" sz="2000" b="1" dirty="0" err="1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</a:rPr>
                <a:t>환경적</a:t>
              </a:r>
              <a:r>
                <a:rPr lang="ko-KR" alt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</a:rPr>
                <a:t> </a:t>
              </a:r>
              <a:r>
                <a:rPr lang="ko-KR" altLang="en-US" sz="2000" b="1" dirty="0" err="1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</a:rPr>
                <a:t>필요</a:t>
              </a:r>
              <a:r>
                <a:rPr lang="ko-KR" alt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</a:rPr>
                <a:t>성</a:t>
              </a:r>
            </a:p>
          </p:txBody>
        </p:sp>
        <p:pic>
          <p:nvPicPr>
            <p:cNvPr id="110" name="Google Shape;110;p14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151658" y="2205736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139;p15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01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913309" y="2166973"/>
            <a:ext cx="4437968" cy="307777"/>
            <a:chOff x="913309" y="2166973"/>
            <a:chExt cx="4437968" cy="307777"/>
          </a:xfrm>
        </p:grpSpPr>
        <p:sp>
          <p:nvSpPr>
            <p:cNvPr id="24" name="Google Shape;104;p14"/>
            <p:cNvSpPr txBox="1"/>
            <p:nvPr/>
          </p:nvSpPr>
          <p:spPr>
            <a:xfrm>
              <a:off x="1276785" y="2166973"/>
              <a:ext cx="40744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r>
                <a:rPr lang="en-US" sz="2000" b="1" i="0" u="none" strike="noStrike" cap="none" dirty="0" err="1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기존</a:t>
              </a:r>
              <a:r>
                <a:rPr 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 </a:t>
              </a:r>
              <a:r>
                <a:rPr lang="ko-KR" alt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수색</a:t>
              </a:r>
              <a:r>
                <a:rPr lang="en-US" altLang="ko-KR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sz="2000" b="1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시스템의</a:t>
              </a:r>
              <a:r>
                <a:rPr lang="en-US" sz="2000" b="1" i="0" u="none" strike="noStrike" cap="none" dirty="0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en-US" sz="2000" b="1" i="0" u="none" strike="noStrike" cap="none" dirty="0" err="1">
                  <a:solidFill>
                    <a:srgbClr val="0F172A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한계</a:t>
              </a:r>
              <a:endParaRPr lang="ko-KR" altLang="en-US" sz="1600"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  <p:pic>
          <p:nvPicPr>
            <p:cNvPr id="25" name="Google Shape;107;p14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913309" y="2218243"/>
              <a:ext cx="196028" cy="209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그룹 6"/>
          <p:cNvGrpSpPr/>
          <p:nvPr/>
        </p:nvGrpSpPr>
        <p:grpSpPr>
          <a:xfrm>
            <a:off x="974559" y="2980495"/>
            <a:ext cx="4183420" cy="1034129"/>
            <a:chOff x="1108454" y="2986821"/>
            <a:chExt cx="4183420" cy="1034129"/>
          </a:xfrm>
        </p:grpSpPr>
        <p:sp>
          <p:nvSpPr>
            <p:cNvPr id="26" name="Google Shape;108;p14"/>
            <p:cNvSpPr txBox="1"/>
            <p:nvPr/>
          </p:nvSpPr>
          <p:spPr>
            <a:xfrm>
              <a:off x="1286661" y="2986821"/>
              <a:ext cx="4005213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en-US" b="1" i="0" u="none" strike="noStrike" cap="none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수색</a:t>
              </a:r>
              <a:r>
                <a:rPr lang="en-US" b="1" i="0" u="none" strike="noStrike" cap="none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en-US" b="1" i="0" u="none" strike="noStrike" cap="none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인력의</a:t>
              </a:r>
              <a:r>
                <a:rPr lang="en-US" b="1" i="0" u="none" strike="noStrike" cap="none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en-US" b="1" i="0" u="none" strike="noStrike" cap="none" dirty="0" err="1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한계</a:t>
              </a:r>
              <a:endParaRPr lang="en-US" b="1" dirty="0" smtClean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  <a:sym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보행자</a:t>
              </a:r>
              <a:r>
                <a:rPr 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전체를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상대로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수색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검문</a:t>
              </a:r>
              <a:r>
                <a:rPr 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불가능</a:t>
              </a:r>
              <a:r>
                <a:rPr lang="en-US" altLang="ko-KR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.</a:t>
              </a:r>
              <a:endParaRPr lang="en-US" altLang="ko-KR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목격자</a:t>
              </a:r>
              <a:r>
                <a:rPr 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신고에</a:t>
              </a:r>
              <a:r>
                <a:rPr 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의존할 수밖에 없는 현행 수색 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시스템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.</a:t>
              </a:r>
              <a:endParaRPr lang="ko-KR" altLang="en-US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</p:txBody>
        </p:sp>
        <p:sp>
          <p:nvSpPr>
            <p:cNvPr id="28" name="Google Shape;113;p14"/>
            <p:cNvSpPr txBox="1"/>
            <p:nvPr/>
          </p:nvSpPr>
          <p:spPr>
            <a:xfrm>
              <a:off x="1108454" y="2998501"/>
              <a:ext cx="80193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0284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•</a:t>
              </a:r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011323" y="4339283"/>
            <a:ext cx="4146917" cy="1034129"/>
            <a:chOff x="1111490" y="4767894"/>
            <a:chExt cx="4146917" cy="1034129"/>
          </a:xfrm>
        </p:grpSpPr>
        <p:sp>
          <p:nvSpPr>
            <p:cNvPr id="27" name="Google Shape;109;p14"/>
            <p:cNvSpPr txBox="1"/>
            <p:nvPr/>
          </p:nvSpPr>
          <p:spPr>
            <a:xfrm>
              <a:off x="1253194" y="4767894"/>
              <a:ext cx="4005213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ko-KR" altLang="en-US" b="1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수동 관제 시스템의 </a:t>
              </a:r>
              <a:r>
                <a:rPr lang="ko-KR" altLang="en-US" b="1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한계</a:t>
              </a:r>
              <a:endParaRPr lang="en-US" altLang="ko-KR" b="1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  <a:sym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요원 </a:t>
              </a: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1인이 감당해야 하는 과다한 영상 수로 인해 모니터링 공백 </a:t>
              </a:r>
              <a:r>
                <a:rPr lang="ko-KR" altLang="en-US" dirty="0" smtClean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발생</a:t>
              </a:r>
              <a:endParaRPr lang="ko-KR" altLang="en-US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</p:txBody>
        </p:sp>
        <p:sp>
          <p:nvSpPr>
            <p:cNvPr id="29" name="Google Shape;114;p14"/>
            <p:cNvSpPr txBox="1"/>
            <p:nvPr/>
          </p:nvSpPr>
          <p:spPr>
            <a:xfrm>
              <a:off x="1111490" y="4770372"/>
              <a:ext cx="80193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0284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•</a:t>
              </a:r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cxnSp>
        <p:nvCxnSpPr>
          <p:cNvPr id="44" name="직선 연결선 43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1525" y="1338107"/>
            <a:ext cx="1777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프로젝트 선정 배경</a:t>
            </a:r>
            <a:endParaRPr lang="ko-KR" altLang="en-US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6108537" y="1371832"/>
            <a:ext cx="878223" cy="264814"/>
          </a:xfrm>
          <a:prstGeom prst="roundRect">
            <a:avLst/>
          </a:prstGeom>
          <a:solidFill>
            <a:srgbClr val="008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194262" y="1338107"/>
            <a:ext cx="732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실현성</a:t>
            </a:r>
            <a:endParaRPr lang="ko-KR" altLang="en-US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grpSp>
        <p:nvGrpSpPr>
          <p:cNvPr id="54" name="그룹 53"/>
          <p:cNvGrpSpPr/>
          <p:nvPr/>
        </p:nvGrpSpPr>
        <p:grpSpPr>
          <a:xfrm>
            <a:off x="6538363" y="3002878"/>
            <a:ext cx="4183420" cy="1034129"/>
            <a:chOff x="1108454" y="2986821"/>
            <a:chExt cx="4183420" cy="1034129"/>
          </a:xfrm>
        </p:grpSpPr>
        <p:sp>
          <p:nvSpPr>
            <p:cNvPr id="55" name="Google Shape;108;p14"/>
            <p:cNvSpPr txBox="1"/>
            <p:nvPr/>
          </p:nvSpPr>
          <p:spPr>
            <a:xfrm>
              <a:off x="1286661" y="2986821"/>
              <a:ext cx="4005213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ko-KR" altLang="en-US" b="1" dirty="0">
                  <a:solidFill>
                    <a:srgbClr val="47556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공공</a:t>
              </a:r>
              <a:r>
                <a:rPr lang="en-US" altLang="ko-KR" b="1" dirty="0">
                  <a:solidFill>
                    <a:srgbClr val="47556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b="1" dirty="0">
                  <a:solidFill>
                    <a:srgbClr val="47556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안전</a:t>
              </a:r>
              <a:r>
                <a:rPr lang="en-US" altLang="ko-KR" b="1" dirty="0">
                  <a:solidFill>
                    <a:srgbClr val="47556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 </a:t>
              </a:r>
              <a:r>
                <a:rPr lang="ko-KR" altLang="en-US" b="1" dirty="0">
                  <a:solidFill>
                    <a:srgbClr val="47556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선호</a:t>
              </a:r>
              <a:endParaRPr lang="en-US" altLang="ko-KR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주민등록제도 기반 인프라와 개인정보 이용에 대한 높은 수용성</a:t>
              </a:r>
              <a:endParaRPr lang="ko-KR" altLang="en-US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</p:txBody>
        </p:sp>
        <p:sp>
          <p:nvSpPr>
            <p:cNvPr id="56" name="Google Shape;113;p14"/>
            <p:cNvSpPr txBox="1"/>
            <p:nvPr/>
          </p:nvSpPr>
          <p:spPr>
            <a:xfrm>
              <a:off x="1108454" y="2998501"/>
              <a:ext cx="80193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0284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•</a:t>
              </a:r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6538363" y="4339283"/>
            <a:ext cx="4146917" cy="689420"/>
            <a:chOff x="1111490" y="4767894"/>
            <a:chExt cx="4146917" cy="689420"/>
          </a:xfrm>
        </p:grpSpPr>
        <p:sp>
          <p:nvSpPr>
            <p:cNvPr id="58" name="Google Shape;109;p14"/>
            <p:cNvSpPr txBox="1"/>
            <p:nvPr/>
          </p:nvSpPr>
          <p:spPr>
            <a:xfrm>
              <a:off x="1253194" y="4767894"/>
              <a:ext cx="4005213" cy="689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60000"/>
                </a:lnSpc>
              </a:pPr>
              <a:r>
                <a:rPr lang="ko-KR" altLang="en-US" b="1" dirty="0">
                  <a:solidFill>
                    <a:srgbClr val="475569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서비스 실현 환경</a:t>
              </a:r>
              <a:endPara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endParaRPr>
            </a:p>
            <a:p>
              <a:pPr>
                <a:lnSpc>
                  <a:spcPct val="160000"/>
                </a:lnSpc>
              </a:pP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조밀한 </a:t>
              </a:r>
              <a:r>
                <a:rPr lang="ko-KR" altLang="en-US" dirty="0" err="1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국토면적</a:t>
              </a:r>
              <a:r>
                <a:rPr lang="ko-KR" altLang="en-US" dirty="0">
                  <a:solidFill>
                    <a:srgbClr val="475569"/>
                  </a:solidFill>
                  <a:latin typeface="나눔스퀘어_ac" panose="020B0600000101010101" pitchFamily="50" charset="-127"/>
                  <a:ea typeface="나눔스퀘어_ac" panose="020B0600000101010101" pitchFamily="50" charset="-127"/>
                  <a:cs typeface="Gothic A1"/>
                  <a:sym typeface="Gothic A1"/>
                </a:rPr>
                <a:t> 대비 높은 인구 밀집도</a:t>
              </a:r>
              <a:endParaRPr lang="en-US" altLang="ko-KR" dirty="0">
                <a:solidFill>
                  <a:srgbClr val="475569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  <a:cs typeface="Gothic A1"/>
              </a:endParaRPr>
            </a:p>
          </p:txBody>
        </p:sp>
        <p:sp>
          <p:nvSpPr>
            <p:cNvPr id="59" name="Google Shape;114;p14"/>
            <p:cNvSpPr txBox="1"/>
            <p:nvPr/>
          </p:nvSpPr>
          <p:spPr>
            <a:xfrm>
              <a:off x="1111490" y="4770372"/>
              <a:ext cx="80193" cy="332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0284C7"/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Gothic A1"/>
                  <a:sym typeface="Gothic A1"/>
                </a:rPr>
                <a:t>•</a:t>
              </a:r>
              <a:endParaRPr dirty="0">
                <a:latin typeface="나눔스퀘어_ac Bold" panose="020B0600000101010101" pitchFamily="50" charset="-127"/>
                <a:ea typeface="나눔스퀘어_ac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683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01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21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249" y="1365795"/>
            <a:ext cx="3390900" cy="4813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0753" y="1365076"/>
            <a:ext cx="3390900" cy="4813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86257" y="1373438"/>
            <a:ext cx="3390900" cy="480277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28;p15"/>
          <p:cNvSpPr txBox="1"/>
          <p:nvPr/>
        </p:nvSpPr>
        <p:spPr>
          <a:xfrm>
            <a:off x="1469647" y="3078097"/>
            <a:ext cx="16821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사회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안전망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강화</a:t>
            </a:r>
            <a:endParaRPr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Google Shape;129;p15"/>
          <p:cNvSpPr txBox="1"/>
          <p:nvPr/>
        </p:nvSpPr>
        <p:spPr>
          <a:xfrm>
            <a:off x="862898" y="3924425"/>
            <a:ext cx="28956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골든</a:t>
            </a:r>
            <a:r>
              <a:rPr 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타임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이내에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치매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환자와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아동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등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실종자를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수색하여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구조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endParaRPr lang="en-US" altLang="ko-KR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위험인자를</a:t>
            </a: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조기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탐지하여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초동대처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지원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8" name="Google Shape;131;p15"/>
          <p:cNvSpPr txBox="1"/>
          <p:nvPr/>
        </p:nvSpPr>
        <p:spPr>
          <a:xfrm>
            <a:off x="5093674" y="3078097"/>
            <a:ext cx="20046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관제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시스템</a:t>
            </a:r>
            <a:r>
              <a:rPr lang="en-US" sz="20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20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효율화</a:t>
            </a:r>
            <a:endParaRPr sz="2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Google Shape;132;p15"/>
          <p:cNvSpPr txBox="1"/>
          <p:nvPr/>
        </p:nvSpPr>
        <p:spPr>
          <a:xfrm>
            <a:off x="4648200" y="3884203"/>
            <a:ext cx="28956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육안을 통한 탐지에 의존하던 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수동</a:t>
            </a: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모니터링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방식에서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탈피</a:t>
            </a:r>
            <a:endParaRPr lang="en-US" b="0" i="0" u="none" strike="noStrike" cap="none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endParaRPr 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AI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기반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실시간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알림</a:t>
            </a: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체계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구축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Google Shape;134;p15"/>
          <p:cNvSpPr txBox="1"/>
          <p:nvPr/>
        </p:nvSpPr>
        <p:spPr>
          <a:xfrm>
            <a:off x="9031143" y="3075119"/>
            <a:ext cx="17002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20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모빌리티</a:t>
            </a:r>
            <a:r>
              <a:rPr lang="en-US" sz="20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20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확보</a:t>
            </a:r>
            <a:endParaRPr lang="ko-KR" altLang="en-US" sz="200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2" name="Google Shape;135;p15"/>
          <p:cNvSpPr txBox="1"/>
          <p:nvPr/>
        </p:nvSpPr>
        <p:spPr>
          <a:xfrm>
            <a:off x="8433906" y="3884203"/>
            <a:ext cx="28956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무인기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(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드론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),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스마트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글라스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등 이동형 매체를 통한 입체적인 시야 확보와 탐지 체계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구축 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endParaRPr lang="en-US" altLang="ko-KR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r>
              <a:rPr lang="en-US" altLang="ko-KR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고정식</a:t>
            </a:r>
            <a:r>
              <a:rPr lang="en-US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CCTV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의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한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계</a:t>
            </a:r>
            <a:r>
              <a:rPr lang="en-US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극복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  <a:sym typeface="Gothic A1"/>
            </a:endParaRPr>
          </a:p>
          <a:p>
            <a:pPr algn="ctr">
              <a:lnSpc>
                <a:spcPct val="160000"/>
              </a:lnSpc>
            </a:pPr>
            <a:endParaRPr lang="en-US" altLang="ko-KR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977324" y="2142800"/>
            <a:ext cx="666750" cy="666750"/>
            <a:chOff x="1977324" y="1708695"/>
            <a:chExt cx="666750" cy="666750"/>
          </a:xfrm>
        </p:grpSpPr>
        <p:pic>
          <p:nvPicPr>
            <p:cNvPr id="24" name="Google Shape;127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77324" y="1708695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136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177349" y="1908720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그룹 3"/>
          <p:cNvGrpSpPr/>
          <p:nvPr/>
        </p:nvGrpSpPr>
        <p:grpSpPr>
          <a:xfrm>
            <a:off x="5762828" y="2142081"/>
            <a:ext cx="666750" cy="666750"/>
            <a:chOff x="5762828" y="1707976"/>
            <a:chExt cx="666750" cy="666750"/>
          </a:xfrm>
        </p:grpSpPr>
        <p:pic>
          <p:nvPicPr>
            <p:cNvPr id="27" name="Google Shape;130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62828" y="1707976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137;p15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5962853" y="1908001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그룹 4"/>
          <p:cNvGrpSpPr/>
          <p:nvPr/>
        </p:nvGrpSpPr>
        <p:grpSpPr>
          <a:xfrm>
            <a:off x="9548332" y="2150443"/>
            <a:ext cx="666750" cy="666750"/>
            <a:chOff x="9548332" y="1716338"/>
            <a:chExt cx="666750" cy="666750"/>
          </a:xfrm>
        </p:grpSpPr>
        <p:pic>
          <p:nvPicPr>
            <p:cNvPr id="30" name="Google Shape;133;p15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548332" y="1716338"/>
              <a:ext cx="666750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138;p15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9715019" y="1916363"/>
              <a:ext cx="333375" cy="2667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0" name="직선 연결선 39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469647" y="3419840"/>
            <a:ext cx="1682101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5168812" y="3417609"/>
            <a:ext cx="1869296" cy="223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9180945" y="3417609"/>
            <a:ext cx="1403928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1365795"/>
            <a:ext cx="33909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914401" y="1661070"/>
            <a:ext cx="11620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 smtClean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BriefCam</a:t>
            </a:r>
            <a:endParaRPr sz="20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914400" y="1991569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2486978"/>
            <a:ext cx="28003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대용량</a:t>
            </a: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녹화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영상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압축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요약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기술</a:t>
            </a:r>
            <a:endParaRPr lang="en-US" b="0" i="0" u="none" strike="noStrike" cap="none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분석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자료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가공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통계화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서비스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탐색,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보고서 작성 전체 </a:t>
            </a:r>
            <a:r>
              <a:rPr lang="ko-KR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자동화</a:t>
            </a:r>
            <a:endParaRPr lang="ko-KR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02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상용 솔루션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벤치마킹</a:t>
            </a:r>
          </a:p>
        </p:txBody>
      </p:sp>
      <p:sp>
        <p:nvSpPr>
          <p:cNvPr id="180" name="Google Shape;180;p16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31" name="Google Shape;18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4126137"/>
            <a:ext cx="3390900" cy="197298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91;p17"/>
          <p:cNvSpPr txBox="1"/>
          <p:nvPr/>
        </p:nvSpPr>
        <p:spPr>
          <a:xfrm>
            <a:off x="790217" y="4326522"/>
            <a:ext cx="16291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6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정보 수집 성향</a:t>
            </a:r>
            <a:endParaRPr lang="en-US" sz="160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4" name="Google Shape;192;p17"/>
          <p:cNvSpPr txBox="1"/>
          <p:nvPr/>
        </p:nvSpPr>
        <p:spPr>
          <a:xfrm>
            <a:off x="771525" y="4819467"/>
            <a:ext cx="298116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정보 수집 후 2차 가공하고 통계 분석하기 위한 시스템</a:t>
            </a:r>
          </a:p>
          <a:p>
            <a:pPr>
              <a:lnSpc>
                <a:spcPct val="159904"/>
              </a:lnSpc>
            </a:pPr>
            <a:r>
              <a:rPr 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솔루션이 신원 확인을 목적으로 하지 않음</a:t>
            </a:r>
            <a:endParaRPr 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pPr>
              <a:lnSpc>
                <a:spcPct val="159904"/>
              </a:lnSpc>
            </a:pP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47725" y="1913631"/>
            <a:ext cx="1866217" cy="437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이스라엘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비즈니스 통계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146;p16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9125" y="1365795"/>
            <a:ext cx="33909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4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8150" y="1365795"/>
            <a:ext cx="33909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49;p16"/>
          <p:cNvSpPr txBox="1"/>
          <p:nvPr/>
        </p:nvSpPr>
        <p:spPr>
          <a:xfrm>
            <a:off x="914401" y="1661070"/>
            <a:ext cx="11620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 smtClean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BriefCam</a:t>
            </a:r>
            <a:endParaRPr sz="20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Google Shape;150;p16"/>
          <p:cNvSpPr/>
          <p:nvPr/>
        </p:nvSpPr>
        <p:spPr>
          <a:xfrm>
            <a:off x="914400" y="1991569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4" name="Google Shape;151;p16"/>
          <p:cNvSpPr txBox="1"/>
          <p:nvPr/>
        </p:nvSpPr>
        <p:spPr>
          <a:xfrm>
            <a:off x="4543425" y="1661070"/>
            <a:ext cx="11334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 smtClean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IntelliVIX</a:t>
            </a:r>
            <a:endParaRPr sz="20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Google Shape;152;p16"/>
          <p:cNvSpPr/>
          <p:nvPr/>
        </p:nvSpPr>
        <p:spPr>
          <a:xfrm>
            <a:off x="4543425" y="1991569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6" name="Google Shape;156;p16"/>
          <p:cNvSpPr txBox="1"/>
          <p:nvPr/>
        </p:nvSpPr>
        <p:spPr>
          <a:xfrm>
            <a:off x="914400" y="2486978"/>
            <a:ext cx="28003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대용량</a:t>
            </a: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녹화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영상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압축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요약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기술</a:t>
            </a:r>
            <a:endParaRPr lang="en-US" b="0" i="0" u="none" strike="noStrike" cap="none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분석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자료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가공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통계화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서비스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탐색,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보고서 작성 전체 </a:t>
            </a:r>
            <a:r>
              <a:rPr lang="ko-KR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자동화</a:t>
            </a:r>
            <a:endParaRPr lang="ko-KR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</p:txBody>
      </p:sp>
      <p:sp>
        <p:nvSpPr>
          <p:cNvPr id="27" name="Google Shape;160;p16"/>
          <p:cNvSpPr txBox="1"/>
          <p:nvPr/>
        </p:nvSpPr>
        <p:spPr>
          <a:xfrm>
            <a:off x="4572492" y="2515072"/>
            <a:ext cx="265747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화재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쓰러짐 등 위험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상황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인지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알람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복장을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통한</a:t>
            </a: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 신원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식별,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침입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알람</a:t>
            </a:r>
            <a:endParaRPr lang="ko-KR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28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02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상용 솔루션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벤치마킹</a:t>
            </a:r>
          </a:p>
        </p:txBody>
      </p:sp>
      <p:sp>
        <p:nvSpPr>
          <p:cNvPr id="29" name="Google Shape;180;p16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30" name="Google Shape;18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4126137"/>
            <a:ext cx="3390900" cy="1972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8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8150" y="4101103"/>
            <a:ext cx="3390900" cy="19482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191;p17"/>
          <p:cNvSpPr txBox="1"/>
          <p:nvPr/>
        </p:nvSpPr>
        <p:spPr>
          <a:xfrm>
            <a:off x="790217" y="4326522"/>
            <a:ext cx="16291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6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정보 수집 성향</a:t>
            </a:r>
            <a:endParaRPr lang="en-US" sz="160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3" name="Google Shape;192;p17"/>
          <p:cNvSpPr txBox="1"/>
          <p:nvPr/>
        </p:nvSpPr>
        <p:spPr>
          <a:xfrm>
            <a:off x="771525" y="4819467"/>
            <a:ext cx="298116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정보 수집 후 2차 가공하고 통계 분석하기 위한 시스템</a:t>
            </a:r>
          </a:p>
          <a:p>
            <a:pPr>
              <a:lnSpc>
                <a:spcPct val="159904"/>
              </a:lnSpc>
            </a:pPr>
            <a:r>
              <a:rPr 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솔루션이 신원 확인을 목적으로 하지 않음</a:t>
            </a:r>
            <a:endParaRPr 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pPr>
              <a:lnSpc>
                <a:spcPct val="159904"/>
              </a:lnSpc>
            </a:pP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4" name="Google Shape;194;p17"/>
          <p:cNvSpPr txBox="1"/>
          <p:nvPr/>
        </p:nvSpPr>
        <p:spPr>
          <a:xfrm>
            <a:off x="4447996" y="4819467"/>
            <a:ext cx="289577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사전 설정한 </a:t>
            </a: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Z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one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안으로의 침입을 감지</a:t>
            </a:r>
          </a:p>
          <a:p>
            <a:pPr>
              <a:lnSpc>
                <a:spcPct val="159904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시설 내, 범위 내 활용 제한으로 능동성 결여</a:t>
            </a:r>
            <a:endParaRPr 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449395" y="2007805"/>
            <a:ext cx="1646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한국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,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위험 인지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/</a:t>
            </a:r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알람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47725" y="1913631"/>
            <a:ext cx="1866217" cy="437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이스라엘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비즈니스 통계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7930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88;p17" descr="imag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48150" y="4101103"/>
            <a:ext cx="3390900" cy="194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9125" y="1365795"/>
            <a:ext cx="33909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8150" y="1365795"/>
            <a:ext cx="33909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49;p16"/>
          <p:cNvSpPr txBox="1"/>
          <p:nvPr/>
        </p:nvSpPr>
        <p:spPr>
          <a:xfrm>
            <a:off x="914401" y="1661070"/>
            <a:ext cx="116205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 smtClean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BriefCam</a:t>
            </a:r>
            <a:endParaRPr sz="20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Google Shape;150;p16"/>
          <p:cNvSpPr/>
          <p:nvPr/>
        </p:nvSpPr>
        <p:spPr>
          <a:xfrm>
            <a:off x="914400" y="1991569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8" name="Google Shape;151;p16"/>
          <p:cNvSpPr txBox="1"/>
          <p:nvPr/>
        </p:nvSpPr>
        <p:spPr>
          <a:xfrm>
            <a:off x="4543425" y="1661070"/>
            <a:ext cx="11334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 smtClean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IntelliVIX</a:t>
            </a:r>
            <a:endParaRPr sz="20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Google Shape;152;p16"/>
          <p:cNvSpPr/>
          <p:nvPr/>
        </p:nvSpPr>
        <p:spPr>
          <a:xfrm>
            <a:off x="4543425" y="1991569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0" name="Google Shape;156;p16"/>
          <p:cNvSpPr txBox="1"/>
          <p:nvPr/>
        </p:nvSpPr>
        <p:spPr>
          <a:xfrm>
            <a:off x="914400" y="2486978"/>
            <a:ext cx="280035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대용량</a:t>
            </a: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녹화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영상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압축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요약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기술</a:t>
            </a:r>
            <a:endParaRPr lang="en-US" b="0" i="0" u="none" strike="noStrike" cap="none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분석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자료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가공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통계화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서비스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탐색,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보고서 작성 전체 </a:t>
            </a:r>
            <a:r>
              <a:rPr lang="ko-KR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자동화</a:t>
            </a:r>
            <a:endParaRPr lang="ko-KR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</p:txBody>
      </p:sp>
      <p:sp>
        <p:nvSpPr>
          <p:cNvPr id="11" name="Google Shape;160;p16"/>
          <p:cNvSpPr txBox="1"/>
          <p:nvPr/>
        </p:nvSpPr>
        <p:spPr>
          <a:xfrm>
            <a:off x="4572492" y="2515072"/>
            <a:ext cx="265747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화재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쓰러짐 등 위험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상황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인지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알람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복장을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통한</a:t>
            </a: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 신원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식별,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침입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알람</a:t>
            </a:r>
            <a:endParaRPr lang="ko-KR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2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02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상용 솔루션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벤치마킹</a:t>
            </a:r>
          </a:p>
        </p:txBody>
      </p:sp>
      <p:sp>
        <p:nvSpPr>
          <p:cNvPr id="13" name="Google Shape;180;p16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14" name="Google Shape;18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" y="4126137"/>
            <a:ext cx="3390900" cy="197298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91;p17"/>
          <p:cNvSpPr txBox="1"/>
          <p:nvPr/>
        </p:nvSpPr>
        <p:spPr>
          <a:xfrm>
            <a:off x="790217" y="4326522"/>
            <a:ext cx="16291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6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정보 수집 성향</a:t>
            </a:r>
            <a:endParaRPr lang="en-US" sz="160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7" name="Google Shape;192;p17"/>
          <p:cNvSpPr txBox="1"/>
          <p:nvPr/>
        </p:nvSpPr>
        <p:spPr>
          <a:xfrm>
            <a:off x="771525" y="4819467"/>
            <a:ext cx="298116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정보 수집 후 2차 가공하고 통계 분석하기 위한 시스템</a:t>
            </a:r>
          </a:p>
          <a:p>
            <a:pPr>
              <a:lnSpc>
                <a:spcPct val="159904"/>
              </a:lnSpc>
            </a:pPr>
            <a:r>
              <a:rPr 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솔루션이 신원 확인을 목적으로 하지 않음</a:t>
            </a:r>
            <a:endParaRPr 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pPr>
              <a:lnSpc>
                <a:spcPct val="159904"/>
              </a:lnSpc>
            </a:pP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8" name="Google Shape;194;p17"/>
          <p:cNvSpPr txBox="1"/>
          <p:nvPr/>
        </p:nvSpPr>
        <p:spPr>
          <a:xfrm>
            <a:off x="4447996" y="4819467"/>
            <a:ext cx="289577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사전 설정한 </a:t>
            </a: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Z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one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안으로의 침입을 감지</a:t>
            </a:r>
          </a:p>
          <a:p>
            <a:pPr>
              <a:lnSpc>
                <a:spcPct val="159904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시설 내, 범위 내 활용 제한으로 능동성 결여</a:t>
            </a:r>
            <a:endParaRPr 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449395" y="2007805"/>
            <a:ext cx="1646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한국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, </a:t>
            </a:r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위험 인지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/</a:t>
            </a:r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알람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47725" y="1913631"/>
            <a:ext cx="1866217" cy="437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60000"/>
              </a:lnSpc>
            </a:pP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이스라엘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비즈니스 통계</a:t>
            </a:r>
            <a:endParaRPr lang="en-US" altLang="ko-KR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77175" y="1365795"/>
            <a:ext cx="33909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53;p16"/>
          <p:cNvSpPr txBox="1"/>
          <p:nvPr/>
        </p:nvSpPr>
        <p:spPr>
          <a:xfrm>
            <a:off x="8172450" y="1661070"/>
            <a:ext cx="29403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smtClean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ANDURIL</a:t>
            </a:r>
            <a:endParaRPr sz="20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Google Shape;154;p16"/>
          <p:cNvSpPr/>
          <p:nvPr/>
        </p:nvSpPr>
        <p:spPr>
          <a:xfrm>
            <a:off x="8172450" y="1991569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5" name="Google Shape;164;p16"/>
          <p:cNvSpPr txBox="1"/>
          <p:nvPr/>
        </p:nvSpPr>
        <p:spPr>
          <a:xfrm>
            <a:off x="8131610" y="2515072"/>
            <a:ext cx="3117236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CCTV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레이더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센서로 방대한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정보 수집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다기종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altLang="ko-KR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무인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자산의</a:t>
            </a:r>
            <a:r>
              <a:rPr lang="en-US" alt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유기적인 정보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공유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노이즈 제어로 높은 정확도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확보</a:t>
            </a: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pic>
        <p:nvPicPr>
          <p:cNvPr id="26" name="Google Shape;188;p17" descr="image.png">
            <a:extLst>
              <a:ext uri="{FF2B5EF4-FFF2-40B4-BE49-F238E27FC236}">
                <a16:creationId xmlns:a16="http://schemas.microsoft.com/office/drawing/2014/main" id="{49390A55-551C-AE4C-EDD4-7146637BE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7175" y="4101451"/>
            <a:ext cx="3390900" cy="194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193;p17">
            <a:extLst>
              <a:ext uri="{FF2B5EF4-FFF2-40B4-BE49-F238E27FC236}">
                <a16:creationId xmlns:a16="http://schemas.microsoft.com/office/drawing/2014/main" id="{CBE53451-65B3-1CDB-E534-BF8E457CB750}"/>
              </a:ext>
            </a:extLst>
          </p:cNvPr>
          <p:cNvSpPr txBox="1"/>
          <p:nvPr/>
        </p:nvSpPr>
        <p:spPr>
          <a:xfrm>
            <a:off x="8077021" y="4294646"/>
            <a:ext cx="306410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6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높은 도입 </a:t>
            </a:r>
            <a:r>
              <a:rPr lang="ko-KR" altLang="en-US" sz="160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비용과 까다로운 시설 적합도 판별</a:t>
            </a:r>
            <a:endParaRPr lang="ko-KR" altLang="en-US" sz="160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28" name="Google Shape;194;p17">
            <a:extLst>
              <a:ext uri="{FF2B5EF4-FFF2-40B4-BE49-F238E27FC236}">
                <a16:creationId xmlns:a16="http://schemas.microsoft.com/office/drawing/2014/main" id="{23EDA6B5-052F-5928-199A-DD72064626A8}"/>
              </a:ext>
            </a:extLst>
          </p:cNvPr>
          <p:cNvSpPr txBox="1"/>
          <p:nvPr/>
        </p:nvSpPr>
        <p:spPr>
          <a:xfrm>
            <a:off x="8062852" y="4819468"/>
            <a:ext cx="2956473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고품질의 영상 분석을 위한 높은 도입 비용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pPr>
              <a:lnSpc>
                <a:spcPct val="159904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카메라 설치 각도 등이 분석 품질에 큰 영향을 줌</a:t>
            </a: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8062852" y="1998969"/>
            <a:ext cx="12153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미국</a:t>
            </a:r>
            <a:r>
              <a:rPr lang="en-US" altLang="ko-KR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, </a:t>
            </a:r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군사통제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Google Shape;191;p17"/>
          <p:cNvSpPr txBox="1"/>
          <p:nvPr/>
        </p:nvSpPr>
        <p:spPr>
          <a:xfrm>
            <a:off x="4543918" y="4294646"/>
            <a:ext cx="18378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60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수동적인 탐지 솔루션</a:t>
            </a:r>
            <a:endParaRPr lang="en-US" sz="160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151986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9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02  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상용 솔루션 벤치마킹</a:t>
            </a:r>
          </a:p>
        </p:txBody>
      </p:sp>
      <p:sp>
        <p:nvSpPr>
          <p:cNvPr id="38" name="Google Shape;210;p18"/>
          <p:cNvSpPr txBox="1"/>
          <p:nvPr/>
        </p:nvSpPr>
        <p:spPr>
          <a:xfrm>
            <a:off x="9184681" y="4428476"/>
            <a:ext cx="3514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200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 매체에 따른 이동성 확보</a:t>
            </a:r>
            <a:endParaRPr sz="2000" b="1" dirty="0">
              <a:solidFill>
                <a:schemeClr val="bg1">
                  <a:lumMod val="9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26067" y="1373251"/>
            <a:ext cx="2061715" cy="264814"/>
          </a:xfrm>
          <a:prstGeom prst="roundRect">
            <a:avLst/>
          </a:prstGeom>
          <a:solidFill>
            <a:srgbClr val="008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19150" y="1339899"/>
            <a:ext cx="1724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프로젝트의 </a:t>
            </a:r>
            <a:r>
              <a:rPr lang="ko-KR" altLang="en-US" sz="1600" dirty="0" err="1" smtClean="0">
                <a:solidFill>
                  <a:schemeClr val="bg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차별점</a:t>
            </a:r>
            <a:endParaRPr lang="ko-KR" altLang="en-US" sz="1600" dirty="0">
              <a:solidFill>
                <a:schemeClr val="bg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26067" y="1820232"/>
            <a:ext cx="3898311" cy="1760076"/>
            <a:chOff x="626067" y="1820231"/>
            <a:chExt cx="4752115" cy="4740231"/>
          </a:xfrm>
          <a:effectLst>
            <a:outerShdw blurRad="25400" dist="50800" dir="2700000" algn="ctr" rotWithShape="0">
              <a:schemeClr val="bg1">
                <a:lumMod val="65000"/>
                <a:alpha val="12000"/>
              </a:schemeClr>
            </a:outerShdw>
          </a:effectLst>
        </p:grpSpPr>
        <p:sp>
          <p:nvSpPr>
            <p:cNvPr id="27" name="모서리가 둥근 직사각형 26"/>
            <p:cNvSpPr/>
            <p:nvPr/>
          </p:nvSpPr>
          <p:spPr>
            <a:xfrm>
              <a:off x="626071" y="1820231"/>
              <a:ext cx="4752111" cy="843570"/>
            </a:xfrm>
            <a:prstGeom prst="roundRect">
              <a:avLst>
                <a:gd name="adj" fmla="val 36695"/>
              </a:avLst>
            </a:prstGeom>
            <a:gradFill>
              <a:gsLst>
                <a:gs pos="44000">
                  <a:srgbClr val="0081C8"/>
                </a:gs>
                <a:gs pos="100000">
                  <a:srgbClr val="2061E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626067" y="1917569"/>
              <a:ext cx="4752114" cy="4642893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2" name="Google Shape;210;p18"/>
          <p:cNvSpPr txBox="1"/>
          <p:nvPr/>
        </p:nvSpPr>
        <p:spPr>
          <a:xfrm>
            <a:off x="742951" y="2036004"/>
            <a:ext cx="3514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직접적인 신원</a:t>
            </a:r>
            <a:r>
              <a:rPr 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식별</a:t>
            </a:r>
            <a:r>
              <a:rPr lang="en-US" altLang="ko-KR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실시간</a:t>
            </a:r>
            <a:r>
              <a:rPr lang="en-US" sz="2000" b="1" i="0" u="none" strike="noStrike" cap="none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2000" b="1" i="0" u="none" strike="noStrike" cap="none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추적</a:t>
            </a:r>
            <a:endParaRPr sz="2000" b="1" dirty="0">
              <a:solidFill>
                <a:schemeClr val="tx1">
                  <a:lumMod val="65000"/>
                  <a:lumOff val="3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Google Shape;211;p18"/>
          <p:cNvSpPr txBox="1"/>
          <p:nvPr/>
        </p:nvSpPr>
        <p:spPr>
          <a:xfrm>
            <a:off x="771525" y="2684561"/>
            <a:ext cx="315972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 대상으로 등록된 </a:t>
            </a:r>
            <a:r>
              <a:rPr lang="en-US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피사체</a:t>
            </a:r>
            <a:r>
              <a:rPr lang="ko-KR" altLang="en-US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의 신원을</a:t>
            </a:r>
            <a:r>
              <a:rPr lang="en-US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식별</a:t>
            </a:r>
          </a:p>
          <a:p>
            <a:pPr>
              <a:lnSpc>
                <a:spcPct val="160000"/>
              </a:lnSpc>
            </a:pP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재식별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기술을 사용하여 영상 내의 대상 추적</a:t>
            </a: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626066" y="4102639"/>
            <a:ext cx="3898313" cy="1760076"/>
            <a:chOff x="626067" y="1820231"/>
            <a:chExt cx="4752115" cy="4740231"/>
          </a:xfrm>
          <a:effectLst>
            <a:outerShdw blurRad="25400" dist="50800" dir="2700000" algn="ctr" rotWithShape="0">
              <a:schemeClr val="bg1">
                <a:lumMod val="65000"/>
                <a:alpha val="12000"/>
              </a:schemeClr>
            </a:outerShdw>
          </a:effectLst>
        </p:grpSpPr>
        <p:sp>
          <p:nvSpPr>
            <p:cNvPr id="30" name="모서리가 둥근 직사각형 29"/>
            <p:cNvSpPr/>
            <p:nvPr/>
          </p:nvSpPr>
          <p:spPr>
            <a:xfrm>
              <a:off x="626071" y="1820231"/>
              <a:ext cx="4752111" cy="843570"/>
            </a:xfrm>
            <a:prstGeom prst="roundRect">
              <a:avLst>
                <a:gd name="adj" fmla="val 36695"/>
              </a:avLst>
            </a:prstGeom>
            <a:gradFill>
              <a:gsLst>
                <a:gs pos="44000">
                  <a:srgbClr val="0081C8"/>
                </a:gs>
                <a:gs pos="100000">
                  <a:srgbClr val="2061E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626067" y="1917569"/>
              <a:ext cx="4752114" cy="4642893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6692601" y="1838303"/>
            <a:ext cx="4450756" cy="1760076"/>
            <a:chOff x="626067" y="1820231"/>
            <a:chExt cx="4752115" cy="4740231"/>
          </a:xfrm>
          <a:effectLst>
            <a:outerShdw blurRad="25400" dist="50800" dir="2700000" algn="ctr" rotWithShape="0">
              <a:schemeClr val="bg1">
                <a:lumMod val="65000"/>
                <a:alpha val="12000"/>
              </a:schemeClr>
            </a:outerShdw>
          </a:effectLst>
        </p:grpSpPr>
        <p:sp>
          <p:nvSpPr>
            <p:cNvPr id="41" name="모서리가 둥근 직사각형 40"/>
            <p:cNvSpPr/>
            <p:nvPr/>
          </p:nvSpPr>
          <p:spPr>
            <a:xfrm>
              <a:off x="626071" y="1820231"/>
              <a:ext cx="4752111" cy="843570"/>
            </a:xfrm>
            <a:prstGeom prst="roundRect">
              <a:avLst>
                <a:gd name="adj" fmla="val 36695"/>
              </a:avLst>
            </a:prstGeom>
            <a:gradFill>
              <a:gsLst>
                <a:gs pos="44000">
                  <a:srgbClr val="0081C8"/>
                </a:gs>
                <a:gs pos="100000">
                  <a:srgbClr val="2061E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626067" y="1917569"/>
              <a:ext cx="4752114" cy="4642893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6692602" y="4102639"/>
            <a:ext cx="4450756" cy="1760076"/>
            <a:chOff x="626067" y="1820231"/>
            <a:chExt cx="4752115" cy="4740231"/>
          </a:xfrm>
          <a:effectLst>
            <a:outerShdw blurRad="25400" dist="50800" dir="2700000" algn="ctr" rotWithShape="0">
              <a:schemeClr val="bg1">
                <a:lumMod val="65000"/>
                <a:alpha val="12000"/>
              </a:schemeClr>
            </a:outerShdw>
          </a:effectLst>
        </p:grpSpPr>
        <p:sp>
          <p:nvSpPr>
            <p:cNvPr id="48" name="모서리가 둥근 직사각형 47"/>
            <p:cNvSpPr/>
            <p:nvPr/>
          </p:nvSpPr>
          <p:spPr>
            <a:xfrm>
              <a:off x="626071" y="1820231"/>
              <a:ext cx="4752111" cy="843570"/>
            </a:xfrm>
            <a:prstGeom prst="roundRect">
              <a:avLst>
                <a:gd name="adj" fmla="val 36695"/>
              </a:avLst>
            </a:prstGeom>
            <a:gradFill>
              <a:gsLst>
                <a:gs pos="44000">
                  <a:srgbClr val="0081C8"/>
                </a:gs>
                <a:gs pos="100000">
                  <a:srgbClr val="2061EA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626067" y="1917569"/>
              <a:ext cx="4752114" cy="4642893"/>
            </a:xfrm>
            <a:prstGeom prst="roundRect">
              <a:avLst>
                <a:gd name="adj" fmla="val 3739"/>
              </a:avLst>
            </a:pr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4" name="Google Shape;210;p18"/>
          <p:cNvSpPr txBox="1"/>
          <p:nvPr/>
        </p:nvSpPr>
        <p:spPr>
          <a:xfrm>
            <a:off x="6854525" y="2056507"/>
            <a:ext cx="3514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20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경량형</a:t>
            </a:r>
            <a:r>
              <a:rPr lang="ko-KR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설계</a:t>
            </a:r>
            <a:r>
              <a:rPr lang="en-US" altLang="ko-K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호환성</a:t>
            </a:r>
            <a:endParaRPr sz="20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Google Shape;211;p18"/>
          <p:cNvSpPr txBox="1"/>
          <p:nvPr/>
        </p:nvSpPr>
        <p:spPr>
          <a:xfrm>
            <a:off x="6854525" y="2711396"/>
            <a:ext cx="3781428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경량 모델로 고성능 하드웨어에 대한 종속성 일부 해소</a:t>
            </a:r>
            <a:endParaRPr lang="en-US" altLang="ko-KR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노후화된 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레거시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장비와도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호환 가능</a:t>
            </a: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50" name="Google Shape;210;p18"/>
          <p:cNvSpPr txBox="1"/>
          <p:nvPr/>
        </p:nvSpPr>
        <p:spPr>
          <a:xfrm>
            <a:off x="742951" y="4326394"/>
            <a:ext cx="3514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 매체에 따른 이동성 확보</a:t>
            </a:r>
            <a:endParaRPr sz="20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1" name="Google Shape;211;p18"/>
          <p:cNvSpPr txBox="1"/>
          <p:nvPr/>
        </p:nvSpPr>
        <p:spPr>
          <a:xfrm>
            <a:off x="742951" y="4981283"/>
            <a:ext cx="3781428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이동형 카메라를 통한 입체적인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탐색 반경 확보</a:t>
            </a: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52" name="Google Shape;210;p18"/>
          <p:cNvSpPr txBox="1"/>
          <p:nvPr/>
        </p:nvSpPr>
        <p:spPr>
          <a:xfrm>
            <a:off x="6809486" y="4326394"/>
            <a:ext cx="3514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ZERO-DELAY </a:t>
            </a:r>
            <a:r>
              <a:rPr lang="ko-KR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표적 등록</a:t>
            </a:r>
            <a:endParaRPr sz="20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Google Shape;211;p18"/>
          <p:cNvSpPr txBox="1"/>
          <p:nvPr/>
        </p:nvSpPr>
        <p:spPr>
          <a:xfrm>
            <a:off x="6854525" y="4981283"/>
            <a:ext cx="4438652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데이터 학습에 시간이 걸리는 보편적인 시스템과 달리</a:t>
            </a:r>
            <a:r>
              <a:rPr lang="en-US" altLang="ko-KR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,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간편한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등록 프로세스로 단 몇 </a:t>
            </a:r>
            <a:r>
              <a:rPr lang="ko-KR" altLang="en-US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장의 사진만으로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새로운 감시 대상 반영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531</Words>
  <Application>Microsoft Office PowerPoint</Application>
  <PresentationFormat>와이드스크린</PresentationFormat>
  <Paragraphs>135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2" baseType="lpstr">
      <vt:lpstr>맑은 고딕</vt:lpstr>
      <vt:lpstr>나눔스퀘어_ac</vt:lpstr>
      <vt:lpstr>Poppins Black</vt:lpstr>
      <vt:lpstr>프리텐다드 Medium</vt:lpstr>
      <vt:lpstr>Arial</vt:lpstr>
      <vt:lpstr>나눔스퀘어_ac Bold</vt:lpstr>
      <vt:lpstr>프리텐다드</vt:lpstr>
      <vt:lpstr>Calibri</vt:lpstr>
      <vt:lpstr>Gothic A1</vt:lpstr>
      <vt:lpstr>Gothic A1 Black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</cp:lastModifiedBy>
  <cp:revision>517</cp:revision>
  <dcterms:modified xsi:type="dcterms:W3CDTF">2026-07-15T08:30:12Z</dcterms:modified>
</cp:coreProperties>
</file>