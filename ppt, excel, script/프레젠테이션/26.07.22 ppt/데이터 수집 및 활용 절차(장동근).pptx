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embeddedFontLst>
    <p:embeddedFont>
      <p:font typeface="Malgun Gothic" panose="020B0503020000020004" pitchFamily="50" charset="-127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나눔스퀘어 Bold" panose="020B0600000101010101" pitchFamily="50" charset="-127"/>
      <p:bold r:id="rId22"/>
    </p:embeddedFont>
    <p:embeddedFont>
      <p:font typeface="나눔스퀘어_ac Bold" panose="020B0600000101010101" pitchFamily="50" charset="-127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5F5F5"/>
    <a:srgbClr val="D3E8FD"/>
    <a:srgbClr val="FFFFFF"/>
    <a:srgbClr val="CAE2F7"/>
    <a:srgbClr val="25A7FF"/>
    <a:srgbClr val="F4F9FE"/>
    <a:srgbClr val="F7FCFF"/>
    <a:srgbClr val="FBFBFB"/>
    <a:srgbClr val="5C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67" autoAdjust="0"/>
  </p:normalViewPr>
  <p:slideViewPr>
    <p:cSldViewPr snapToGrid="0">
      <p:cViewPr varScale="1">
        <p:scale>
          <a:sx n="93" d="100"/>
          <a:sy n="93" d="100"/>
        </p:scale>
        <p:origin x="96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530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19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9845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83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566927" y="640609"/>
            <a:ext cx="5029200" cy="5293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lang="ko-KR" altLang="en-US" sz="3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 흐름도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7" y="1290443"/>
            <a:ext cx="6507254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</a:t>
            </a:r>
            <a:r>
              <a:rPr lang="en-US" altLang="ko-KR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·CCTV</a:t>
            </a:r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영상과 등록 데이터를 수집</a:t>
            </a:r>
            <a:r>
              <a:rPr lang="en-US" altLang="ko-KR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분석하여 실시간 관제와 경고 서비스에 활용하는 과정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61BEC2B0-E248-7A6F-0487-15F316E9F1D2}"/>
              </a:ext>
            </a:extLst>
          </p:cNvPr>
          <p:cNvGrpSpPr/>
          <p:nvPr/>
        </p:nvGrpSpPr>
        <p:grpSpPr>
          <a:xfrm>
            <a:off x="729836" y="2028561"/>
            <a:ext cx="2060599" cy="3091675"/>
            <a:chOff x="612488" y="2303285"/>
            <a:chExt cx="2060599" cy="3091675"/>
          </a:xfrm>
        </p:grpSpPr>
        <p:sp>
          <p:nvSpPr>
            <p:cNvPr id="51" name="Rounded Rectangle 50"/>
            <p:cNvSpPr/>
            <p:nvPr/>
          </p:nvSpPr>
          <p:spPr>
            <a:xfrm>
              <a:off x="615662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93000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612672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12672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sz="2200" b="1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42681" y="2391540"/>
              <a:ext cx="1181294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 수집</a:t>
              </a:r>
            </a:p>
          </p:txBody>
        </p:sp>
        <p:cxnSp>
          <p:nvCxnSpPr>
            <p:cNvPr id="66" name="Connector 65"/>
            <p:cNvCxnSpPr>
              <a:cxnSpLocks/>
            </p:cNvCxnSpPr>
            <p:nvPr/>
          </p:nvCxnSpPr>
          <p:spPr>
            <a:xfrm>
              <a:off x="612488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1637440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80819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영상 파일 및 실시간 카메라 스트림 수신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대상자 프로필 및 얼굴 이미지 등록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카메라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ID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및 고정 위치 정보 관리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사용자 계정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권한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승인 정보 관리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31" name="Rounded Rectangle 130"/>
          <p:cNvSpPr/>
          <p:nvPr/>
        </p:nvSpPr>
        <p:spPr>
          <a:xfrm>
            <a:off x="612649" y="5489968"/>
            <a:ext cx="10966702" cy="675797"/>
          </a:xfrm>
          <a:prstGeom prst="roundRect">
            <a:avLst/>
          </a:prstGeom>
          <a:solidFill>
            <a:srgbClr val="F2F8FF"/>
          </a:solidFill>
          <a:ln w="1524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649056" y="5707618"/>
            <a:ext cx="1554480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</a:t>
            </a:r>
            <a:r>
              <a:rPr lang="en-US" altLang="ko-KR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·CCTV</a:t>
            </a:r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영상 수집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3415701" y="571326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4401349" y="5702887"/>
            <a:ext cx="65836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전처리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55673" y="5713473"/>
            <a:ext cx="65836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79659" y="5719698"/>
            <a:ext cx="74980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저장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9997" y="5625942"/>
            <a:ext cx="1371600" cy="3754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관제</a:t>
            </a:r>
            <a:r>
              <a:rPr lang="en-US" altLang="ko-KR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지도</a:t>
            </a:r>
            <a:r>
              <a:rPr lang="en-US" altLang="ko-KR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 활용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0D10C75-CD44-90B3-DFDD-8D1E72A56EB5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149CCA73-A282-914D-37CA-CBCC0F06B537}"/>
              </a:ext>
            </a:extLst>
          </p:cNvPr>
          <p:cNvGrpSpPr/>
          <p:nvPr/>
        </p:nvGrpSpPr>
        <p:grpSpPr>
          <a:xfrm>
            <a:off x="2893176" y="2028561"/>
            <a:ext cx="2060599" cy="3091675"/>
            <a:chOff x="2932025" y="2303986"/>
            <a:chExt cx="2060599" cy="3091675"/>
          </a:xfrm>
        </p:grpSpPr>
        <p:sp>
          <p:nvSpPr>
            <p:cNvPr id="134" name="Rounded Rectangle 50">
              <a:extLst>
                <a:ext uri="{FF2B5EF4-FFF2-40B4-BE49-F238E27FC236}">
                  <a16:creationId xmlns:a16="http://schemas.microsoft.com/office/drawing/2014/main" id="{7879836C-0F6D-BE7B-CD71-A8FE2D84D1E3}"/>
                </a:ext>
              </a:extLst>
            </p:cNvPr>
            <p:cNvSpPr/>
            <p:nvPr/>
          </p:nvSpPr>
          <p:spPr>
            <a:xfrm>
              <a:off x="2935199" y="2487869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7" name="Rounded Rectangle 51">
              <a:extLst>
                <a:ext uri="{FF2B5EF4-FFF2-40B4-BE49-F238E27FC236}">
                  <a16:creationId xmlns:a16="http://schemas.microsoft.com/office/drawing/2014/main" id="{AC59D675-8B62-0ACA-A24C-A2226F957BF1}"/>
                </a:ext>
              </a:extLst>
            </p:cNvPr>
            <p:cNvSpPr/>
            <p:nvPr/>
          </p:nvSpPr>
          <p:spPr>
            <a:xfrm>
              <a:off x="3112537" y="2320384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8" name="Oval 52">
              <a:extLst>
                <a:ext uri="{FF2B5EF4-FFF2-40B4-BE49-F238E27FC236}">
                  <a16:creationId xmlns:a16="http://schemas.microsoft.com/office/drawing/2014/main" id="{7AA7CBE9-6640-42D2-5593-97F23B70C410}"/>
                </a:ext>
              </a:extLst>
            </p:cNvPr>
            <p:cNvSpPr/>
            <p:nvPr/>
          </p:nvSpPr>
          <p:spPr>
            <a:xfrm>
              <a:off x="2932209" y="2303986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7C6FE61-6D7F-6951-AD8C-D614036AC114}"/>
                </a:ext>
              </a:extLst>
            </p:cNvPr>
            <p:cNvSpPr txBox="1"/>
            <p:nvPr/>
          </p:nvSpPr>
          <p:spPr>
            <a:xfrm>
              <a:off x="2932209" y="2335698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4E72331-6365-5949-53CF-5B0AA1FD9BCE}"/>
                </a:ext>
              </a:extLst>
            </p:cNvPr>
            <p:cNvSpPr txBox="1"/>
            <p:nvPr/>
          </p:nvSpPr>
          <p:spPr>
            <a:xfrm>
              <a:off x="3458696" y="2400041"/>
              <a:ext cx="1293386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 전처리</a:t>
              </a:r>
            </a:p>
          </p:txBody>
        </p:sp>
        <p:cxnSp>
          <p:nvCxnSpPr>
            <p:cNvPr id="142" name="Connector 65">
              <a:extLst>
                <a:ext uri="{FF2B5EF4-FFF2-40B4-BE49-F238E27FC236}">
                  <a16:creationId xmlns:a16="http://schemas.microsoft.com/office/drawing/2014/main" id="{881F3068-C23D-19B8-5761-F7BB688604EC}"/>
                </a:ext>
              </a:extLst>
            </p:cNvPr>
            <p:cNvCxnSpPr>
              <a:cxnSpLocks/>
            </p:cNvCxnSpPr>
            <p:nvPr/>
          </p:nvCxnSpPr>
          <p:spPr>
            <a:xfrm>
              <a:off x="2932025" y="4078925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66">
              <a:extLst>
                <a:ext uri="{FF2B5EF4-FFF2-40B4-BE49-F238E27FC236}">
                  <a16:creationId xmlns:a16="http://schemas.microsoft.com/office/drawing/2014/main" id="{1EC0A639-EDE1-726D-E712-4D4F538CBE27}"/>
                </a:ext>
              </a:extLst>
            </p:cNvPr>
            <p:cNvSpPr/>
            <p:nvPr/>
          </p:nvSpPr>
          <p:spPr>
            <a:xfrm>
              <a:off x="3956977" y="4046921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FE5706B-612B-E695-6E19-C2602E1F1A1D}"/>
                </a:ext>
              </a:extLst>
            </p:cNvPr>
            <p:cNvSpPr txBox="1"/>
            <p:nvPr/>
          </p:nvSpPr>
          <p:spPr>
            <a:xfrm>
              <a:off x="3000356" y="4280092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OpenCV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를 이용한 영상 프레임 처리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정상적으로 수신된 프레임 확인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모델 입력 크기 및 형식 설정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처리된 프레임을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분석 모델로 전달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B51031BA-DFD1-E5F6-C4ED-AA1CA0578506}"/>
              </a:ext>
            </a:extLst>
          </p:cNvPr>
          <p:cNvGrpSpPr/>
          <p:nvPr/>
        </p:nvGrpSpPr>
        <p:grpSpPr>
          <a:xfrm>
            <a:off x="5065133" y="2028561"/>
            <a:ext cx="2060599" cy="3091675"/>
            <a:chOff x="5221089" y="2303285"/>
            <a:chExt cx="2060599" cy="3091675"/>
          </a:xfrm>
        </p:grpSpPr>
        <p:sp>
          <p:nvSpPr>
            <p:cNvPr id="146" name="Rounded Rectangle 50">
              <a:extLst>
                <a:ext uri="{FF2B5EF4-FFF2-40B4-BE49-F238E27FC236}">
                  <a16:creationId xmlns:a16="http://schemas.microsoft.com/office/drawing/2014/main" id="{ACDAE8DD-08B6-F093-E0DD-F6E629E30813}"/>
                </a:ext>
              </a:extLst>
            </p:cNvPr>
            <p:cNvSpPr/>
            <p:nvPr/>
          </p:nvSpPr>
          <p:spPr>
            <a:xfrm>
              <a:off x="5224263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8" name="Rounded Rectangle 51">
              <a:extLst>
                <a:ext uri="{FF2B5EF4-FFF2-40B4-BE49-F238E27FC236}">
                  <a16:creationId xmlns:a16="http://schemas.microsoft.com/office/drawing/2014/main" id="{8678185C-6116-8616-949E-09563F22921C}"/>
                </a:ext>
              </a:extLst>
            </p:cNvPr>
            <p:cNvSpPr/>
            <p:nvPr/>
          </p:nvSpPr>
          <p:spPr>
            <a:xfrm>
              <a:off x="5401601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9" name="Oval 52">
              <a:extLst>
                <a:ext uri="{FF2B5EF4-FFF2-40B4-BE49-F238E27FC236}">
                  <a16:creationId xmlns:a16="http://schemas.microsoft.com/office/drawing/2014/main" id="{C629CEDC-A272-EBD8-8CDF-05C58A12A86C}"/>
                </a:ext>
              </a:extLst>
            </p:cNvPr>
            <p:cNvSpPr/>
            <p:nvPr/>
          </p:nvSpPr>
          <p:spPr>
            <a:xfrm>
              <a:off x="5221273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5BA764D-23D5-D1B6-6E72-67FA1F238130}"/>
                </a:ext>
              </a:extLst>
            </p:cNvPr>
            <p:cNvSpPr txBox="1"/>
            <p:nvPr/>
          </p:nvSpPr>
          <p:spPr>
            <a:xfrm>
              <a:off x="5221273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DE4FB46-CE87-CD45-950D-92CEC9712101}"/>
                </a:ext>
              </a:extLst>
            </p:cNvPr>
            <p:cNvSpPr txBox="1"/>
            <p:nvPr/>
          </p:nvSpPr>
          <p:spPr>
            <a:xfrm>
              <a:off x="5769116" y="2391540"/>
              <a:ext cx="850212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en-US" altLang="ko-KR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분석</a:t>
              </a:r>
            </a:p>
          </p:txBody>
        </p:sp>
        <p:cxnSp>
          <p:nvCxnSpPr>
            <p:cNvPr id="152" name="Connector 65">
              <a:extLst>
                <a:ext uri="{FF2B5EF4-FFF2-40B4-BE49-F238E27FC236}">
                  <a16:creationId xmlns:a16="http://schemas.microsoft.com/office/drawing/2014/main" id="{70E61A05-6D14-CCD3-4BC9-739B47F19BB4}"/>
                </a:ext>
              </a:extLst>
            </p:cNvPr>
            <p:cNvCxnSpPr>
              <a:cxnSpLocks/>
            </p:cNvCxnSpPr>
            <p:nvPr/>
          </p:nvCxnSpPr>
          <p:spPr>
            <a:xfrm>
              <a:off x="5221089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66">
              <a:extLst>
                <a:ext uri="{FF2B5EF4-FFF2-40B4-BE49-F238E27FC236}">
                  <a16:creationId xmlns:a16="http://schemas.microsoft.com/office/drawing/2014/main" id="{4D433FC7-EB8E-5984-C314-B1C7ACD3BBBC}"/>
                </a:ext>
              </a:extLst>
            </p:cNvPr>
            <p:cNvSpPr/>
            <p:nvPr/>
          </p:nvSpPr>
          <p:spPr>
            <a:xfrm>
              <a:off x="6246041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ECCB859-9462-F907-7F6D-624566769D3F}"/>
                </a:ext>
              </a:extLst>
            </p:cNvPr>
            <p:cNvSpPr txBox="1"/>
            <p:nvPr/>
          </p:nvSpPr>
          <p:spPr>
            <a:xfrm>
              <a:off x="5289420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YOLO </a:t>
              </a:r>
              <a:r>
                <a:rPr lang="ko-KR" altLang="en-US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사람 탐지</a:t>
              </a: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BoT-SORT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동일 인물 추적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InsightFace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얼굴 특징값 추출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등록 대상자와 비교하여 일치 여부 판단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D18C939D-8C2B-29C1-9E34-D9A5E073095B}"/>
              </a:ext>
            </a:extLst>
          </p:cNvPr>
          <p:cNvGrpSpPr/>
          <p:nvPr/>
        </p:nvGrpSpPr>
        <p:grpSpPr>
          <a:xfrm>
            <a:off x="7237090" y="2028561"/>
            <a:ext cx="2060599" cy="3091675"/>
            <a:chOff x="7512282" y="2303285"/>
            <a:chExt cx="2060599" cy="3091675"/>
          </a:xfrm>
        </p:grpSpPr>
        <p:sp>
          <p:nvSpPr>
            <p:cNvPr id="159" name="Rounded Rectangle 50">
              <a:extLst>
                <a:ext uri="{FF2B5EF4-FFF2-40B4-BE49-F238E27FC236}">
                  <a16:creationId xmlns:a16="http://schemas.microsoft.com/office/drawing/2014/main" id="{F32CD2C3-4EFD-FC0D-E3CD-2F6F8DED14A3}"/>
                </a:ext>
              </a:extLst>
            </p:cNvPr>
            <p:cNvSpPr/>
            <p:nvPr/>
          </p:nvSpPr>
          <p:spPr>
            <a:xfrm>
              <a:off x="7515456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0" name="Rounded Rectangle 51">
              <a:extLst>
                <a:ext uri="{FF2B5EF4-FFF2-40B4-BE49-F238E27FC236}">
                  <a16:creationId xmlns:a16="http://schemas.microsoft.com/office/drawing/2014/main" id="{ABE9560E-B747-9E0E-0A52-4A505D8FF489}"/>
                </a:ext>
              </a:extLst>
            </p:cNvPr>
            <p:cNvSpPr/>
            <p:nvPr/>
          </p:nvSpPr>
          <p:spPr>
            <a:xfrm>
              <a:off x="7692794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1" name="Oval 52">
              <a:extLst>
                <a:ext uri="{FF2B5EF4-FFF2-40B4-BE49-F238E27FC236}">
                  <a16:creationId xmlns:a16="http://schemas.microsoft.com/office/drawing/2014/main" id="{9FD3080B-10FE-0E6E-DF25-90FBC779D7B7}"/>
                </a:ext>
              </a:extLst>
            </p:cNvPr>
            <p:cNvSpPr/>
            <p:nvPr/>
          </p:nvSpPr>
          <p:spPr>
            <a:xfrm>
              <a:off x="7512466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350F53AE-E8A7-4A33-79A4-A604F8F66811}"/>
                </a:ext>
              </a:extLst>
            </p:cNvPr>
            <p:cNvSpPr txBox="1"/>
            <p:nvPr/>
          </p:nvSpPr>
          <p:spPr>
            <a:xfrm>
              <a:off x="7512466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7AF51D6-87D8-4DBB-446E-E1FB80C6F5E7}"/>
                </a:ext>
              </a:extLst>
            </p:cNvPr>
            <p:cNvSpPr txBox="1"/>
            <p:nvPr/>
          </p:nvSpPr>
          <p:spPr>
            <a:xfrm>
              <a:off x="8060308" y="2391540"/>
              <a:ext cx="891597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결과 저장</a:t>
              </a:r>
            </a:p>
          </p:txBody>
        </p:sp>
        <p:cxnSp>
          <p:nvCxnSpPr>
            <p:cNvPr id="164" name="Connector 65">
              <a:extLst>
                <a:ext uri="{FF2B5EF4-FFF2-40B4-BE49-F238E27FC236}">
                  <a16:creationId xmlns:a16="http://schemas.microsoft.com/office/drawing/2014/main" id="{BB22FC9A-5C04-6D6F-B9F2-FD171C0FF89B}"/>
                </a:ext>
              </a:extLst>
            </p:cNvPr>
            <p:cNvCxnSpPr>
              <a:cxnSpLocks/>
            </p:cNvCxnSpPr>
            <p:nvPr/>
          </p:nvCxnSpPr>
          <p:spPr>
            <a:xfrm>
              <a:off x="7512282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66">
              <a:extLst>
                <a:ext uri="{FF2B5EF4-FFF2-40B4-BE49-F238E27FC236}">
                  <a16:creationId xmlns:a16="http://schemas.microsoft.com/office/drawing/2014/main" id="{77461DCA-9C65-60EB-02A1-D9068E113F46}"/>
                </a:ext>
              </a:extLst>
            </p:cNvPr>
            <p:cNvSpPr/>
            <p:nvPr/>
          </p:nvSpPr>
          <p:spPr>
            <a:xfrm>
              <a:off x="8537234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27E59DA1-F129-4798-B55B-CBF1C83A18D3}"/>
                </a:ext>
              </a:extLst>
            </p:cNvPr>
            <p:cNvSpPr txBox="1"/>
            <p:nvPr/>
          </p:nvSpPr>
          <p:spPr>
            <a:xfrm>
              <a:off x="7580613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시간 및 위치 정보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대상자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ID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와 일치 결과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화면 캡처 이미지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이벤트 로그 생성 및 알림 신호 전달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4EA3F1CA-A04E-AB21-9388-2345C5D49FD4}"/>
              </a:ext>
            </a:extLst>
          </p:cNvPr>
          <p:cNvGrpSpPr/>
          <p:nvPr/>
        </p:nvGrpSpPr>
        <p:grpSpPr>
          <a:xfrm>
            <a:off x="9401971" y="2055079"/>
            <a:ext cx="2060599" cy="3091675"/>
            <a:chOff x="9806889" y="2308276"/>
            <a:chExt cx="2060599" cy="3091675"/>
          </a:xfrm>
        </p:grpSpPr>
        <p:sp>
          <p:nvSpPr>
            <p:cNvPr id="167" name="Rounded Rectangle 50">
              <a:extLst>
                <a:ext uri="{FF2B5EF4-FFF2-40B4-BE49-F238E27FC236}">
                  <a16:creationId xmlns:a16="http://schemas.microsoft.com/office/drawing/2014/main" id="{C255BD6E-E8EF-F680-9C17-D3050BDD1DC5}"/>
                </a:ext>
              </a:extLst>
            </p:cNvPr>
            <p:cNvSpPr/>
            <p:nvPr/>
          </p:nvSpPr>
          <p:spPr>
            <a:xfrm>
              <a:off x="9810063" y="2492159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8" name="Rounded Rectangle 51">
              <a:extLst>
                <a:ext uri="{FF2B5EF4-FFF2-40B4-BE49-F238E27FC236}">
                  <a16:creationId xmlns:a16="http://schemas.microsoft.com/office/drawing/2014/main" id="{77FE3221-C2F4-846A-6E72-F25EA61124BC}"/>
                </a:ext>
              </a:extLst>
            </p:cNvPr>
            <p:cNvSpPr/>
            <p:nvPr/>
          </p:nvSpPr>
          <p:spPr>
            <a:xfrm>
              <a:off x="9987401" y="2324674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9" name="Oval 52">
              <a:extLst>
                <a:ext uri="{FF2B5EF4-FFF2-40B4-BE49-F238E27FC236}">
                  <a16:creationId xmlns:a16="http://schemas.microsoft.com/office/drawing/2014/main" id="{1C27F967-10C5-8C41-E499-4DFBD2CD14F6}"/>
                </a:ext>
              </a:extLst>
            </p:cNvPr>
            <p:cNvSpPr/>
            <p:nvPr/>
          </p:nvSpPr>
          <p:spPr>
            <a:xfrm>
              <a:off x="9807073" y="2308276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D5CD01E-75A0-51E5-7D17-8543CB4E4FEF}"/>
                </a:ext>
              </a:extLst>
            </p:cNvPr>
            <p:cNvSpPr txBox="1"/>
            <p:nvPr/>
          </p:nvSpPr>
          <p:spPr>
            <a:xfrm>
              <a:off x="9807073" y="2339988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BD956DA-A756-6755-0FB1-6788F6E2D944}"/>
                </a:ext>
              </a:extLst>
            </p:cNvPr>
            <p:cNvSpPr txBox="1"/>
            <p:nvPr/>
          </p:nvSpPr>
          <p:spPr>
            <a:xfrm>
              <a:off x="10354915" y="2396531"/>
              <a:ext cx="1075718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활용</a:t>
              </a:r>
            </a:p>
          </p:txBody>
        </p:sp>
        <p:cxnSp>
          <p:nvCxnSpPr>
            <p:cNvPr id="172" name="Connector 65">
              <a:extLst>
                <a:ext uri="{FF2B5EF4-FFF2-40B4-BE49-F238E27FC236}">
                  <a16:creationId xmlns:a16="http://schemas.microsoft.com/office/drawing/2014/main" id="{E7D11194-151B-BC1A-BD0A-DDA8941EFA57}"/>
                </a:ext>
              </a:extLst>
            </p:cNvPr>
            <p:cNvCxnSpPr>
              <a:cxnSpLocks/>
            </p:cNvCxnSpPr>
            <p:nvPr/>
          </p:nvCxnSpPr>
          <p:spPr>
            <a:xfrm>
              <a:off x="9806889" y="4083215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Oval 66">
              <a:extLst>
                <a:ext uri="{FF2B5EF4-FFF2-40B4-BE49-F238E27FC236}">
                  <a16:creationId xmlns:a16="http://schemas.microsoft.com/office/drawing/2014/main" id="{20906FC2-AFD0-2A61-D138-6A4856090753}"/>
                </a:ext>
              </a:extLst>
            </p:cNvPr>
            <p:cNvSpPr/>
            <p:nvPr/>
          </p:nvSpPr>
          <p:spPr>
            <a:xfrm>
              <a:off x="10831841" y="4051211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C7ECB0D-21EB-BDCE-50A2-D132104EBECC}"/>
                </a:ext>
              </a:extLst>
            </p:cNvPr>
            <p:cNvSpPr txBox="1"/>
            <p:nvPr/>
          </p:nvSpPr>
          <p:spPr>
            <a:xfrm>
              <a:off x="9875220" y="4284382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실시간 영상 및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결과 표시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탐지된 카메라 위치를 지도에 표시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이벤트 로그 화면에 실시간 알림 제공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이력 및 대시보드 통계 제공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180" name="그림 179">
            <a:extLst>
              <a:ext uri="{FF2B5EF4-FFF2-40B4-BE49-F238E27FC236}">
                <a16:creationId xmlns:a16="http://schemas.microsoft.com/office/drawing/2014/main" id="{02AECB00-F87A-DB09-08DA-EDF5991A7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09" y="2567521"/>
            <a:ext cx="1682337" cy="1129911"/>
          </a:xfrm>
          <a:prstGeom prst="rect">
            <a:avLst/>
          </a:prstGeom>
        </p:spPr>
      </p:pic>
      <p:pic>
        <p:nvPicPr>
          <p:cNvPr id="182" name="그림 181">
            <a:extLst>
              <a:ext uri="{FF2B5EF4-FFF2-40B4-BE49-F238E27FC236}">
                <a16:creationId xmlns:a16="http://schemas.microsoft.com/office/drawing/2014/main" id="{8B4DF483-6F69-FD71-5821-1EB3D662B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530" y="2587931"/>
            <a:ext cx="1726271" cy="1148985"/>
          </a:xfrm>
          <a:prstGeom prst="rect">
            <a:avLst/>
          </a:prstGeom>
        </p:spPr>
      </p:pic>
      <p:pic>
        <p:nvPicPr>
          <p:cNvPr id="184" name="그림 183">
            <a:extLst>
              <a:ext uri="{FF2B5EF4-FFF2-40B4-BE49-F238E27FC236}">
                <a16:creationId xmlns:a16="http://schemas.microsoft.com/office/drawing/2014/main" id="{AC59409E-56DA-BB4B-BE0B-31B69D121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085" y="2572347"/>
            <a:ext cx="1770505" cy="1151329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2740589B-B4D8-443F-BE76-B891326F1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570" y="2629941"/>
            <a:ext cx="1614451" cy="1005070"/>
          </a:xfrm>
          <a:prstGeom prst="rect">
            <a:avLst/>
          </a:prstGeom>
        </p:spPr>
      </p:pic>
      <p:pic>
        <p:nvPicPr>
          <p:cNvPr id="188" name="그림 187">
            <a:extLst>
              <a:ext uri="{FF2B5EF4-FFF2-40B4-BE49-F238E27FC236}">
                <a16:creationId xmlns:a16="http://schemas.microsoft.com/office/drawing/2014/main" id="{47E58BA3-4786-1C40-91C2-8264C6B70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451" y="2651053"/>
            <a:ext cx="1569705" cy="958312"/>
          </a:xfrm>
          <a:prstGeom prst="rect">
            <a:avLst/>
          </a:prstGeom>
        </p:spPr>
      </p:pic>
      <p:sp>
        <p:nvSpPr>
          <p:cNvPr id="56" name="Right Arrow 55"/>
          <p:cNvSpPr/>
          <p:nvPr/>
        </p:nvSpPr>
        <p:spPr>
          <a:xfrm>
            <a:off x="2666838" y="315372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1" name="Right Arrow 55">
            <a:extLst>
              <a:ext uri="{FF2B5EF4-FFF2-40B4-BE49-F238E27FC236}">
                <a16:creationId xmlns:a16="http://schemas.microsoft.com/office/drawing/2014/main" id="{1EB43189-EAD9-9821-65AA-AF18A109D251}"/>
              </a:ext>
            </a:extLst>
          </p:cNvPr>
          <p:cNvSpPr/>
          <p:nvPr/>
        </p:nvSpPr>
        <p:spPr>
          <a:xfrm>
            <a:off x="4874264" y="314794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2" name="Right Arrow 55">
            <a:extLst>
              <a:ext uri="{FF2B5EF4-FFF2-40B4-BE49-F238E27FC236}">
                <a16:creationId xmlns:a16="http://schemas.microsoft.com/office/drawing/2014/main" id="{B19E6358-013D-AF7C-DA7B-A3B962DB17B1}"/>
              </a:ext>
            </a:extLst>
          </p:cNvPr>
          <p:cNvSpPr/>
          <p:nvPr/>
        </p:nvSpPr>
        <p:spPr>
          <a:xfrm>
            <a:off x="7052816" y="3132310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3" name="Right Arrow 55">
            <a:extLst>
              <a:ext uri="{FF2B5EF4-FFF2-40B4-BE49-F238E27FC236}">
                <a16:creationId xmlns:a16="http://schemas.microsoft.com/office/drawing/2014/main" id="{46CB5325-6FC1-5152-02D7-69AF15ECB7FE}"/>
              </a:ext>
            </a:extLst>
          </p:cNvPr>
          <p:cNvSpPr/>
          <p:nvPr/>
        </p:nvSpPr>
        <p:spPr>
          <a:xfrm>
            <a:off x="9137375" y="315372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95" name="그림 194">
            <a:extLst>
              <a:ext uri="{FF2B5EF4-FFF2-40B4-BE49-F238E27FC236}">
                <a16:creationId xmlns:a16="http://schemas.microsoft.com/office/drawing/2014/main" id="{05610B82-48BA-1D2D-A8D9-E13DEAB755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625" y="5488460"/>
            <a:ext cx="901069" cy="661436"/>
          </a:xfrm>
          <a:prstGeom prst="rect">
            <a:avLst/>
          </a:prstGeom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68AD2F5F-D2A9-DA46-2624-B9DA05DFF4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7808" y="5514694"/>
            <a:ext cx="653541" cy="619159"/>
          </a:xfrm>
          <a:prstGeom prst="rect">
            <a:avLst/>
          </a:prstGeom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B1307732-C3F1-14BB-188A-FB4A39EC94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1991" y="5523391"/>
            <a:ext cx="612110" cy="586450"/>
          </a:xfrm>
          <a:prstGeom prst="rect">
            <a:avLst/>
          </a:prstGeom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4C18508C-0FB7-5BBC-642A-1D0642BDC6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5491" y="5547605"/>
            <a:ext cx="553824" cy="562236"/>
          </a:xfrm>
          <a:prstGeom prst="rect">
            <a:avLst/>
          </a:prstGeom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5DC8B9BE-4C06-CA00-91FE-B8174B18F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3868" y="5549713"/>
            <a:ext cx="772868" cy="577844"/>
          </a:xfrm>
          <a:prstGeom prst="rect">
            <a:avLst/>
          </a:prstGeom>
        </p:spPr>
      </p:pic>
      <p:sp>
        <p:nvSpPr>
          <p:cNvPr id="204" name="Right Arrow 135">
            <a:extLst>
              <a:ext uri="{FF2B5EF4-FFF2-40B4-BE49-F238E27FC236}">
                <a16:creationId xmlns:a16="http://schemas.microsoft.com/office/drawing/2014/main" id="{ED284B45-090E-FB66-DFA8-C360C1B6BAA7}"/>
              </a:ext>
            </a:extLst>
          </p:cNvPr>
          <p:cNvSpPr/>
          <p:nvPr/>
        </p:nvSpPr>
        <p:spPr>
          <a:xfrm>
            <a:off x="5119514" y="571326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5" name="Right Arrow 135">
            <a:extLst>
              <a:ext uri="{FF2B5EF4-FFF2-40B4-BE49-F238E27FC236}">
                <a16:creationId xmlns:a16="http://schemas.microsoft.com/office/drawing/2014/main" id="{DD635582-3688-5AC4-EDBF-39C87ACCBD10}"/>
              </a:ext>
            </a:extLst>
          </p:cNvPr>
          <p:cNvSpPr/>
          <p:nvPr/>
        </p:nvSpPr>
        <p:spPr>
          <a:xfrm>
            <a:off x="6895613" y="571192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6" name="Right Arrow 135">
            <a:extLst>
              <a:ext uri="{FF2B5EF4-FFF2-40B4-BE49-F238E27FC236}">
                <a16:creationId xmlns:a16="http://schemas.microsoft.com/office/drawing/2014/main" id="{6E6F856B-1ABE-A3E8-2D9F-A0B0980EF75B}"/>
              </a:ext>
            </a:extLst>
          </p:cNvPr>
          <p:cNvSpPr/>
          <p:nvPr/>
        </p:nvSpPr>
        <p:spPr>
          <a:xfrm>
            <a:off x="8742927" y="571192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566927" y="640609"/>
            <a:ext cx="5029200" cy="5293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lang="ko-KR" altLang="en-US" sz="3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 흐름도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7" y="1290443"/>
            <a:ext cx="6507254" cy="2523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</a:t>
            </a:r>
            <a:r>
              <a:rPr lang="en-US" altLang="ko-KR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·CCTV</a:t>
            </a:r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영상과 등록 데이터를 수집</a:t>
            </a:r>
            <a:r>
              <a:rPr lang="en-US" altLang="ko-KR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b="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분석하여 실시간 관제와 경고 서비스에 활용하는 과정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61BEC2B0-E248-7A6F-0487-15F316E9F1D2}"/>
              </a:ext>
            </a:extLst>
          </p:cNvPr>
          <p:cNvGrpSpPr/>
          <p:nvPr/>
        </p:nvGrpSpPr>
        <p:grpSpPr>
          <a:xfrm>
            <a:off x="729836" y="2028561"/>
            <a:ext cx="2060599" cy="3091675"/>
            <a:chOff x="612488" y="2303285"/>
            <a:chExt cx="2060599" cy="3091675"/>
          </a:xfrm>
        </p:grpSpPr>
        <p:sp>
          <p:nvSpPr>
            <p:cNvPr id="51" name="Rounded Rectangle 50"/>
            <p:cNvSpPr/>
            <p:nvPr/>
          </p:nvSpPr>
          <p:spPr>
            <a:xfrm>
              <a:off x="615662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93000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612672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12672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sz="2200" b="1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42681" y="2391540"/>
              <a:ext cx="1181294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 수집</a:t>
              </a:r>
            </a:p>
          </p:txBody>
        </p:sp>
        <p:cxnSp>
          <p:nvCxnSpPr>
            <p:cNvPr id="66" name="Connector 65"/>
            <p:cNvCxnSpPr>
              <a:cxnSpLocks/>
            </p:cNvCxnSpPr>
            <p:nvPr/>
          </p:nvCxnSpPr>
          <p:spPr>
            <a:xfrm>
              <a:off x="612488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1637440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80819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영상 파일 및 실시간 카메라 스트림 수신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대상자 프로필 및 얼굴 이미지 등록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카메라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ID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및 고정 위치 정보 관리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사용자 계정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권한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·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승인 정보 관리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31" name="Rounded Rectangle 130"/>
          <p:cNvSpPr/>
          <p:nvPr/>
        </p:nvSpPr>
        <p:spPr>
          <a:xfrm>
            <a:off x="612649" y="5489968"/>
            <a:ext cx="10966702" cy="675797"/>
          </a:xfrm>
          <a:prstGeom prst="roundRect">
            <a:avLst/>
          </a:prstGeom>
          <a:solidFill>
            <a:srgbClr val="F2F8FF"/>
          </a:solidFill>
          <a:ln w="1524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649056" y="5707618"/>
            <a:ext cx="1554480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</a:t>
            </a:r>
            <a:r>
              <a:rPr lang="en-US" altLang="ko-KR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·CCTV</a:t>
            </a:r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영상 수집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3415701" y="571326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4401349" y="5702887"/>
            <a:ext cx="65836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전처리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55673" y="5713473"/>
            <a:ext cx="65836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79659" y="5719698"/>
            <a:ext cx="749808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저장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9997" y="5625942"/>
            <a:ext cx="1371600" cy="3754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관제</a:t>
            </a:r>
            <a:r>
              <a:rPr lang="en-US" altLang="ko-KR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지도</a:t>
            </a:r>
            <a:r>
              <a:rPr lang="en-US" altLang="ko-KR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100" b="1" dirty="0">
                <a:solidFill>
                  <a:srgbClr val="0522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 활용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0D10C75-CD44-90B3-DFDD-8D1E72A56EB5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149CCA73-A282-914D-37CA-CBCC0F06B537}"/>
              </a:ext>
            </a:extLst>
          </p:cNvPr>
          <p:cNvGrpSpPr/>
          <p:nvPr/>
        </p:nvGrpSpPr>
        <p:grpSpPr>
          <a:xfrm>
            <a:off x="2893176" y="2028561"/>
            <a:ext cx="2060599" cy="3091675"/>
            <a:chOff x="2932025" y="2303986"/>
            <a:chExt cx="2060599" cy="3091675"/>
          </a:xfrm>
        </p:grpSpPr>
        <p:sp>
          <p:nvSpPr>
            <p:cNvPr id="134" name="Rounded Rectangle 50">
              <a:extLst>
                <a:ext uri="{FF2B5EF4-FFF2-40B4-BE49-F238E27FC236}">
                  <a16:creationId xmlns:a16="http://schemas.microsoft.com/office/drawing/2014/main" id="{7879836C-0F6D-BE7B-CD71-A8FE2D84D1E3}"/>
                </a:ext>
              </a:extLst>
            </p:cNvPr>
            <p:cNvSpPr/>
            <p:nvPr/>
          </p:nvSpPr>
          <p:spPr>
            <a:xfrm>
              <a:off x="2935199" y="2487869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7" name="Rounded Rectangle 51">
              <a:extLst>
                <a:ext uri="{FF2B5EF4-FFF2-40B4-BE49-F238E27FC236}">
                  <a16:creationId xmlns:a16="http://schemas.microsoft.com/office/drawing/2014/main" id="{AC59D675-8B62-0ACA-A24C-A2226F957BF1}"/>
                </a:ext>
              </a:extLst>
            </p:cNvPr>
            <p:cNvSpPr/>
            <p:nvPr/>
          </p:nvSpPr>
          <p:spPr>
            <a:xfrm>
              <a:off x="3112537" y="2320384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8" name="Oval 52">
              <a:extLst>
                <a:ext uri="{FF2B5EF4-FFF2-40B4-BE49-F238E27FC236}">
                  <a16:creationId xmlns:a16="http://schemas.microsoft.com/office/drawing/2014/main" id="{7AA7CBE9-6640-42D2-5593-97F23B70C410}"/>
                </a:ext>
              </a:extLst>
            </p:cNvPr>
            <p:cNvSpPr/>
            <p:nvPr/>
          </p:nvSpPr>
          <p:spPr>
            <a:xfrm>
              <a:off x="2932209" y="2303986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7C6FE61-6D7F-6951-AD8C-D614036AC114}"/>
                </a:ext>
              </a:extLst>
            </p:cNvPr>
            <p:cNvSpPr txBox="1"/>
            <p:nvPr/>
          </p:nvSpPr>
          <p:spPr>
            <a:xfrm>
              <a:off x="2932209" y="2335698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4E72331-6365-5949-53CF-5B0AA1FD9BCE}"/>
                </a:ext>
              </a:extLst>
            </p:cNvPr>
            <p:cNvSpPr txBox="1"/>
            <p:nvPr/>
          </p:nvSpPr>
          <p:spPr>
            <a:xfrm>
              <a:off x="3458696" y="2400041"/>
              <a:ext cx="1293386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데이터 전처리</a:t>
              </a:r>
            </a:p>
          </p:txBody>
        </p:sp>
        <p:cxnSp>
          <p:nvCxnSpPr>
            <p:cNvPr id="142" name="Connector 65">
              <a:extLst>
                <a:ext uri="{FF2B5EF4-FFF2-40B4-BE49-F238E27FC236}">
                  <a16:creationId xmlns:a16="http://schemas.microsoft.com/office/drawing/2014/main" id="{881F3068-C23D-19B8-5761-F7BB688604EC}"/>
                </a:ext>
              </a:extLst>
            </p:cNvPr>
            <p:cNvCxnSpPr>
              <a:cxnSpLocks/>
            </p:cNvCxnSpPr>
            <p:nvPr/>
          </p:nvCxnSpPr>
          <p:spPr>
            <a:xfrm>
              <a:off x="2932025" y="4078925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66">
              <a:extLst>
                <a:ext uri="{FF2B5EF4-FFF2-40B4-BE49-F238E27FC236}">
                  <a16:creationId xmlns:a16="http://schemas.microsoft.com/office/drawing/2014/main" id="{1EC0A639-EDE1-726D-E712-4D4F538CBE27}"/>
                </a:ext>
              </a:extLst>
            </p:cNvPr>
            <p:cNvSpPr/>
            <p:nvPr/>
          </p:nvSpPr>
          <p:spPr>
            <a:xfrm>
              <a:off x="3956977" y="4046921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FE5706B-612B-E695-6E19-C2602E1F1A1D}"/>
                </a:ext>
              </a:extLst>
            </p:cNvPr>
            <p:cNvSpPr txBox="1"/>
            <p:nvPr/>
          </p:nvSpPr>
          <p:spPr>
            <a:xfrm>
              <a:off x="3000356" y="4280092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OpenCV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를 이용한 영상 프레임 처리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정상적으로 수신된 프레임 확인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모델 입력 크기 및 형식 설정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처리된 프레임을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분석 모델로 전달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B51031BA-DFD1-E5F6-C4ED-AA1CA0578506}"/>
              </a:ext>
            </a:extLst>
          </p:cNvPr>
          <p:cNvGrpSpPr/>
          <p:nvPr/>
        </p:nvGrpSpPr>
        <p:grpSpPr>
          <a:xfrm>
            <a:off x="5065133" y="2028561"/>
            <a:ext cx="2060599" cy="3091675"/>
            <a:chOff x="5221089" y="2303285"/>
            <a:chExt cx="2060599" cy="3091675"/>
          </a:xfrm>
        </p:grpSpPr>
        <p:sp>
          <p:nvSpPr>
            <p:cNvPr id="146" name="Rounded Rectangle 50">
              <a:extLst>
                <a:ext uri="{FF2B5EF4-FFF2-40B4-BE49-F238E27FC236}">
                  <a16:creationId xmlns:a16="http://schemas.microsoft.com/office/drawing/2014/main" id="{ACDAE8DD-08B6-F093-E0DD-F6E629E30813}"/>
                </a:ext>
              </a:extLst>
            </p:cNvPr>
            <p:cNvSpPr/>
            <p:nvPr/>
          </p:nvSpPr>
          <p:spPr>
            <a:xfrm>
              <a:off x="5224263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8" name="Rounded Rectangle 51">
              <a:extLst>
                <a:ext uri="{FF2B5EF4-FFF2-40B4-BE49-F238E27FC236}">
                  <a16:creationId xmlns:a16="http://schemas.microsoft.com/office/drawing/2014/main" id="{8678185C-6116-8616-949E-09563F22921C}"/>
                </a:ext>
              </a:extLst>
            </p:cNvPr>
            <p:cNvSpPr/>
            <p:nvPr/>
          </p:nvSpPr>
          <p:spPr>
            <a:xfrm>
              <a:off x="5401601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9" name="Oval 52">
              <a:extLst>
                <a:ext uri="{FF2B5EF4-FFF2-40B4-BE49-F238E27FC236}">
                  <a16:creationId xmlns:a16="http://schemas.microsoft.com/office/drawing/2014/main" id="{C629CEDC-A272-EBD8-8CDF-05C58A12A86C}"/>
                </a:ext>
              </a:extLst>
            </p:cNvPr>
            <p:cNvSpPr/>
            <p:nvPr/>
          </p:nvSpPr>
          <p:spPr>
            <a:xfrm>
              <a:off x="5221273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5BA764D-23D5-D1B6-6E72-67FA1F238130}"/>
                </a:ext>
              </a:extLst>
            </p:cNvPr>
            <p:cNvSpPr txBox="1"/>
            <p:nvPr/>
          </p:nvSpPr>
          <p:spPr>
            <a:xfrm>
              <a:off x="5221273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DE4FB46-CE87-CD45-950D-92CEC9712101}"/>
                </a:ext>
              </a:extLst>
            </p:cNvPr>
            <p:cNvSpPr txBox="1"/>
            <p:nvPr/>
          </p:nvSpPr>
          <p:spPr>
            <a:xfrm>
              <a:off x="5769116" y="2391540"/>
              <a:ext cx="850212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en-US" altLang="ko-KR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분석</a:t>
              </a:r>
            </a:p>
          </p:txBody>
        </p:sp>
        <p:cxnSp>
          <p:nvCxnSpPr>
            <p:cNvPr id="152" name="Connector 65">
              <a:extLst>
                <a:ext uri="{FF2B5EF4-FFF2-40B4-BE49-F238E27FC236}">
                  <a16:creationId xmlns:a16="http://schemas.microsoft.com/office/drawing/2014/main" id="{70E61A05-6D14-CCD3-4BC9-739B47F19BB4}"/>
                </a:ext>
              </a:extLst>
            </p:cNvPr>
            <p:cNvCxnSpPr>
              <a:cxnSpLocks/>
            </p:cNvCxnSpPr>
            <p:nvPr/>
          </p:nvCxnSpPr>
          <p:spPr>
            <a:xfrm>
              <a:off x="5221089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66">
              <a:extLst>
                <a:ext uri="{FF2B5EF4-FFF2-40B4-BE49-F238E27FC236}">
                  <a16:creationId xmlns:a16="http://schemas.microsoft.com/office/drawing/2014/main" id="{4D433FC7-EB8E-5984-C314-B1C7ACD3BBBC}"/>
                </a:ext>
              </a:extLst>
            </p:cNvPr>
            <p:cNvSpPr/>
            <p:nvPr/>
          </p:nvSpPr>
          <p:spPr>
            <a:xfrm>
              <a:off x="6246041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ECCB859-9462-F907-7F6D-624566769D3F}"/>
                </a:ext>
              </a:extLst>
            </p:cNvPr>
            <p:cNvSpPr txBox="1"/>
            <p:nvPr/>
          </p:nvSpPr>
          <p:spPr>
            <a:xfrm>
              <a:off x="5289420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YOLO </a:t>
              </a:r>
              <a:r>
                <a:rPr lang="ko-KR" altLang="en-US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사람 탐지</a:t>
              </a: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BoT-SORT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동일 인물 추적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InsightFace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기반 얼굴 특징값 추출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등록 대상자와 비교하여 일치 여부 판단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D18C939D-8C2B-29C1-9E34-D9A5E073095B}"/>
              </a:ext>
            </a:extLst>
          </p:cNvPr>
          <p:cNvGrpSpPr/>
          <p:nvPr/>
        </p:nvGrpSpPr>
        <p:grpSpPr>
          <a:xfrm>
            <a:off x="7237090" y="2028561"/>
            <a:ext cx="2060599" cy="3091675"/>
            <a:chOff x="7512282" y="2303285"/>
            <a:chExt cx="2060599" cy="3091675"/>
          </a:xfrm>
        </p:grpSpPr>
        <p:sp>
          <p:nvSpPr>
            <p:cNvPr id="159" name="Rounded Rectangle 50">
              <a:extLst>
                <a:ext uri="{FF2B5EF4-FFF2-40B4-BE49-F238E27FC236}">
                  <a16:creationId xmlns:a16="http://schemas.microsoft.com/office/drawing/2014/main" id="{F32CD2C3-4EFD-FC0D-E3CD-2F6F8DED14A3}"/>
                </a:ext>
              </a:extLst>
            </p:cNvPr>
            <p:cNvSpPr/>
            <p:nvPr/>
          </p:nvSpPr>
          <p:spPr>
            <a:xfrm>
              <a:off x="7515456" y="2487168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0" name="Rounded Rectangle 51">
              <a:extLst>
                <a:ext uri="{FF2B5EF4-FFF2-40B4-BE49-F238E27FC236}">
                  <a16:creationId xmlns:a16="http://schemas.microsoft.com/office/drawing/2014/main" id="{ABE9560E-B747-9E0E-0A52-4A505D8FF489}"/>
                </a:ext>
              </a:extLst>
            </p:cNvPr>
            <p:cNvSpPr/>
            <p:nvPr/>
          </p:nvSpPr>
          <p:spPr>
            <a:xfrm>
              <a:off x="7692794" y="2319683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1" name="Oval 52">
              <a:extLst>
                <a:ext uri="{FF2B5EF4-FFF2-40B4-BE49-F238E27FC236}">
                  <a16:creationId xmlns:a16="http://schemas.microsoft.com/office/drawing/2014/main" id="{9FD3080B-10FE-0E6E-DF25-90FBC779D7B7}"/>
                </a:ext>
              </a:extLst>
            </p:cNvPr>
            <p:cNvSpPr/>
            <p:nvPr/>
          </p:nvSpPr>
          <p:spPr>
            <a:xfrm>
              <a:off x="7512466" y="2303285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350F53AE-E8A7-4A33-79A4-A604F8F66811}"/>
                </a:ext>
              </a:extLst>
            </p:cNvPr>
            <p:cNvSpPr txBox="1"/>
            <p:nvPr/>
          </p:nvSpPr>
          <p:spPr>
            <a:xfrm>
              <a:off x="7512466" y="2334997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4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7AF51D6-87D8-4DBB-446E-E1FB80C6F5E7}"/>
                </a:ext>
              </a:extLst>
            </p:cNvPr>
            <p:cNvSpPr txBox="1"/>
            <p:nvPr/>
          </p:nvSpPr>
          <p:spPr>
            <a:xfrm>
              <a:off x="8060308" y="2391540"/>
              <a:ext cx="891597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결과 저장</a:t>
              </a:r>
            </a:p>
          </p:txBody>
        </p:sp>
        <p:cxnSp>
          <p:nvCxnSpPr>
            <p:cNvPr id="164" name="Connector 65">
              <a:extLst>
                <a:ext uri="{FF2B5EF4-FFF2-40B4-BE49-F238E27FC236}">
                  <a16:creationId xmlns:a16="http://schemas.microsoft.com/office/drawing/2014/main" id="{BB22FC9A-5C04-6D6F-B9F2-FD171C0FF89B}"/>
                </a:ext>
              </a:extLst>
            </p:cNvPr>
            <p:cNvCxnSpPr>
              <a:cxnSpLocks/>
            </p:cNvCxnSpPr>
            <p:nvPr/>
          </p:nvCxnSpPr>
          <p:spPr>
            <a:xfrm>
              <a:off x="7512282" y="4078224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66">
              <a:extLst>
                <a:ext uri="{FF2B5EF4-FFF2-40B4-BE49-F238E27FC236}">
                  <a16:creationId xmlns:a16="http://schemas.microsoft.com/office/drawing/2014/main" id="{77461DCA-9C65-60EB-02A1-D9068E113F46}"/>
                </a:ext>
              </a:extLst>
            </p:cNvPr>
            <p:cNvSpPr/>
            <p:nvPr/>
          </p:nvSpPr>
          <p:spPr>
            <a:xfrm>
              <a:off x="8537234" y="4046220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27E59DA1-F129-4798-B55B-CBF1C83A18D3}"/>
                </a:ext>
              </a:extLst>
            </p:cNvPr>
            <p:cNvSpPr txBox="1"/>
            <p:nvPr/>
          </p:nvSpPr>
          <p:spPr>
            <a:xfrm>
              <a:off x="7580613" y="4279391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시간 및 위치 정보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대상자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ID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와 일치 결과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화면 캡처 이미지 저장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이벤트 로그 생성 및 알림 신호 전달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4EA3F1CA-A04E-AB21-9388-2345C5D49FD4}"/>
              </a:ext>
            </a:extLst>
          </p:cNvPr>
          <p:cNvGrpSpPr/>
          <p:nvPr/>
        </p:nvGrpSpPr>
        <p:grpSpPr>
          <a:xfrm>
            <a:off x="9401971" y="2055079"/>
            <a:ext cx="2060599" cy="3091675"/>
            <a:chOff x="9806889" y="2308276"/>
            <a:chExt cx="2060599" cy="3091675"/>
          </a:xfrm>
        </p:grpSpPr>
        <p:sp>
          <p:nvSpPr>
            <p:cNvPr id="167" name="Rounded Rectangle 50">
              <a:extLst>
                <a:ext uri="{FF2B5EF4-FFF2-40B4-BE49-F238E27FC236}">
                  <a16:creationId xmlns:a16="http://schemas.microsoft.com/office/drawing/2014/main" id="{C255BD6E-E8EF-F680-9C17-D3050BDD1DC5}"/>
                </a:ext>
              </a:extLst>
            </p:cNvPr>
            <p:cNvSpPr/>
            <p:nvPr/>
          </p:nvSpPr>
          <p:spPr>
            <a:xfrm>
              <a:off x="9810063" y="2492159"/>
              <a:ext cx="2057425" cy="29077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8C8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8" name="Rounded Rectangle 51">
              <a:extLst>
                <a:ext uri="{FF2B5EF4-FFF2-40B4-BE49-F238E27FC236}">
                  <a16:creationId xmlns:a16="http://schemas.microsoft.com/office/drawing/2014/main" id="{77FE3221-C2F4-846A-6E72-F25EA61124BC}"/>
                </a:ext>
              </a:extLst>
            </p:cNvPr>
            <p:cNvSpPr/>
            <p:nvPr/>
          </p:nvSpPr>
          <p:spPr>
            <a:xfrm>
              <a:off x="9987401" y="2324674"/>
              <a:ext cx="1682337" cy="411480"/>
            </a:xfrm>
            <a:prstGeom prst="roundRect">
              <a:avLst/>
            </a:prstGeom>
            <a:solidFill>
              <a:srgbClr val="0057B8"/>
            </a:solidFill>
            <a:ln>
              <a:solidFill>
                <a:srgbClr val="0057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9" name="Oval 52">
              <a:extLst>
                <a:ext uri="{FF2B5EF4-FFF2-40B4-BE49-F238E27FC236}">
                  <a16:creationId xmlns:a16="http://schemas.microsoft.com/office/drawing/2014/main" id="{1C27F967-10C5-8C41-E499-4DFBD2CD14F6}"/>
                </a:ext>
              </a:extLst>
            </p:cNvPr>
            <p:cNvSpPr/>
            <p:nvPr/>
          </p:nvSpPr>
          <p:spPr>
            <a:xfrm>
              <a:off x="9807073" y="2308276"/>
              <a:ext cx="504592" cy="438912"/>
            </a:xfrm>
            <a:prstGeom prst="ellipse">
              <a:avLst/>
            </a:prstGeom>
            <a:solidFill>
              <a:srgbClr val="08265A"/>
            </a:solidFill>
            <a:ln w="19050">
              <a:solidFill>
                <a:srgbClr val="8CA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D5CD01E-75A0-51E5-7D17-8543CB4E4FEF}"/>
                </a:ext>
              </a:extLst>
            </p:cNvPr>
            <p:cNvSpPr txBox="1"/>
            <p:nvPr/>
          </p:nvSpPr>
          <p:spPr>
            <a:xfrm>
              <a:off x="9807073" y="2339988"/>
              <a:ext cx="504592" cy="375487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5</a:t>
              </a:r>
              <a:endParaRPr sz="22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BD956DA-A756-6755-0FB1-6788F6E2D944}"/>
                </a:ext>
              </a:extLst>
            </p:cNvPr>
            <p:cNvSpPr txBox="1"/>
            <p:nvPr/>
          </p:nvSpPr>
          <p:spPr>
            <a:xfrm>
              <a:off x="10354915" y="2396531"/>
              <a:ext cx="1075718" cy="267766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r>
                <a:rPr lang="ko-KR" altLang="en-US" sz="15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서비스 활용</a:t>
              </a:r>
            </a:p>
          </p:txBody>
        </p:sp>
        <p:cxnSp>
          <p:nvCxnSpPr>
            <p:cNvPr id="172" name="Connector 65">
              <a:extLst>
                <a:ext uri="{FF2B5EF4-FFF2-40B4-BE49-F238E27FC236}">
                  <a16:creationId xmlns:a16="http://schemas.microsoft.com/office/drawing/2014/main" id="{E7D11194-151B-BC1A-BD0A-DDA8941EFA57}"/>
                </a:ext>
              </a:extLst>
            </p:cNvPr>
            <p:cNvCxnSpPr>
              <a:cxnSpLocks/>
            </p:cNvCxnSpPr>
            <p:nvPr/>
          </p:nvCxnSpPr>
          <p:spPr>
            <a:xfrm>
              <a:off x="9806889" y="4083215"/>
              <a:ext cx="2060599" cy="0"/>
            </a:xfrm>
            <a:prstGeom prst="line">
              <a:avLst/>
            </a:prstGeom>
            <a:ln w="12700">
              <a:solidFill>
                <a:srgbClr val="A9BC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Oval 66">
              <a:extLst>
                <a:ext uri="{FF2B5EF4-FFF2-40B4-BE49-F238E27FC236}">
                  <a16:creationId xmlns:a16="http://schemas.microsoft.com/office/drawing/2014/main" id="{20906FC2-AFD0-2A61-D138-6A4856090753}"/>
                </a:ext>
              </a:extLst>
            </p:cNvPr>
            <p:cNvSpPr/>
            <p:nvPr/>
          </p:nvSpPr>
          <p:spPr>
            <a:xfrm>
              <a:off x="10831841" y="4051211"/>
              <a:ext cx="73586" cy="64008"/>
            </a:xfrm>
            <a:prstGeom prst="ellipse">
              <a:avLst/>
            </a:prstGeom>
            <a:solidFill>
              <a:srgbClr val="0057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C7ECB0D-21EB-BDCE-50A2-D132104EBECC}"/>
                </a:ext>
              </a:extLst>
            </p:cNvPr>
            <p:cNvSpPr txBox="1"/>
            <p:nvPr/>
          </p:nvSpPr>
          <p:spPr>
            <a:xfrm>
              <a:off x="9875220" y="4284382"/>
              <a:ext cx="1929558" cy="606320"/>
            </a:xfrm>
            <a:prstGeom prst="rect">
              <a:avLst/>
            </a:prstGeom>
            <a:noFill/>
          </p:spPr>
          <p:txBody>
            <a:bodyPr wrap="square" lIns="18288" tIns="0" rIns="18288" bIns="0">
              <a:spAutoFit/>
            </a:bodyPr>
            <a:lstStyle/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실시간 영상 및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AI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결과 표시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탐지된 카메라 위치를 지도에 표시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이벤트 로그 화면에 실시간 알림 제공</a:t>
              </a:r>
              <a:endPara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  <a:p>
              <a:pPr algn="l">
                <a:spcAft>
                  <a:spcPts val="150"/>
                </a:spcAft>
                <a:defRPr sz="860">
                  <a:solidFill>
                    <a:srgbClr val="111827"/>
                  </a:solidFill>
                  <a:latin typeface="맑은 고딕"/>
                </a:defRPr>
              </a:pPr>
              <a:r>
                <a:rPr lang="en-US" altLang="ko-KR" sz="860" dirty="0">
                  <a:solidFill>
                    <a:srgbClr val="11182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•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탐지 이력 및 대시보드 통계 제공</a:t>
              </a:r>
              <a:endParaRPr lang="ko-KR" altLang="en-US" sz="860" dirty="0">
                <a:solidFill>
                  <a:srgbClr val="11182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pic>
        <p:nvPicPr>
          <p:cNvPr id="180" name="그림 179">
            <a:extLst>
              <a:ext uri="{FF2B5EF4-FFF2-40B4-BE49-F238E27FC236}">
                <a16:creationId xmlns:a16="http://schemas.microsoft.com/office/drawing/2014/main" id="{02AECB00-F87A-DB09-08DA-EDF5991A7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09" y="2567521"/>
            <a:ext cx="1682337" cy="1129911"/>
          </a:xfrm>
          <a:prstGeom prst="rect">
            <a:avLst/>
          </a:prstGeom>
        </p:spPr>
      </p:pic>
      <p:pic>
        <p:nvPicPr>
          <p:cNvPr id="182" name="그림 181">
            <a:extLst>
              <a:ext uri="{FF2B5EF4-FFF2-40B4-BE49-F238E27FC236}">
                <a16:creationId xmlns:a16="http://schemas.microsoft.com/office/drawing/2014/main" id="{8B4DF483-6F69-FD71-5821-1EB3D662B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530" y="2587931"/>
            <a:ext cx="1726271" cy="1148985"/>
          </a:xfrm>
          <a:prstGeom prst="rect">
            <a:avLst/>
          </a:prstGeom>
        </p:spPr>
      </p:pic>
      <p:pic>
        <p:nvPicPr>
          <p:cNvPr id="184" name="그림 183">
            <a:extLst>
              <a:ext uri="{FF2B5EF4-FFF2-40B4-BE49-F238E27FC236}">
                <a16:creationId xmlns:a16="http://schemas.microsoft.com/office/drawing/2014/main" id="{AC59409E-56DA-BB4B-BE0B-31B69D121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085" y="2572347"/>
            <a:ext cx="1770505" cy="1151329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2740589B-B4D8-443F-BE76-B891326F1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570" y="2629941"/>
            <a:ext cx="1614451" cy="1005070"/>
          </a:xfrm>
          <a:prstGeom prst="rect">
            <a:avLst/>
          </a:prstGeom>
        </p:spPr>
      </p:pic>
      <p:pic>
        <p:nvPicPr>
          <p:cNvPr id="188" name="그림 187">
            <a:extLst>
              <a:ext uri="{FF2B5EF4-FFF2-40B4-BE49-F238E27FC236}">
                <a16:creationId xmlns:a16="http://schemas.microsoft.com/office/drawing/2014/main" id="{47E58BA3-4786-1C40-91C2-8264C6B70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451" y="2651053"/>
            <a:ext cx="1569705" cy="958312"/>
          </a:xfrm>
          <a:prstGeom prst="rect">
            <a:avLst/>
          </a:prstGeom>
        </p:spPr>
      </p:pic>
      <p:sp>
        <p:nvSpPr>
          <p:cNvPr id="56" name="Right Arrow 55"/>
          <p:cNvSpPr/>
          <p:nvPr/>
        </p:nvSpPr>
        <p:spPr>
          <a:xfrm>
            <a:off x="2666838" y="315372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1" name="Right Arrow 55">
            <a:extLst>
              <a:ext uri="{FF2B5EF4-FFF2-40B4-BE49-F238E27FC236}">
                <a16:creationId xmlns:a16="http://schemas.microsoft.com/office/drawing/2014/main" id="{1EB43189-EAD9-9821-65AA-AF18A109D251}"/>
              </a:ext>
            </a:extLst>
          </p:cNvPr>
          <p:cNvSpPr/>
          <p:nvPr/>
        </p:nvSpPr>
        <p:spPr>
          <a:xfrm>
            <a:off x="4874264" y="314794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2" name="Right Arrow 55">
            <a:extLst>
              <a:ext uri="{FF2B5EF4-FFF2-40B4-BE49-F238E27FC236}">
                <a16:creationId xmlns:a16="http://schemas.microsoft.com/office/drawing/2014/main" id="{B19E6358-013D-AF7C-DA7B-A3B962DB17B1}"/>
              </a:ext>
            </a:extLst>
          </p:cNvPr>
          <p:cNvSpPr/>
          <p:nvPr/>
        </p:nvSpPr>
        <p:spPr>
          <a:xfrm>
            <a:off x="7052816" y="3132310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3" name="Right Arrow 55">
            <a:extLst>
              <a:ext uri="{FF2B5EF4-FFF2-40B4-BE49-F238E27FC236}">
                <a16:creationId xmlns:a16="http://schemas.microsoft.com/office/drawing/2014/main" id="{46CB5325-6FC1-5152-02D7-69AF15ECB7FE}"/>
              </a:ext>
            </a:extLst>
          </p:cNvPr>
          <p:cNvSpPr/>
          <p:nvPr/>
        </p:nvSpPr>
        <p:spPr>
          <a:xfrm>
            <a:off x="9137375" y="3153726"/>
            <a:ext cx="402336" cy="34747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95" name="그림 194">
            <a:extLst>
              <a:ext uri="{FF2B5EF4-FFF2-40B4-BE49-F238E27FC236}">
                <a16:creationId xmlns:a16="http://schemas.microsoft.com/office/drawing/2014/main" id="{05610B82-48BA-1D2D-A8D9-E13DEAB755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625" y="5488460"/>
            <a:ext cx="901069" cy="661436"/>
          </a:xfrm>
          <a:prstGeom prst="rect">
            <a:avLst/>
          </a:prstGeom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68AD2F5F-D2A9-DA46-2624-B9DA05DFF4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7808" y="5514694"/>
            <a:ext cx="653541" cy="619159"/>
          </a:xfrm>
          <a:prstGeom prst="rect">
            <a:avLst/>
          </a:prstGeom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B1307732-C3F1-14BB-188A-FB4A39EC94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1991" y="5523391"/>
            <a:ext cx="612110" cy="586450"/>
          </a:xfrm>
          <a:prstGeom prst="rect">
            <a:avLst/>
          </a:prstGeom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4C18508C-0FB7-5BBC-642A-1D0642BDC6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5491" y="5547605"/>
            <a:ext cx="553824" cy="562236"/>
          </a:xfrm>
          <a:prstGeom prst="rect">
            <a:avLst/>
          </a:prstGeom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5DC8B9BE-4C06-CA00-91FE-B8174B18F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3868" y="5549713"/>
            <a:ext cx="772868" cy="577844"/>
          </a:xfrm>
          <a:prstGeom prst="rect">
            <a:avLst/>
          </a:prstGeom>
        </p:spPr>
      </p:pic>
      <p:sp>
        <p:nvSpPr>
          <p:cNvPr id="204" name="Right Arrow 135">
            <a:extLst>
              <a:ext uri="{FF2B5EF4-FFF2-40B4-BE49-F238E27FC236}">
                <a16:creationId xmlns:a16="http://schemas.microsoft.com/office/drawing/2014/main" id="{ED284B45-090E-FB66-DFA8-C360C1B6BAA7}"/>
              </a:ext>
            </a:extLst>
          </p:cNvPr>
          <p:cNvSpPr/>
          <p:nvPr/>
        </p:nvSpPr>
        <p:spPr>
          <a:xfrm>
            <a:off x="5119514" y="571326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5" name="Right Arrow 135">
            <a:extLst>
              <a:ext uri="{FF2B5EF4-FFF2-40B4-BE49-F238E27FC236}">
                <a16:creationId xmlns:a16="http://schemas.microsoft.com/office/drawing/2014/main" id="{DD635582-3688-5AC4-EDBF-39C87ACCBD10}"/>
              </a:ext>
            </a:extLst>
          </p:cNvPr>
          <p:cNvSpPr/>
          <p:nvPr/>
        </p:nvSpPr>
        <p:spPr>
          <a:xfrm>
            <a:off x="6895613" y="571192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6" name="Right Arrow 135">
            <a:extLst>
              <a:ext uri="{FF2B5EF4-FFF2-40B4-BE49-F238E27FC236}">
                <a16:creationId xmlns:a16="http://schemas.microsoft.com/office/drawing/2014/main" id="{6E6F856B-1ABE-A3E8-2D9F-A0B0980EF75B}"/>
              </a:ext>
            </a:extLst>
          </p:cNvPr>
          <p:cNvSpPr/>
          <p:nvPr/>
        </p:nvSpPr>
        <p:spPr>
          <a:xfrm>
            <a:off x="8742927" y="5711921"/>
            <a:ext cx="274320" cy="210312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0409D1D-74F9-4C37-58E7-B03A433DBF3B}"/>
              </a:ext>
            </a:extLst>
          </p:cNvPr>
          <p:cNvSpPr/>
          <p:nvPr/>
        </p:nvSpPr>
        <p:spPr>
          <a:xfrm>
            <a:off x="4987702" y="1883331"/>
            <a:ext cx="2190748" cy="2161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58BB5-F15B-D745-DDF0-7989A81F8702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6857622" y="1591273"/>
            <a:ext cx="786147" cy="608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CCEB70-4D3C-3B6A-A271-AE39AF62AF08}"/>
              </a:ext>
            </a:extLst>
          </p:cNvPr>
          <p:cNvSpPr txBox="1"/>
          <p:nvPr/>
        </p:nvSpPr>
        <p:spPr>
          <a:xfrm>
            <a:off x="7513234" y="1262817"/>
            <a:ext cx="1644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어떤</a:t>
            </a:r>
            <a:r>
              <a:rPr lang="en-US" altLang="ko-KR" dirty="0"/>
              <a:t>? </a:t>
            </a:r>
            <a:r>
              <a:rPr lang="ko-KR" altLang="en-US" dirty="0"/>
              <a:t>모델을 활용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11A862A-24DC-F19C-E3DC-1C3F540AD99B}"/>
              </a:ext>
            </a:extLst>
          </p:cNvPr>
          <p:cNvCxnSpPr/>
          <p:nvPr/>
        </p:nvCxnSpPr>
        <p:spPr>
          <a:xfrm>
            <a:off x="7602674" y="1570594"/>
            <a:ext cx="153753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59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2757965" y="277970"/>
            <a:ext cx="6109957" cy="5293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사전 학습 AI 모델 활용 방식</a:t>
            </a:r>
            <a:endParaRPr lang="en-US" altLang="ko-KR" sz="3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0D10C75-CD44-90B3-DFDD-8D1E72A56EB5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B12AF5A9-FEAD-FB23-F1BD-7B073B426E55}"/>
              </a:ext>
            </a:extLst>
          </p:cNvPr>
          <p:cNvSpPr/>
          <p:nvPr/>
        </p:nvSpPr>
        <p:spPr>
          <a:xfrm>
            <a:off x="615250" y="4395779"/>
            <a:ext cx="10970514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Rectangle 39">
            <a:extLst>
              <a:ext uri="{FF2B5EF4-FFF2-40B4-BE49-F238E27FC236}">
                <a16:creationId xmlns:a16="http://schemas.microsoft.com/office/drawing/2014/main" id="{751D2820-48B7-3A9B-E6C1-7BA041E6520C}"/>
              </a:ext>
            </a:extLst>
          </p:cNvPr>
          <p:cNvSpPr/>
          <p:nvPr/>
        </p:nvSpPr>
        <p:spPr>
          <a:xfrm>
            <a:off x="3922460" y="4599432"/>
            <a:ext cx="9144" cy="1444752"/>
          </a:xfrm>
          <a:prstGeom prst="rect">
            <a:avLst/>
          </a:prstGeom>
          <a:solidFill>
            <a:srgbClr val="C8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A7A86F12-CEAD-7B5C-C7A2-B39DC0D56D88}"/>
              </a:ext>
            </a:extLst>
          </p:cNvPr>
          <p:cNvSpPr/>
          <p:nvPr/>
        </p:nvSpPr>
        <p:spPr>
          <a:xfrm>
            <a:off x="7754112" y="4555652"/>
            <a:ext cx="9144" cy="1444752"/>
          </a:xfrm>
          <a:prstGeom prst="rect">
            <a:avLst/>
          </a:prstGeom>
          <a:solidFill>
            <a:srgbClr val="C8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6837A-A3C9-4D50-84B0-E16674DFF1A8}"/>
              </a:ext>
            </a:extLst>
          </p:cNvPr>
          <p:cNvSpPr txBox="1"/>
          <p:nvPr/>
        </p:nvSpPr>
        <p:spPr>
          <a:xfrm>
            <a:off x="1328575" y="4472975"/>
            <a:ext cx="1721882" cy="39395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r>
              <a:rPr lang="en-US" altLang="ko-KR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YOLO </a:t>
            </a:r>
            <a:r>
              <a:rPr lang="ko-KR" altLang="en-US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7D498-5A5E-3D9D-08AF-1C12BAF6544F}"/>
              </a:ext>
            </a:extLst>
          </p:cNvPr>
          <p:cNvSpPr txBox="1"/>
          <p:nvPr/>
        </p:nvSpPr>
        <p:spPr>
          <a:xfrm>
            <a:off x="4882738" y="4472975"/>
            <a:ext cx="1763560" cy="39395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r>
              <a:rPr lang="en-US" altLang="ko-KR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BoT-SORT </a:t>
            </a:r>
            <a:r>
              <a:rPr lang="ko-KR" altLang="en-US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6D5BF-B155-1886-919A-1D9CB84A1F6C}"/>
              </a:ext>
            </a:extLst>
          </p:cNvPr>
          <p:cNvSpPr txBox="1"/>
          <p:nvPr/>
        </p:nvSpPr>
        <p:spPr>
          <a:xfrm>
            <a:off x="8700357" y="4472975"/>
            <a:ext cx="1898212" cy="39395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r>
              <a:rPr lang="en-US" altLang="ko-KR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 InsightFace </a:t>
            </a:r>
            <a:r>
              <a:rPr lang="ko-KR" altLang="en-US" sz="16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</a:t>
            </a:r>
          </a:p>
        </p:txBody>
      </p:sp>
      <p:pic>
        <p:nvPicPr>
          <p:cNvPr id="25" name="Picture 44" descr="bottom_yolo_transparent.png">
            <a:extLst>
              <a:ext uri="{FF2B5EF4-FFF2-40B4-BE49-F238E27FC236}">
                <a16:creationId xmlns:a16="http://schemas.microsoft.com/office/drawing/2014/main" id="{4727024B-2930-AE78-6080-48E388CD9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828032"/>
            <a:ext cx="2743200" cy="1216152"/>
          </a:xfrm>
          <a:prstGeom prst="rect">
            <a:avLst/>
          </a:prstGeom>
        </p:spPr>
      </p:pic>
      <p:pic>
        <p:nvPicPr>
          <p:cNvPr id="26" name="Picture 45" descr="bottom_botsort_transparent.png">
            <a:extLst>
              <a:ext uri="{FF2B5EF4-FFF2-40B4-BE49-F238E27FC236}">
                <a16:creationId xmlns:a16="http://schemas.microsoft.com/office/drawing/2014/main" id="{6860EEB6-7C74-4C31-33E1-CB42EBD32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4898698"/>
            <a:ext cx="3008692" cy="1127200"/>
          </a:xfrm>
          <a:prstGeom prst="rect">
            <a:avLst/>
          </a:prstGeom>
        </p:spPr>
      </p:pic>
      <p:pic>
        <p:nvPicPr>
          <p:cNvPr id="27" name="Picture 46" descr="bottom_insightface_transparent.png">
            <a:extLst>
              <a:ext uri="{FF2B5EF4-FFF2-40B4-BE49-F238E27FC236}">
                <a16:creationId xmlns:a16="http://schemas.microsoft.com/office/drawing/2014/main" id="{B172534E-5766-F8FB-2F0B-41BE93FC7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132" y="4898698"/>
            <a:ext cx="3008691" cy="1127200"/>
          </a:xfrm>
          <a:prstGeom prst="rect">
            <a:avLst/>
          </a:prstGeom>
        </p:spPr>
      </p:pic>
      <p:grpSp>
        <p:nvGrpSpPr>
          <p:cNvPr id="84" name="그룹 83">
            <a:extLst>
              <a:ext uri="{FF2B5EF4-FFF2-40B4-BE49-F238E27FC236}">
                <a16:creationId xmlns:a16="http://schemas.microsoft.com/office/drawing/2014/main" id="{A689A82E-19B1-D734-53A8-73CEF4AED6B8}"/>
              </a:ext>
            </a:extLst>
          </p:cNvPr>
          <p:cNvGrpSpPr/>
          <p:nvPr/>
        </p:nvGrpSpPr>
        <p:grpSpPr>
          <a:xfrm>
            <a:off x="1073485" y="1365975"/>
            <a:ext cx="2322227" cy="409343"/>
            <a:chOff x="1029861" y="1333830"/>
            <a:chExt cx="2322227" cy="409343"/>
          </a:xfrm>
        </p:grpSpPr>
        <p:sp>
          <p:nvSpPr>
            <p:cNvPr id="29" name="Rounded Rectangle 5">
              <a:extLst>
                <a:ext uri="{FF2B5EF4-FFF2-40B4-BE49-F238E27FC236}">
                  <a16:creationId xmlns:a16="http://schemas.microsoft.com/office/drawing/2014/main" id="{FB93DF20-A9D3-E138-769E-2D874B04D095}"/>
                </a:ext>
              </a:extLst>
            </p:cNvPr>
            <p:cNvSpPr/>
            <p:nvPr/>
          </p:nvSpPr>
          <p:spPr>
            <a:xfrm>
              <a:off x="1029861" y="1376039"/>
              <a:ext cx="2322227" cy="310896"/>
            </a:xfrm>
            <a:prstGeom prst="roundRect">
              <a:avLst/>
            </a:prstGeom>
            <a:solidFill>
              <a:srgbClr val="11409E"/>
            </a:solidFill>
            <a:ln>
              <a:solidFill>
                <a:srgbClr val="1140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932F61-36EE-6CD7-4763-927519F17D5E}"/>
                </a:ext>
              </a:extLst>
            </p:cNvPr>
            <p:cNvSpPr txBox="1"/>
            <p:nvPr/>
          </p:nvSpPr>
          <p:spPr>
            <a:xfrm>
              <a:off x="1119581" y="1333830"/>
              <a:ext cx="2069288" cy="409343"/>
            </a:xfrm>
            <a:prstGeom prst="rect">
              <a:avLst/>
            </a:prstGeom>
            <a:noFill/>
          </p:spPr>
          <p:txBody>
            <a:bodyPr wrap="square" lIns="73152" tIns="73152" rIns="73152" bIns="73152" anchor="ctr">
              <a:spAutoFit/>
            </a:bodyPr>
            <a:lstStyle/>
            <a:p>
              <a:pPr algn="ctr"/>
              <a:r>
                <a:rPr lang="en-US" altLang="ko-KR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1. </a:t>
              </a:r>
              <a:r>
                <a:rPr lang="ko-KR" altLang="en-US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공개 모델 기본 상태</a:t>
              </a:r>
            </a:p>
          </p:txBody>
        </p:sp>
      </p:grpSp>
      <p:sp>
        <p:nvSpPr>
          <p:cNvPr id="36" name="Chevron 32">
            <a:extLst>
              <a:ext uri="{FF2B5EF4-FFF2-40B4-BE49-F238E27FC236}">
                <a16:creationId xmlns:a16="http://schemas.microsoft.com/office/drawing/2014/main" id="{6F2B1413-E3C1-E45D-C874-F76534825B44}"/>
              </a:ext>
            </a:extLst>
          </p:cNvPr>
          <p:cNvSpPr/>
          <p:nvPr/>
        </p:nvSpPr>
        <p:spPr>
          <a:xfrm>
            <a:off x="3942171" y="2301597"/>
            <a:ext cx="411480" cy="502920"/>
          </a:xfrm>
          <a:prstGeom prst="chevron">
            <a:avLst/>
          </a:prstGeom>
          <a:solidFill>
            <a:srgbClr val="2F68D1"/>
          </a:solidFill>
          <a:ln>
            <a:solidFill>
              <a:srgbClr val="2F6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1E37DD-C8DD-1926-CA1E-217EAA08B025}"/>
              </a:ext>
            </a:extLst>
          </p:cNvPr>
          <p:cNvSpPr txBox="1"/>
          <p:nvPr/>
        </p:nvSpPr>
        <p:spPr>
          <a:xfrm>
            <a:off x="3685848" y="2871878"/>
            <a:ext cx="792140" cy="6555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</a:t>
            </a:r>
          </a:p>
          <a:p>
            <a:pPr algn="ctr"/>
            <a:r>
              <a:rPr lang="ko-KR" altLang="en-US" sz="11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목적에 맞게</a:t>
            </a:r>
          </a:p>
          <a:p>
            <a:pPr algn="ctr"/>
            <a:r>
              <a:rPr lang="ko-KR" altLang="en-US" sz="11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조정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8E72A23-1826-A276-4AEC-515DAF9C75D5}"/>
              </a:ext>
            </a:extLst>
          </p:cNvPr>
          <p:cNvGrpSpPr/>
          <p:nvPr/>
        </p:nvGrpSpPr>
        <p:grpSpPr>
          <a:xfrm>
            <a:off x="4788441" y="1373959"/>
            <a:ext cx="2322227" cy="409343"/>
            <a:chOff x="4964704" y="1398422"/>
            <a:chExt cx="2322227" cy="409343"/>
          </a:xfrm>
        </p:grpSpPr>
        <p:sp>
          <p:nvSpPr>
            <p:cNvPr id="69" name="Rounded Rectangle 5">
              <a:extLst>
                <a:ext uri="{FF2B5EF4-FFF2-40B4-BE49-F238E27FC236}">
                  <a16:creationId xmlns:a16="http://schemas.microsoft.com/office/drawing/2014/main" id="{8A76EEB0-854E-72BB-9845-E59608F1266B}"/>
                </a:ext>
              </a:extLst>
            </p:cNvPr>
            <p:cNvSpPr/>
            <p:nvPr/>
          </p:nvSpPr>
          <p:spPr>
            <a:xfrm>
              <a:off x="4964704" y="1439662"/>
              <a:ext cx="2322227" cy="310896"/>
            </a:xfrm>
            <a:prstGeom prst="roundRect">
              <a:avLst/>
            </a:prstGeom>
            <a:solidFill>
              <a:srgbClr val="11409E"/>
            </a:solidFill>
            <a:ln>
              <a:solidFill>
                <a:srgbClr val="1140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905B3A-8B33-DDFD-8203-3A6B546581D9}"/>
                </a:ext>
              </a:extLst>
            </p:cNvPr>
            <p:cNvSpPr txBox="1"/>
            <p:nvPr/>
          </p:nvSpPr>
          <p:spPr>
            <a:xfrm>
              <a:off x="5091227" y="1398422"/>
              <a:ext cx="2002703" cy="409343"/>
            </a:xfrm>
            <a:prstGeom prst="rect">
              <a:avLst/>
            </a:prstGeom>
            <a:noFill/>
          </p:spPr>
          <p:txBody>
            <a:bodyPr wrap="square" lIns="73152" tIns="73152" rIns="73152" bIns="73152" anchor="ctr">
              <a:spAutoFit/>
            </a:bodyPr>
            <a:lstStyle/>
            <a:p>
              <a:pPr algn="ctr"/>
              <a:r>
                <a:rPr lang="en-US" altLang="ko-KR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2. </a:t>
              </a:r>
              <a:r>
                <a:rPr lang="ko-KR" altLang="en-US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프로젝트 맞춤 적용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C6D67F0-5227-A8AA-A8D8-92CCF74F0AE4}"/>
              </a:ext>
            </a:extLst>
          </p:cNvPr>
          <p:cNvGrpSpPr/>
          <p:nvPr/>
        </p:nvGrpSpPr>
        <p:grpSpPr>
          <a:xfrm>
            <a:off x="4521688" y="1763917"/>
            <a:ext cx="3017520" cy="719793"/>
            <a:chOff x="4790717" y="1777456"/>
            <a:chExt cx="3017520" cy="719793"/>
          </a:xfrm>
        </p:grpSpPr>
        <p:sp>
          <p:nvSpPr>
            <p:cNvPr id="41" name="Rounded Rectangle 15">
              <a:extLst>
                <a:ext uri="{FF2B5EF4-FFF2-40B4-BE49-F238E27FC236}">
                  <a16:creationId xmlns:a16="http://schemas.microsoft.com/office/drawing/2014/main" id="{AEFCE10E-53E7-FE1D-D830-4012326CDED9}"/>
                </a:ext>
              </a:extLst>
            </p:cNvPr>
            <p:cNvSpPr/>
            <p:nvPr/>
          </p:nvSpPr>
          <p:spPr>
            <a:xfrm>
              <a:off x="4790717" y="1809841"/>
              <a:ext cx="3017520" cy="65836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2" name="Rounded Rectangle 16">
              <a:extLst>
                <a:ext uri="{FF2B5EF4-FFF2-40B4-BE49-F238E27FC236}">
                  <a16:creationId xmlns:a16="http://schemas.microsoft.com/office/drawing/2014/main" id="{FCE3364A-485F-AE53-77D2-7E927122CEC3}"/>
                </a:ext>
              </a:extLst>
            </p:cNvPr>
            <p:cNvSpPr/>
            <p:nvPr/>
          </p:nvSpPr>
          <p:spPr>
            <a:xfrm>
              <a:off x="4836437" y="1919569"/>
              <a:ext cx="411480" cy="411480"/>
            </a:xfrm>
            <a:prstGeom prst="roundRect">
              <a:avLst/>
            </a:prstGeom>
            <a:solidFill>
              <a:srgbClr val="E8F0FC"/>
            </a:solidFill>
            <a:ln>
              <a:solidFill>
                <a:srgbClr val="2F68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200" b="0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👤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A04ADC-D154-4AAF-1CFD-7B08428950B8}"/>
                </a:ext>
              </a:extLst>
            </p:cNvPr>
            <p:cNvSpPr txBox="1"/>
            <p:nvPr/>
          </p:nvSpPr>
          <p:spPr>
            <a:xfrm>
              <a:off x="5321069" y="1777456"/>
              <a:ext cx="926792" cy="393954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pPr algn="l"/>
              <a:r>
                <a:rPr sz="1600" b="1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A. YOLO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A2BEE14-DB45-816F-30DA-8F67F31E51A3}"/>
                </a:ext>
              </a:extLst>
            </p:cNvPr>
            <p:cNvSpPr txBox="1"/>
            <p:nvPr/>
          </p:nvSpPr>
          <p:spPr>
            <a:xfrm>
              <a:off x="5321069" y="1994013"/>
              <a:ext cx="1776384" cy="363176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사람만 탐지하도록 설정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CC6694-AA2B-B9FD-0CAB-65CF73FB4754}"/>
                </a:ext>
              </a:extLst>
            </p:cNvPr>
            <p:cNvSpPr txBox="1"/>
            <p:nvPr/>
          </p:nvSpPr>
          <p:spPr>
            <a:xfrm>
              <a:off x="5321069" y="2164850"/>
              <a:ext cx="2435218" cy="332399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r>
                <a:rPr lang="en-US" altLang="ko-KR" sz="1200" b="0" dirty="0">
                  <a:solidFill>
                    <a:srgbClr val="5A5A5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classes=[0], conf=0.4, iou=0.55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8B62DA8-0E04-3301-9813-BF61B17A6E79}"/>
              </a:ext>
            </a:extLst>
          </p:cNvPr>
          <p:cNvGrpSpPr/>
          <p:nvPr/>
        </p:nvGrpSpPr>
        <p:grpSpPr>
          <a:xfrm>
            <a:off x="4517588" y="2514486"/>
            <a:ext cx="3017520" cy="690753"/>
            <a:chOff x="4787661" y="2546941"/>
            <a:chExt cx="3017520" cy="690753"/>
          </a:xfrm>
        </p:grpSpPr>
        <p:sp>
          <p:nvSpPr>
            <p:cNvPr id="46" name="Rounded Rectangle 20">
              <a:extLst>
                <a:ext uri="{FF2B5EF4-FFF2-40B4-BE49-F238E27FC236}">
                  <a16:creationId xmlns:a16="http://schemas.microsoft.com/office/drawing/2014/main" id="{93A13470-1282-5E61-F09E-A3FED9305DB3}"/>
                </a:ext>
              </a:extLst>
            </p:cNvPr>
            <p:cNvSpPr/>
            <p:nvPr/>
          </p:nvSpPr>
          <p:spPr>
            <a:xfrm>
              <a:off x="4787661" y="2579326"/>
              <a:ext cx="3017520" cy="65836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8" name="Rounded Rectangle 21">
              <a:extLst>
                <a:ext uri="{FF2B5EF4-FFF2-40B4-BE49-F238E27FC236}">
                  <a16:creationId xmlns:a16="http://schemas.microsoft.com/office/drawing/2014/main" id="{3AAB1C39-7F1B-9BCC-5CE4-69B0FC228D29}"/>
                </a:ext>
              </a:extLst>
            </p:cNvPr>
            <p:cNvSpPr/>
            <p:nvPr/>
          </p:nvSpPr>
          <p:spPr>
            <a:xfrm>
              <a:off x="4833381" y="2689054"/>
              <a:ext cx="411480" cy="411480"/>
            </a:xfrm>
            <a:prstGeom prst="roundRect">
              <a:avLst/>
            </a:prstGeom>
            <a:solidFill>
              <a:srgbClr val="E8F0FC"/>
            </a:solidFill>
            <a:ln>
              <a:solidFill>
                <a:srgbClr val="2F68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200" b="0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🏃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5451BE-93FF-8472-A81F-64B6633B8D61}"/>
                </a:ext>
              </a:extLst>
            </p:cNvPr>
            <p:cNvSpPr txBox="1"/>
            <p:nvPr/>
          </p:nvSpPr>
          <p:spPr>
            <a:xfrm>
              <a:off x="5318013" y="2546941"/>
              <a:ext cx="1364412" cy="393954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pPr algn="l"/>
              <a:r>
                <a:rPr sz="1600" b="1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B. BoT-SORT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0208D6-66B9-C007-6934-2CE1CB887341}"/>
                </a:ext>
              </a:extLst>
            </p:cNvPr>
            <p:cNvSpPr txBox="1"/>
            <p:nvPr/>
          </p:nvSpPr>
          <p:spPr>
            <a:xfrm>
              <a:off x="5318013" y="2763498"/>
              <a:ext cx="1845313" cy="363176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카메라별 </a:t>
              </a:r>
              <a:r>
                <a:rPr lang="en-US" altLang="ko-KR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Track ID </a:t>
              </a: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추적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64B3D82-BADF-5332-FC64-A3557D63B226}"/>
              </a:ext>
            </a:extLst>
          </p:cNvPr>
          <p:cNvGrpSpPr/>
          <p:nvPr/>
        </p:nvGrpSpPr>
        <p:grpSpPr>
          <a:xfrm>
            <a:off x="4529303" y="3270210"/>
            <a:ext cx="3017520" cy="740341"/>
            <a:chOff x="4787661" y="3321648"/>
            <a:chExt cx="3017520" cy="740341"/>
          </a:xfrm>
        </p:grpSpPr>
        <p:sp>
          <p:nvSpPr>
            <p:cNvPr id="58" name="Rounded Rectangle 24">
              <a:extLst>
                <a:ext uri="{FF2B5EF4-FFF2-40B4-BE49-F238E27FC236}">
                  <a16:creationId xmlns:a16="http://schemas.microsoft.com/office/drawing/2014/main" id="{11E75EFB-7ADA-3773-3241-F618EB39C9F7}"/>
                </a:ext>
              </a:extLst>
            </p:cNvPr>
            <p:cNvSpPr/>
            <p:nvPr/>
          </p:nvSpPr>
          <p:spPr>
            <a:xfrm>
              <a:off x="4787661" y="3354033"/>
              <a:ext cx="3017520" cy="65836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0" name="Rounded Rectangle 25">
              <a:extLst>
                <a:ext uri="{FF2B5EF4-FFF2-40B4-BE49-F238E27FC236}">
                  <a16:creationId xmlns:a16="http://schemas.microsoft.com/office/drawing/2014/main" id="{512E9A4C-080C-8A29-B76C-EA8D5D1DAD6C}"/>
                </a:ext>
              </a:extLst>
            </p:cNvPr>
            <p:cNvSpPr/>
            <p:nvPr/>
          </p:nvSpPr>
          <p:spPr>
            <a:xfrm>
              <a:off x="4833381" y="3463761"/>
              <a:ext cx="411480" cy="411480"/>
            </a:xfrm>
            <a:prstGeom prst="roundRect">
              <a:avLst/>
            </a:prstGeom>
            <a:solidFill>
              <a:srgbClr val="E8F0FC"/>
            </a:solidFill>
            <a:ln>
              <a:solidFill>
                <a:srgbClr val="2F68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200" b="0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🙂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A62E226-D38C-327A-8C7E-FEE96F1CFB49}"/>
                </a:ext>
              </a:extLst>
            </p:cNvPr>
            <p:cNvSpPr txBox="1"/>
            <p:nvPr/>
          </p:nvSpPr>
          <p:spPr>
            <a:xfrm>
              <a:off x="5318013" y="3321648"/>
              <a:ext cx="1500667" cy="393954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pPr algn="l"/>
              <a:r>
                <a:rPr sz="1600" b="1" dirty="0">
                  <a:solidFill>
                    <a:srgbClr val="11409E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C. InsightFace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5F938BE-760E-72D9-B209-C361F90AB1CC}"/>
                </a:ext>
              </a:extLst>
            </p:cNvPr>
            <p:cNvSpPr txBox="1"/>
            <p:nvPr/>
          </p:nvSpPr>
          <p:spPr>
            <a:xfrm>
              <a:off x="5318013" y="3538205"/>
              <a:ext cx="2173928" cy="363176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등록 얼굴과 실시간 얼굴 비교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4C8705-A6D0-5A8B-4D6D-C461FDCA67F4}"/>
                </a:ext>
              </a:extLst>
            </p:cNvPr>
            <p:cNvSpPr txBox="1"/>
            <p:nvPr/>
          </p:nvSpPr>
          <p:spPr>
            <a:xfrm>
              <a:off x="5318013" y="3729590"/>
              <a:ext cx="1523109" cy="332399"/>
            </a:xfrm>
            <a:prstGeom prst="rect">
              <a:avLst/>
            </a:prstGeom>
            <a:noFill/>
          </p:spPr>
          <p:txBody>
            <a:bodyPr wrap="none" lIns="73152" tIns="73152" rIns="73152" bIns="73152" anchor="ctr">
              <a:spAutoFit/>
            </a:bodyPr>
            <a:lstStyle/>
            <a:p>
              <a:r>
                <a:rPr lang="ko-KR" altLang="en-US" sz="1200" b="0" dirty="0">
                  <a:solidFill>
                    <a:srgbClr val="5A5A5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유사도 기준 </a:t>
              </a:r>
              <a:r>
                <a:rPr lang="en-US" altLang="ko-KR" sz="1200" b="0" dirty="0">
                  <a:solidFill>
                    <a:srgbClr val="5A5A5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0.45 </a:t>
              </a:r>
              <a:r>
                <a:rPr lang="ko-KR" altLang="en-US" sz="1200" b="0" dirty="0">
                  <a:solidFill>
                    <a:srgbClr val="5A5A5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적용</a:t>
              </a:r>
            </a:p>
          </p:txBody>
        </p:sp>
      </p:grp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1738B759-A32B-76D5-8F8A-54CB8A4DDFD0}"/>
              </a:ext>
            </a:extLst>
          </p:cNvPr>
          <p:cNvSpPr/>
          <p:nvPr/>
        </p:nvSpPr>
        <p:spPr>
          <a:xfrm>
            <a:off x="4563308" y="4059286"/>
            <a:ext cx="2907792" cy="210313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ko-KR" altLang="en-US" sz="13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특징 벡터 평균 저장 </a:t>
            </a:r>
            <a:r>
              <a:rPr lang="en-US" altLang="ko-KR" sz="13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300" b="1" dirty="0">
                <a:solidFill>
                  <a:srgbClr val="11409E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비동기 처리 적용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705AADE-6DD5-9406-088F-5B8A15748BB0}"/>
              </a:ext>
            </a:extLst>
          </p:cNvPr>
          <p:cNvGrpSpPr/>
          <p:nvPr/>
        </p:nvGrpSpPr>
        <p:grpSpPr>
          <a:xfrm>
            <a:off x="810643" y="1801353"/>
            <a:ext cx="2810775" cy="1349008"/>
            <a:chOff x="904940" y="1909962"/>
            <a:chExt cx="2810775" cy="1349008"/>
          </a:xfrm>
        </p:grpSpPr>
        <p:sp>
          <p:nvSpPr>
            <p:cNvPr id="80" name="Rounded Rectangle 20">
              <a:extLst>
                <a:ext uri="{FF2B5EF4-FFF2-40B4-BE49-F238E27FC236}">
                  <a16:creationId xmlns:a16="http://schemas.microsoft.com/office/drawing/2014/main" id="{C55421FF-BEA6-2E1C-EAFD-C9D0ED8EE416}"/>
                </a:ext>
              </a:extLst>
            </p:cNvPr>
            <p:cNvSpPr/>
            <p:nvPr/>
          </p:nvSpPr>
          <p:spPr>
            <a:xfrm>
              <a:off x="904940" y="1909962"/>
              <a:ext cx="2810775" cy="1349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D47FDF-6BD9-AB48-C5B3-505E13842DA0}"/>
                </a:ext>
              </a:extLst>
            </p:cNvPr>
            <p:cNvSpPr txBox="1"/>
            <p:nvPr/>
          </p:nvSpPr>
          <p:spPr>
            <a:xfrm>
              <a:off x="1119581" y="2047553"/>
              <a:ext cx="2479140" cy="1034129"/>
            </a:xfrm>
            <a:prstGeom prst="rect">
              <a:avLst/>
            </a:prstGeom>
            <a:noFill/>
          </p:spPr>
          <p:txBody>
            <a:bodyPr wrap="none" lIns="27432" tIns="9144" rIns="27432" bIns="9144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다양한 객체 탐지 가능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카메라별 추적 흐름 분리 필요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모든 프레임 얼굴 인식 시 지연 가능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한 장 사진만으로 비교 시 한계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97B5CA6-E64E-B7F9-A95A-89047B5D3F1E}"/>
              </a:ext>
            </a:extLst>
          </p:cNvPr>
          <p:cNvGrpSpPr/>
          <p:nvPr/>
        </p:nvGrpSpPr>
        <p:grpSpPr>
          <a:xfrm>
            <a:off x="776661" y="3348659"/>
            <a:ext cx="2864110" cy="612304"/>
            <a:chOff x="904940" y="3409986"/>
            <a:chExt cx="2864110" cy="612304"/>
          </a:xfrm>
        </p:grpSpPr>
        <p:sp>
          <p:nvSpPr>
            <p:cNvPr id="81" name="Rounded Rectangle 20">
              <a:extLst>
                <a:ext uri="{FF2B5EF4-FFF2-40B4-BE49-F238E27FC236}">
                  <a16:creationId xmlns:a16="http://schemas.microsoft.com/office/drawing/2014/main" id="{F3AFBB28-FECD-5507-64EB-11AAC02AA164}"/>
                </a:ext>
              </a:extLst>
            </p:cNvPr>
            <p:cNvSpPr/>
            <p:nvPr/>
          </p:nvSpPr>
          <p:spPr>
            <a:xfrm>
              <a:off x="914620" y="3409986"/>
              <a:ext cx="2823550" cy="612304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2F20265-023A-9D93-030D-B996810B0228}"/>
                </a:ext>
              </a:extLst>
            </p:cNvPr>
            <p:cNvSpPr txBox="1"/>
            <p:nvPr/>
          </p:nvSpPr>
          <p:spPr>
            <a:xfrm>
              <a:off x="904940" y="3575296"/>
              <a:ext cx="7377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공개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ai</a:t>
              </a:r>
              <a:endPara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C973FEFF-441F-5822-8593-7C982A62BB71}"/>
                </a:ext>
              </a:extLst>
            </p:cNvPr>
            <p:cNvSpPr/>
            <p:nvPr/>
          </p:nvSpPr>
          <p:spPr>
            <a:xfrm>
              <a:off x="1675935" y="3617701"/>
              <a:ext cx="287677" cy="2308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4DCE74-E69C-0607-6EEB-2EE3AFCD9A1C}"/>
                </a:ext>
              </a:extLst>
            </p:cNvPr>
            <p:cNvSpPr txBox="1"/>
            <p:nvPr/>
          </p:nvSpPr>
          <p:spPr>
            <a:xfrm>
              <a:off x="2010235" y="3566008"/>
              <a:ext cx="17588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학습 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x, </a:t>
              </a:r>
              <a:r>
                <a:rPr lang="ko-KR" altLang="en-US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커스터마이징</a:t>
              </a:r>
              <a:r>
                <a:rPr lang="en-US" altLang="ko-KR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o</a:t>
              </a:r>
              <a:endPara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AA204F2A-D5ED-888B-0BE6-DBD2C4FB81BE}"/>
              </a:ext>
            </a:extLst>
          </p:cNvPr>
          <p:cNvSpPr txBox="1"/>
          <p:nvPr/>
        </p:nvSpPr>
        <p:spPr>
          <a:xfrm>
            <a:off x="7502080" y="2956517"/>
            <a:ext cx="952440" cy="486287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1409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관제 흐름으로</a:t>
            </a:r>
          </a:p>
          <a:p>
            <a:pPr algn="ctr"/>
            <a:r>
              <a:rPr lang="ko-KR" altLang="en-US" sz="1100" b="1" dirty="0">
                <a:solidFill>
                  <a:srgbClr val="11409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연결</a:t>
            </a:r>
          </a:p>
        </p:txBody>
      </p:sp>
      <p:sp>
        <p:nvSpPr>
          <p:cNvPr id="88" name="Chevron 32">
            <a:extLst>
              <a:ext uri="{FF2B5EF4-FFF2-40B4-BE49-F238E27FC236}">
                <a16:creationId xmlns:a16="http://schemas.microsoft.com/office/drawing/2014/main" id="{AC23FF45-28AB-5FE4-3855-44E8751C3DE0}"/>
              </a:ext>
            </a:extLst>
          </p:cNvPr>
          <p:cNvSpPr/>
          <p:nvPr/>
        </p:nvSpPr>
        <p:spPr>
          <a:xfrm>
            <a:off x="7814732" y="2289616"/>
            <a:ext cx="411480" cy="502920"/>
          </a:xfrm>
          <a:prstGeom prst="chevron">
            <a:avLst/>
          </a:prstGeom>
          <a:solidFill>
            <a:srgbClr val="2F68D1"/>
          </a:solidFill>
          <a:ln>
            <a:solidFill>
              <a:srgbClr val="2F6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337C3A6A-39DF-AB35-2BA8-539507F82415}"/>
              </a:ext>
            </a:extLst>
          </p:cNvPr>
          <p:cNvGrpSpPr/>
          <p:nvPr/>
        </p:nvGrpSpPr>
        <p:grpSpPr>
          <a:xfrm>
            <a:off x="8409536" y="1850653"/>
            <a:ext cx="3006208" cy="1349008"/>
            <a:chOff x="8503834" y="1751227"/>
            <a:chExt cx="3006208" cy="1349008"/>
          </a:xfrm>
        </p:grpSpPr>
        <p:sp>
          <p:nvSpPr>
            <p:cNvPr id="90" name="Rounded Rectangle 20">
              <a:extLst>
                <a:ext uri="{FF2B5EF4-FFF2-40B4-BE49-F238E27FC236}">
                  <a16:creationId xmlns:a16="http://schemas.microsoft.com/office/drawing/2014/main" id="{4A896F4A-3261-8E53-74AD-1628FC4C60EA}"/>
                </a:ext>
              </a:extLst>
            </p:cNvPr>
            <p:cNvSpPr/>
            <p:nvPr/>
          </p:nvSpPr>
          <p:spPr>
            <a:xfrm>
              <a:off x="8503834" y="1751227"/>
              <a:ext cx="3006208" cy="1349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AAC6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D2F9346-1F82-8EE5-1D69-E323E46B1269}"/>
                </a:ext>
              </a:extLst>
            </p:cNvPr>
            <p:cNvSpPr txBox="1"/>
            <p:nvPr/>
          </p:nvSpPr>
          <p:spPr>
            <a:xfrm>
              <a:off x="8600133" y="1907873"/>
              <a:ext cx="2895921" cy="1034129"/>
            </a:xfrm>
            <a:prstGeom prst="rect">
              <a:avLst/>
            </a:prstGeom>
            <a:noFill/>
          </p:spPr>
          <p:txBody>
            <a:bodyPr wrap="none" lIns="27432" tIns="9144" rIns="27432" bIns="9144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사람 탐지 → 동일 인물 추적 → 얼굴 식별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대시보드와 지도에 결과 반영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경고 표시 및 위치 표시</a:t>
              </a:r>
            </a:p>
            <a:p>
              <a:pPr algn="l">
                <a:spcAft>
                  <a:spcPts val="400"/>
                </a:spcAft>
              </a:pPr>
              <a:r>
                <a:rPr lang="ko-KR" altLang="en-US" sz="1400" b="0" dirty="0">
                  <a:solidFill>
                    <a:srgbClr val="141414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이벤트 로그와 캡처 이미지 저장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D521E96-BC23-CF23-7C99-2637B57E4A1C}"/>
              </a:ext>
            </a:extLst>
          </p:cNvPr>
          <p:cNvGrpSpPr/>
          <p:nvPr/>
        </p:nvGrpSpPr>
        <p:grpSpPr>
          <a:xfrm>
            <a:off x="8664994" y="1373959"/>
            <a:ext cx="2322227" cy="409343"/>
            <a:chOff x="4964704" y="1398422"/>
            <a:chExt cx="2322227" cy="409343"/>
          </a:xfrm>
        </p:grpSpPr>
        <p:sp>
          <p:nvSpPr>
            <p:cNvPr id="95" name="Rounded Rectangle 5">
              <a:extLst>
                <a:ext uri="{FF2B5EF4-FFF2-40B4-BE49-F238E27FC236}">
                  <a16:creationId xmlns:a16="http://schemas.microsoft.com/office/drawing/2014/main" id="{21F23DDD-7701-030A-BF86-0AEEF7F60D7C}"/>
                </a:ext>
              </a:extLst>
            </p:cNvPr>
            <p:cNvSpPr/>
            <p:nvPr/>
          </p:nvSpPr>
          <p:spPr>
            <a:xfrm>
              <a:off x="4964704" y="1439662"/>
              <a:ext cx="2322227" cy="310896"/>
            </a:xfrm>
            <a:prstGeom prst="roundRect">
              <a:avLst/>
            </a:prstGeom>
            <a:solidFill>
              <a:srgbClr val="11409E"/>
            </a:solidFill>
            <a:ln>
              <a:solidFill>
                <a:srgbClr val="1140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F1F0147-124E-B82A-42F4-65A44417B125}"/>
                </a:ext>
              </a:extLst>
            </p:cNvPr>
            <p:cNvSpPr txBox="1"/>
            <p:nvPr/>
          </p:nvSpPr>
          <p:spPr>
            <a:xfrm>
              <a:off x="5091227" y="1398422"/>
              <a:ext cx="2002703" cy="409343"/>
            </a:xfrm>
            <a:prstGeom prst="rect">
              <a:avLst/>
            </a:prstGeom>
            <a:noFill/>
          </p:spPr>
          <p:txBody>
            <a:bodyPr wrap="square" lIns="73152" tIns="73152" rIns="73152" bIns="73152" anchor="ctr">
              <a:spAutoFit/>
            </a:bodyPr>
            <a:lstStyle/>
            <a:p>
              <a:pPr algn="ctr"/>
              <a:r>
                <a:rPr lang="en-US" altLang="ko-KR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3. </a:t>
              </a:r>
              <a:r>
                <a:rPr lang="ko-KR" altLang="en-US" sz="1700" b="1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시스템 반영 결과</a:t>
              </a: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2358976E-427B-3ECB-5CA7-BB96AD184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230" y="3270710"/>
            <a:ext cx="2905063" cy="103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0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42">
            <a:extLst>
              <a:ext uri="{FF2B5EF4-FFF2-40B4-BE49-F238E27FC236}">
                <a16:creationId xmlns:a16="http://schemas.microsoft.com/office/drawing/2014/main" id="{CC78D1C9-A121-7010-AC9F-A179E60DA0D7}"/>
              </a:ext>
            </a:extLst>
          </p:cNvPr>
          <p:cNvSpPr/>
          <p:nvPr/>
        </p:nvSpPr>
        <p:spPr>
          <a:xfrm>
            <a:off x="6306655" y="1383030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Text 40"/>
          <p:cNvSpPr/>
          <p:nvPr/>
        </p:nvSpPr>
        <p:spPr>
          <a:xfrm>
            <a:off x="4372356" y="249107"/>
            <a:ext cx="3447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YOLO · 사람 탐지</a:t>
            </a:r>
            <a:endParaRPr lang="en-US" altLang="ko-KR" sz="3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50826" y="848039"/>
            <a:ext cx="49079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사람 클래스만 탐지하도록 제한하여 1차 탐지 단계에 활용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5249" y="1385316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43020" y="1666927"/>
            <a:ext cx="188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무슨 역할을 하나?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 flipV="1">
            <a:off x="969264" y="2031677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25" y="2434590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34393" y="2361438"/>
            <a:ext cx="2587799" cy="2811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50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영상 속 여러 객체 중 사람만 탐지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33225" y="2964942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393" y="2891790"/>
            <a:ext cx="2926127" cy="2811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50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탐지된 사람의 위치 좌표와 영역을 추출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33225" y="3495294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393" y="3422142"/>
            <a:ext cx="3054143" cy="2799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50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다음 단계인 추적 모델로 사람 영역 전달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638272" y="1666927"/>
            <a:ext cx="249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어떻게 바꿔서 사용했나?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617634" y="2180176"/>
            <a:ext cx="4646556" cy="841248"/>
          </a:xfrm>
          <a:prstGeom prst="roundRect">
            <a:avLst>
              <a:gd name="adj" fmla="val 5435"/>
            </a:avLst>
          </a:prstGeom>
          <a:solidFill>
            <a:srgbClr val="F7FAFF">
              <a:alpha val="0"/>
            </a:srgbClr>
          </a:solidFill>
          <a:ln w="10160">
            <a:solidFill>
              <a:srgbClr val="1267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43858" y="2253328"/>
            <a:ext cx="421374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0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_model = YOLO("yolov8n.pt")</a:t>
            </a:r>
            <a:endParaRPr lang="en-US" altLang="ko-KR" sz="10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0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_model.overrides["classes"] = [0]</a:t>
            </a:r>
            <a:endParaRPr lang="en-US" altLang="ko-KR" sz="10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0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_model.overrides["conf"] = 0.4</a:t>
            </a:r>
            <a:endParaRPr lang="en-US" altLang="ko-KR" sz="10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0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_model.overrides["iou"] = 0.55</a:t>
            </a:r>
            <a:endParaRPr lang="en-US" altLang="ko-KR" sz="10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0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_model.overrides["imgsz"] = 640</a:t>
            </a:r>
            <a:endParaRPr lang="en-US" altLang="ko-KR" sz="10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28229" y="3226476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9397" y="3153324"/>
            <a:ext cx="212860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32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classes=[0]으로 사람만 탐지</a:t>
            </a:r>
            <a:endParaRPr lang="en-US" altLang="ko-KR" sz="13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628229" y="3555660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29397" y="3482508"/>
            <a:ext cx="337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32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conf, iou, imgsz 값을 프로젝트 환경에 맞게 조정</a:t>
            </a:r>
            <a:endParaRPr lang="en-US" altLang="ko-KR" sz="13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628229" y="3884844"/>
            <a:ext cx="59436" cy="59436"/>
          </a:xfrm>
          <a:prstGeom prst="ellipse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29397" y="3811692"/>
            <a:ext cx="2128601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32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사전 학습 가중치는 그대로 사용</a:t>
            </a:r>
            <a:endParaRPr lang="en-US" altLang="ko-KR" sz="13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15249" y="4312555"/>
            <a:ext cx="10979121" cy="1257967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43956" y="4376098"/>
            <a:ext cx="1035996" cy="36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적용 흐름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59326" y="4811060"/>
            <a:ext cx="3017520" cy="446809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63698" y="4894025"/>
            <a:ext cx="2148840" cy="3276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카메라/드론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영상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4006703" y="4870054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97075" y="4808847"/>
            <a:ext cx="3017520" cy="446809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31415" y="4880775"/>
            <a:ext cx="2148840" cy="3276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YOLO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사람 탐지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8434824" y="4808847"/>
            <a:ext cx="3017520" cy="446809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 81"/>
          <p:cNvSpPr/>
          <p:nvPr/>
        </p:nvSpPr>
        <p:spPr>
          <a:xfrm>
            <a:off x="9062695" y="4875831"/>
            <a:ext cx="2148840" cy="3276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사람 영역 추출 후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다음 단계 전달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D1C6DFC-2EAB-DBAE-E6D0-B37991BB6001}"/>
              </a:ext>
            </a:extLst>
          </p:cNvPr>
          <p:cNvGrpSpPr/>
          <p:nvPr/>
        </p:nvGrpSpPr>
        <p:grpSpPr>
          <a:xfrm>
            <a:off x="606235" y="5703327"/>
            <a:ext cx="10979123" cy="475488"/>
            <a:chOff x="606235" y="5693053"/>
            <a:chExt cx="10979123" cy="475488"/>
          </a:xfrm>
        </p:grpSpPr>
        <p:sp>
          <p:nvSpPr>
            <p:cNvPr id="84" name="Shape 82"/>
            <p:cNvSpPr/>
            <p:nvPr/>
          </p:nvSpPr>
          <p:spPr>
            <a:xfrm>
              <a:off x="606235" y="5693053"/>
              <a:ext cx="10979123" cy="475488"/>
            </a:xfrm>
            <a:prstGeom prst="roundRect">
              <a:avLst>
                <a:gd name="adj" fmla="val 11538"/>
              </a:avLst>
            </a:prstGeom>
            <a:solidFill>
              <a:srgbClr val="F7FAFF">
                <a:alpha val="0"/>
              </a:srgbClr>
            </a:solidFill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>
              <a:off x="816547" y="5793637"/>
              <a:ext cx="274320" cy="274320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834835" y="5811925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Arial" pitchFamily="34" charset="-120"/>
                </a:rPr>
                <a:t>★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1200595" y="5802781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800" b="1" dirty="0">
                  <a:solidFill>
                    <a:srgbClr val="0958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핵심 정리</a:t>
              </a:r>
              <a:endPara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88" name="Shape 86"/>
            <p:cNvSpPr/>
            <p:nvPr/>
          </p:nvSpPr>
          <p:spPr>
            <a:xfrm>
              <a:off x="2617915" y="5802781"/>
              <a:ext cx="0" cy="256032"/>
            </a:xfrm>
            <a:prstGeom prst="line">
              <a:avLst/>
            </a:prstGeom>
            <a:noFill/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89" name="Text 87"/>
            <p:cNvSpPr/>
            <p:nvPr/>
          </p:nvSpPr>
          <p:spPr>
            <a:xfrm>
              <a:off x="2892235" y="5793637"/>
              <a:ext cx="6539438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altLang="ko-KR" sz="138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YOLO는 재학습하지 않고, 사람만 탐지하도록 설정값을 조정해 1차 탐지 모델로 활용하였다.</a:t>
              </a:r>
              <a:endParaRPr lang="en-US" altLang="ko-KR" sz="138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30DDA32-05C3-9069-3CEC-18BFA31FD1FA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46">
            <a:extLst>
              <a:ext uri="{FF2B5EF4-FFF2-40B4-BE49-F238E27FC236}">
                <a16:creationId xmlns:a16="http://schemas.microsoft.com/office/drawing/2014/main" id="{DDF0D030-AB7E-5C4C-AE54-9834350889C4}"/>
              </a:ext>
            </a:extLst>
          </p:cNvPr>
          <p:cNvSpPr/>
          <p:nvPr/>
        </p:nvSpPr>
        <p:spPr>
          <a:xfrm flipV="1">
            <a:off x="6628229" y="2022140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  <p:sp>
        <p:nvSpPr>
          <p:cNvPr id="101" name="Shape 74">
            <a:extLst>
              <a:ext uri="{FF2B5EF4-FFF2-40B4-BE49-F238E27FC236}">
                <a16:creationId xmlns:a16="http://schemas.microsoft.com/office/drawing/2014/main" id="{769BFDD3-BC7F-05C9-8B96-E43BABE8E4CC}"/>
              </a:ext>
            </a:extLst>
          </p:cNvPr>
          <p:cNvSpPr/>
          <p:nvPr/>
        </p:nvSpPr>
        <p:spPr>
          <a:xfrm>
            <a:off x="7847628" y="4869668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42">
            <a:extLst>
              <a:ext uri="{FF2B5EF4-FFF2-40B4-BE49-F238E27FC236}">
                <a16:creationId xmlns:a16="http://schemas.microsoft.com/office/drawing/2014/main" id="{EB9E9CEA-669D-A6BB-7FE0-68E515CBD151}"/>
              </a:ext>
            </a:extLst>
          </p:cNvPr>
          <p:cNvSpPr/>
          <p:nvPr/>
        </p:nvSpPr>
        <p:spPr>
          <a:xfrm>
            <a:off x="6306655" y="1383030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Text 40"/>
          <p:cNvSpPr/>
          <p:nvPr/>
        </p:nvSpPr>
        <p:spPr>
          <a:xfrm>
            <a:off x="3223906" y="248568"/>
            <a:ext cx="568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BoT-SORT · 동일 인물 추적</a:t>
            </a:r>
            <a:endParaRPr lang="en-US" sz="3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700904" y="836981"/>
            <a:ext cx="4851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탐지된 사람에게 Track ID를 부여하여 이동을 계속 추적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6CF8DE1-40DA-2F71-8F38-E77A97AAE22A}"/>
              </a:ext>
            </a:extLst>
          </p:cNvPr>
          <p:cNvCxnSpPr/>
          <p:nvPr/>
        </p:nvCxnSpPr>
        <p:spPr>
          <a:xfrm>
            <a:off x="615250" y="6178858"/>
            <a:ext cx="10970514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2FE1317-38AA-4985-4D20-FB8D00DF76A1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A9E38A6-9E93-9617-30A8-753AC71AE1BB}"/>
              </a:ext>
            </a:extLst>
          </p:cNvPr>
          <p:cNvGrpSpPr/>
          <p:nvPr/>
        </p:nvGrpSpPr>
        <p:grpSpPr>
          <a:xfrm>
            <a:off x="606235" y="5703327"/>
            <a:ext cx="10979123" cy="475488"/>
            <a:chOff x="606235" y="5693053"/>
            <a:chExt cx="10979123" cy="475488"/>
          </a:xfrm>
        </p:grpSpPr>
        <p:sp>
          <p:nvSpPr>
            <p:cNvPr id="107" name="Shape 82">
              <a:extLst>
                <a:ext uri="{FF2B5EF4-FFF2-40B4-BE49-F238E27FC236}">
                  <a16:creationId xmlns:a16="http://schemas.microsoft.com/office/drawing/2014/main" id="{2A684D86-6C93-01B3-2198-9D1F64A19B67}"/>
                </a:ext>
              </a:extLst>
            </p:cNvPr>
            <p:cNvSpPr/>
            <p:nvPr/>
          </p:nvSpPr>
          <p:spPr>
            <a:xfrm>
              <a:off x="606235" y="5693053"/>
              <a:ext cx="10979123" cy="475488"/>
            </a:xfrm>
            <a:prstGeom prst="roundRect">
              <a:avLst>
                <a:gd name="adj" fmla="val 11538"/>
              </a:avLst>
            </a:prstGeom>
            <a:solidFill>
              <a:srgbClr val="F7FAFF">
                <a:alpha val="0"/>
              </a:srgbClr>
            </a:solidFill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08" name="Shape 83">
              <a:extLst>
                <a:ext uri="{FF2B5EF4-FFF2-40B4-BE49-F238E27FC236}">
                  <a16:creationId xmlns:a16="http://schemas.microsoft.com/office/drawing/2014/main" id="{092D4B6F-462E-5C53-8A57-D878FD1353B4}"/>
                </a:ext>
              </a:extLst>
            </p:cNvPr>
            <p:cNvSpPr/>
            <p:nvPr/>
          </p:nvSpPr>
          <p:spPr>
            <a:xfrm>
              <a:off x="816547" y="5793637"/>
              <a:ext cx="274320" cy="274320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09" name="Text 84">
              <a:extLst>
                <a:ext uri="{FF2B5EF4-FFF2-40B4-BE49-F238E27FC236}">
                  <a16:creationId xmlns:a16="http://schemas.microsoft.com/office/drawing/2014/main" id="{D0DEB186-33AA-E04C-9537-D39EEBF57FE7}"/>
                </a:ext>
              </a:extLst>
            </p:cNvPr>
            <p:cNvSpPr/>
            <p:nvPr/>
          </p:nvSpPr>
          <p:spPr>
            <a:xfrm>
              <a:off x="834835" y="5811925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Arial" pitchFamily="34" charset="-120"/>
                </a:rPr>
                <a:t>★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0" name="Text 85">
              <a:extLst>
                <a:ext uri="{FF2B5EF4-FFF2-40B4-BE49-F238E27FC236}">
                  <a16:creationId xmlns:a16="http://schemas.microsoft.com/office/drawing/2014/main" id="{8431231A-F617-2AF8-9EFE-A13B41E39719}"/>
                </a:ext>
              </a:extLst>
            </p:cNvPr>
            <p:cNvSpPr/>
            <p:nvPr/>
          </p:nvSpPr>
          <p:spPr>
            <a:xfrm>
              <a:off x="1200595" y="5802781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800" b="1" dirty="0">
                  <a:solidFill>
                    <a:srgbClr val="0958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핵심 정리</a:t>
              </a:r>
              <a:endPara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1" name="Shape 86">
              <a:extLst>
                <a:ext uri="{FF2B5EF4-FFF2-40B4-BE49-F238E27FC236}">
                  <a16:creationId xmlns:a16="http://schemas.microsoft.com/office/drawing/2014/main" id="{FDEB9FA5-D2F9-D424-DB49-327EE97A3DA8}"/>
                </a:ext>
              </a:extLst>
            </p:cNvPr>
            <p:cNvSpPr/>
            <p:nvPr/>
          </p:nvSpPr>
          <p:spPr>
            <a:xfrm>
              <a:off x="2617915" y="5802781"/>
              <a:ext cx="0" cy="256032"/>
            </a:xfrm>
            <a:prstGeom prst="line">
              <a:avLst/>
            </a:prstGeom>
            <a:noFill/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12" name="Text 87">
              <a:extLst>
                <a:ext uri="{FF2B5EF4-FFF2-40B4-BE49-F238E27FC236}">
                  <a16:creationId xmlns:a16="http://schemas.microsoft.com/office/drawing/2014/main" id="{1E750BE3-119D-8504-C25D-269D88195E8F}"/>
                </a:ext>
              </a:extLst>
            </p:cNvPr>
            <p:cNvSpPr/>
            <p:nvPr/>
          </p:nvSpPr>
          <p:spPr>
            <a:xfrm>
              <a:off x="2892234" y="5793637"/>
              <a:ext cx="7147877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altLang="ko-KR" sz="138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BoT-SORT는 카메라별 추적기로 구성하여, 같은 사람을 계속 따라가도록 프로젝트 흐름에 맞게 연결하였다.</a:t>
              </a:r>
              <a:endParaRPr lang="en-US" altLang="ko-KR" sz="138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05" name="Shape 66">
            <a:extLst>
              <a:ext uri="{FF2B5EF4-FFF2-40B4-BE49-F238E27FC236}">
                <a16:creationId xmlns:a16="http://schemas.microsoft.com/office/drawing/2014/main" id="{7ADFAEA7-D75D-2ED5-7C3D-5A3C61035FBB}"/>
              </a:ext>
            </a:extLst>
          </p:cNvPr>
          <p:cNvSpPr/>
          <p:nvPr/>
        </p:nvSpPr>
        <p:spPr>
          <a:xfrm>
            <a:off x="615249" y="4312555"/>
            <a:ext cx="10979121" cy="1257967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</p:sp>
      <p:sp>
        <p:nvSpPr>
          <p:cNvPr id="116" name="Shape 75">
            <a:extLst>
              <a:ext uri="{FF2B5EF4-FFF2-40B4-BE49-F238E27FC236}">
                <a16:creationId xmlns:a16="http://schemas.microsoft.com/office/drawing/2014/main" id="{89B39027-7A94-365B-80E1-E9196003ED49}"/>
              </a:ext>
            </a:extLst>
          </p:cNvPr>
          <p:cNvSpPr/>
          <p:nvPr/>
        </p:nvSpPr>
        <p:spPr>
          <a:xfrm>
            <a:off x="3654803" y="482629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2839" y="481857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99337" y="487714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사람 탐지 결과</a:t>
            </a:r>
            <a:endParaRPr lang="en-US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4089143" y="4879183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Track ID 부여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4" name="Text 69">
            <a:extLst>
              <a:ext uri="{FF2B5EF4-FFF2-40B4-BE49-F238E27FC236}">
                <a16:creationId xmlns:a16="http://schemas.microsoft.com/office/drawing/2014/main" id="{4408004D-3C3B-3A90-0934-CDDC87AE5822}"/>
              </a:ext>
            </a:extLst>
          </p:cNvPr>
          <p:cNvSpPr/>
          <p:nvPr/>
        </p:nvSpPr>
        <p:spPr>
          <a:xfrm>
            <a:off x="5643956" y="4376098"/>
            <a:ext cx="1035996" cy="36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적용 흐름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5" name="Shape 74">
            <a:extLst>
              <a:ext uri="{FF2B5EF4-FFF2-40B4-BE49-F238E27FC236}">
                <a16:creationId xmlns:a16="http://schemas.microsoft.com/office/drawing/2014/main" id="{0839C1EC-6AD3-4BDA-F8CE-72B1AB8E32FA}"/>
              </a:ext>
            </a:extLst>
          </p:cNvPr>
          <p:cNvSpPr/>
          <p:nvPr/>
        </p:nvSpPr>
        <p:spPr>
          <a:xfrm>
            <a:off x="3150040" y="4951344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17" name="Shape 75">
            <a:extLst>
              <a:ext uri="{FF2B5EF4-FFF2-40B4-BE49-F238E27FC236}">
                <a16:creationId xmlns:a16="http://schemas.microsoft.com/office/drawing/2014/main" id="{E1EBA117-7E11-BB44-7660-BFAF4F86C828}"/>
              </a:ext>
            </a:extLst>
          </p:cNvPr>
          <p:cNvSpPr/>
          <p:nvPr/>
        </p:nvSpPr>
        <p:spPr>
          <a:xfrm>
            <a:off x="6444672" y="482629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18" name="Text 77">
            <a:extLst>
              <a:ext uri="{FF2B5EF4-FFF2-40B4-BE49-F238E27FC236}">
                <a16:creationId xmlns:a16="http://schemas.microsoft.com/office/drawing/2014/main" id="{1D60D568-4FA8-6784-37D1-B8AEDDEA4CB1}"/>
              </a:ext>
            </a:extLst>
          </p:cNvPr>
          <p:cNvSpPr/>
          <p:nvPr/>
        </p:nvSpPr>
        <p:spPr>
          <a:xfrm>
            <a:off x="6881170" y="488486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동일 인물 지속 추적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9" name="Shape 74">
            <a:extLst>
              <a:ext uri="{FF2B5EF4-FFF2-40B4-BE49-F238E27FC236}">
                <a16:creationId xmlns:a16="http://schemas.microsoft.com/office/drawing/2014/main" id="{C1A88DE4-74BB-1EB4-C49B-39509E8869D1}"/>
              </a:ext>
            </a:extLst>
          </p:cNvPr>
          <p:cNvSpPr/>
          <p:nvPr/>
        </p:nvSpPr>
        <p:spPr>
          <a:xfrm>
            <a:off x="8731873" y="4959064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20" name="Shape 74">
            <a:extLst>
              <a:ext uri="{FF2B5EF4-FFF2-40B4-BE49-F238E27FC236}">
                <a16:creationId xmlns:a16="http://schemas.microsoft.com/office/drawing/2014/main" id="{CC1374E2-34EC-3E6D-4D6E-0B9DA6B40C36}"/>
              </a:ext>
            </a:extLst>
          </p:cNvPr>
          <p:cNvSpPr/>
          <p:nvPr/>
        </p:nvSpPr>
        <p:spPr>
          <a:xfrm>
            <a:off x="5939773" y="4949827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21" name="Shape 75">
            <a:extLst>
              <a:ext uri="{FF2B5EF4-FFF2-40B4-BE49-F238E27FC236}">
                <a16:creationId xmlns:a16="http://schemas.microsoft.com/office/drawing/2014/main" id="{7E498FC2-B207-653D-2AC2-B796521B5641}"/>
              </a:ext>
            </a:extLst>
          </p:cNvPr>
          <p:cNvSpPr/>
          <p:nvPr/>
        </p:nvSpPr>
        <p:spPr>
          <a:xfrm>
            <a:off x="9234541" y="481857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22" name="Text 77">
            <a:extLst>
              <a:ext uri="{FF2B5EF4-FFF2-40B4-BE49-F238E27FC236}">
                <a16:creationId xmlns:a16="http://schemas.microsoft.com/office/drawing/2014/main" id="{33095310-F587-09ED-87DB-CD864DB26421}"/>
              </a:ext>
            </a:extLst>
          </p:cNvPr>
          <p:cNvSpPr/>
          <p:nvPr/>
        </p:nvSpPr>
        <p:spPr>
          <a:xfrm>
            <a:off x="9671039" y="487714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얼굴 인식 단계 연결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0E432F40-77DA-8556-B3EE-AEF2D54A6B1C}"/>
              </a:ext>
            </a:extLst>
          </p:cNvPr>
          <p:cNvSpPr/>
          <p:nvPr/>
        </p:nvSpPr>
        <p:spPr>
          <a:xfrm>
            <a:off x="615249" y="1385316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AEBCB91-03A0-874B-FB53-D5F576D3DF08}"/>
              </a:ext>
            </a:extLst>
          </p:cNvPr>
          <p:cNvGrpSpPr/>
          <p:nvPr/>
        </p:nvGrpSpPr>
        <p:grpSpPr>
          <a:xfrm>
            <a:off x="1010605" y="2208668"/>
            <a:ext cx="3797701" cy="1827587"/>
            <a:chOff x="841248" y="2331720"/>
            <a:chExt cx="3797701" cy="1902723"/>
          </a:xfrm>
        </p:grpSpPr>
        <p:sp>
          <p:nvSpPr>
            <p:cNvPr id="49" name="Shape 47"/>
            <p:cNvSpPr/>
            <p:nvPr/>
          </p:nvSpPr>
          <p:spPr>
            <a:xfrm>
              <a:off x="841248" y="2404872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1042416" y="2331720"/>
              <a:ext cx="3596533" cy="3425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YOLO가 찾은 사람을 프레임 단위로 연결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841248" y="2935224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1042416" y="2862072"/>
              <a:ext cx="2877370" cy="31581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사람마다 고유한 Track ID 부여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841248" y="3465576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1042416" y="3392424"/>
              <a:ext cx="3515026" cy="36343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같은 사람이 이동해도 동일 인물로 유지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841248" y="3995928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1042416" y="3922776"/>
              <a:ext cx="3285267" cy="311667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추적 결과를 얼굴 식별 단계와 연결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24" name="Text 45">
            <a:extLst>
              <a:ext uri="{FF2B5EF4-FFF2-40B4-BE49-F238E27FC236}">
                <a16:creationId xmlns:a16="http://schemas.microsoft.com/office/drawing/2014/main" id="{7313737A-96C2-1166-9232-89E7748D1DA8}"/>
              </a:ext>
            </a:extLst>
          </p:cNvPr>
          <p:cNvSpPr/>
          <p:nvPr/>
        </p:nvSpPr>
        <p:spPr>
          <a:xfrm>
            <a:off x="2343020" y="1666927"/>
            <a:ext cx="188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무슨 역할을 하나?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5" name="Shape 46">
            <a:extLst>
              <a:ext uri="{FF2B5EF4-FFF2-40B4-BE49-F238E27FC236}">
                <a16:creationId xmlns:a16="http://schemas.microsoft.com/office/drawing/2014/main" id="{238D1998-1202-DEB8-B8C9-A3210F331A91}"/>
              </a:ext>
            </a:extLst>
          </p:cNvPr>
          <p:cNvSpPr/>
          <p:nvPr/>
        </p:nvSpPr>
        <p:spPr>
          <a:xfrm flipV="1">
            <a:off x="969264" y="2031677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  <p:sp>
        <p:nvSpPr>
          <p:cNvPr id="127" name="Shape 58">
            <a:extLst>
              <a:ext uri="{FF2B5EF4-FFF2-40B4-BE49-F238E27FC236}">
                <a16:creationId xmlns:a16="http://schemas.microsoft.com/office/drawing/2014/main" id="{BFF9BA33-B286-37FF-B47D-99D7DA7F0665}"/>
              </a:ext>
            </a:extLst>
          </p:cNvPr>
          <p:cNvSpPr/>
          <p:nvPr/>
        </p:nvSpPr>
        <p:spPr>
          <a:xfrm>
            <a:off x="6617634" y="2180176"/>
            <a:ext cx="4646556" cy="841248"/>
          </a:xfrm>
          <a:prstGeom prst="roundRect">
            <a:avLst>
              <a:gd name="adj" fmla="val 5435"/>
            </a:avLst>
          </a:prstGeom>
          <a:solidFill>
            <a:srgbClr val="F7FAFF">
              <a:alpha val="0"/>
            </a:srgbClr>
          </a:solidFill>
          <a:ln w="1016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9" name="Text 57"/>
          <p:cNvSpPr/>
          <p:nvPr/>
        </p:nvSpPr>
        <p:spPr>
          <a:xfrm>
            <a:off x="633222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6811608" y="2254974"/>
            <a:ext cx="419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061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_trackers[camera_id] = BOTSORT(args=cfg)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061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 = tracker.update(result.boxes, frame)</a:t>
            </a:r>
            <a:endParaRPr lang="en-US" sz="128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2F826EB3-1D14-7A04-6CFC-EF9740CCBB95}"/>
              </a:ext>
            </a:extLst>
          </p:cNvPr>
          <p:cNvGrpSpPr/>
          <p:nvPr/>
        </p:nvGrpSpPr>
        <p:grpSpPr>
          <a:xfrm>
            <a:off x="6811608" y="3066529"/>
            <a:ext cx="3827571" cy="1116175"/>
            <a:chOff x="6600697" y="2916077"/>
            <a:chExt cx="3827571" cy="1289304"/>
          </a:xfrm>
        </p:grpSpPr>
        <p:sp>
          <p:nvSpPr>
            <p:cNvPr id="64" name="Shape 62"/>
            <p:cNvSpPr/>
            <p:nvPr/>
          </p:nvSpPr>
          <p:spPr>
            <a:xfrm>
              <a:off x="6600697" y="2989229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6801865" y="2916077"/>
              <a:ext cx="2488179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카메라별로 별도의 추적기 생성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6600697" y="3318413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7" name="Text 65"/>
            <p:cNvSpPr/>
            <p:nvPr/>
          </p:nvSpPr>
          <p:spPr>
            <a:xfrm>
              <a:off x="6801865" y="3245261"/>
              <a:ext cx="3626403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여러 카메라의 추적 정보가 섞이지 않도록 구성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6600697" y="3647597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6801865" y="3574445"/>
              <a:ext cx="2763374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추적 중인 사람의 임시 상태를 관리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6600697" y="3976781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6801865" y="3903629"/>
              <a:ext cx="3178808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사전 학습 추적 모델 구조는 그대로 활용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26" name="Text 56">
            <a:extLst>
              <a:ext uri="{FF2B5EF4-FFF2-40B4-BE49-F238E27FC236}">
                <a16:creationId xmlns:a16="http://schemas.microsoft.com/office/drawing/2014/main" id="{B37A88A4-C619-7F79-D0FD-2FE904FA6342}"/>
              </a:ext>
            </a:extLst>
          </p:cNvPr>
          <p:cNvSpPr/>
          <p:nvPr/>
        </p:nvSpPr>
        <p:spPr>
          <a:xfrm>
            <a:off x="7638272" y="1666927"/>
            <a:ext cx="249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어떻게 바꿔서 사용했나?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8" name="Shape 46">
            <a:extLst>
              <a:ext uri="{FF2B5EF4-FFF2-40B4-BE49-F238E27FC236}">
                <a16:creationId xmlns:a16="http://schemas.microsoft.com/office/drawing/2014/main" id="{B199DD51-24AB-79DD-6ABC-5FDE240D2E88}"/>
              </a:ext>
            </a:extLst>
          </p:cNvPr>
          <p:cNvSpPr/>
          <p:nvPr/>
        </p:nvSpPr>
        <p:spPr>
          <a:xfrm flipV="1">
            <a:off x="6628229" y="2022140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42">
            <a:extLst>
              <a:ext uri="{FF2B5EF4-FFF2-40B4-BE49-F238E27FC236}">
                <a16:creationId xmlns:a16="http://schemas.microsoft.com/office/drawing/2014/main" id="{04E7CA98-1B8C-A35D-1F2D-BE82BB42EE95}"/>
              </a:ext>
            </a:extLst>
          </p:cNvPr>
          <p:cNvSpPr/>
          <p:nvPr/>
        </p:nvSpPr>
        <p:spPr>
          <a:xfrm>
            <a:off x="6306655" y="1383030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B6078350-C52A-6DC9-A369-8025BE1CDEFF}"/>
              </a:ext>
            </a:extLst>
          </p:cNvPr>
          <p:cNvSpPr/>
          <p:nvPr/>
        </p:nvSpPr>
        <p:spPr>
          <a:xfrm>
            <a:off x="615249" y="1385316"/>
            <a:ext cx="5287717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0" name="Shape 66">
            <a:extLst>
              <a:ext uri="{FF2B5EF4-FFF2-40B4-BE49-F238E27FC236}">
                <a16:creationId xmlns:a16="http://schemas.microsoft.com/office/drawing/2014/main" id="{9BE6CAAD-DC74-9AB2-0D71-976BDD26967F}"/>
              </a:ext>
            </a:extLst>
          </p:cNvPr>
          <p:cNvSpPr/>
          <p:nvPr/>
        </p:nvSpPr>
        <p:spPr>
          <a:xfrm>
            <a:off x="615249" y="4312555"/>
            <a:ext cx="10979121" cy="1257967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6338" y="258874"/>
            <a:ext cx="49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InsightFace · 얼굴 식별</a:t>
            </a:r>
            <a:endParaRPr lang="en-US" sz="3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569611" y="848355"/>
            <a:ext cx="5052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등록된 대상자 얼굴과 실시간 얼굴을 비교하여 식별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33222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itchFamily="34" charset="-120"/>
              </a:rPr>
              <a:t>⚙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8518B598-4447-EB4A-1BFA-603AB0B03F44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 45">
            <a:extLst>
              <a:ext uri="{FF2B5EF4-FFF2-40B4-BE49-F238E27FC236}">
                <a16:creationId xmlns:a16="http://schemas.microsoft.com/office/drawing/2014/main" id="{7A734CE5-F759-5AA2-7616-A8077F2B450A}"/>
              </a:ext>
            </a:extLst>
          </p:cNvPr>
          <p:cNvSpPr/>
          <p:nvPr/>
        </p:nvSpPr>
        <p:spPr>
          <a:xfrm>
            <a:off x="2343020" y="1666927"/>
            <a:ext cx="188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무슨 역할을 하나?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6" name="Shape 46">
            <a:extLst>
              <a:ext uri="{FF2B5EF4-FFF2-40B4-BE49-F238E27FC236}">
                <a16:creationId xmlns:a16="http://schemas.microsoft.com/office/drawing/2014/main" id="{F0E53A24-50E7-AA9A-8B09-177B798C1987}"/>
              </a:ext>
            </a:extLst>
          </p:cNvPr>
          <p:cNvSpPr/>
          <p:nvPr/>
        </p:nvSpPr>
        <p:spPr>
          <a:xfrm flipV="1">
            <a:off x="969264" y="2031677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  <p:sp>
        <p:nvSpPr>
          <p:cNvPr id="107" name="Shape 58">
            <a:extLst>
              <a:ext uri="{FF2B5EF4-FFF2-40B4-BE49-F238E27FC236}">
                <a16:creationId xmlns:a16="http://schemas.microsoft.com/office/drawing/2014/main" id="{AB324C4E-FEA4-BD61-6D77-11BA4D239785}"/>
              </a:ext>
            </a:extLst>
          </p:cNvPr>
          <p:cNvSpPr/>
          <p:nvPr/>
        </p:nvSpPr>
        <p:spPr>
          <a:xfrm>
            <a:off x="6617634" y="2180176"/>
            <a:ext cx="4646556" cy="841248"/>
          </a:xfrm>
          <a:prstGeom prst="roundRect">
            <a:avLst>
              <a:gd name="adj" fmla="val 5435"/>
            </a:avLst>
          </a:prstGeom>
          <a:solidFill>
            <a:srgbClr val="F7FAFF">
              <a:alpha val="0"/>
            </a:srgbClr>
          </a:solidFill>
          <a:ln w="1016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8" name="Text 56">
            <a:extLst>
              <a:ext uri="{FF2B5EF4-FFF2-40B4-BE49-F238E27FC236}">
                <a16:creationId xmlns:a16="http://schemas.microsoft.com/office/drawing/2014/main" id="{7CD1EE93-E4DB-6599-FC45-BA710F5B4762}"/>
              </a:ext>
            </a:extLst>
          </p:cNvPr>
          <p:cNvSpPr/>
          <p:nvPr/>
        </p:nvSpPr>
        <p:spPr>
          <a:xfrm>
            <a:off x="7638272" y="1666927"/>
            <a:ext cx="2499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어떻게 바꿔서 사용했나?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9" name="Shape 46">
            <a:extLst>
              <a:ext uri="{FF2B5EF4-FFF2-40B4-BE49-F238E27FC236}">
                <a16:creationId xmlns:a16="http://schemas.microsoft.com/office/drawing/2014/main" id="{84BC0153-C4CF-0B3F-61CE-23360262910A}"/>
              </a:ext>
            </a:extLst>
          </p:cNvPr>
          <p:cNvSpPr/>
          <p:nvPr/>
        </p:nvSpPr>
        <p:spPr>
          <a:xfrm flipV="1">
            <a:off x="6628229" y="2022140"/>
            <a:ext cx="4635961" cy="15802"/>
          </a:xfrm>
          <a:prstGeom prst="line">
            <a:avLst/>
          </a:prstGeom>
          <a:noFill/>
          <a:ln w="12700">
            <a:solidFill>
              <a:srgbClr val="1267D9"/>
            </a:solidFill>
            <a:prstDash val="solid"/>
          </a:ln>
        </p:spPr>
      </p:sp>
      <p:sp>
        <p:nvSpPr>
          <p:cNvPr id="111" name="Shape 75">
            <a:extLst>
              <a:ext uri="{FF2B5EF4-FFF2-40B4-BE49-F238E27FC236}">
                <a16:creationId xmlns:a16="http://schemas.microsoft.com/office/drawing/2014/main" id="{C55D2162-7B5F-8272-184B-5581F02AE6E5}"/>
              </a:ext>
            </a:extLst>
          </p:cNvPr>
          <p:cNvSpPr/>
          <p:nvPr/>
        </p:nvSpPr>
        <p:spPr>
          <a:xfrm>
            <a:off x="3654803" y="482629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12" name="Shape 75">
            <a:extLst>
              <a:ext uri="{FF2B5EF4-FFF2-40B4-BE49-F238E27FC236}">
                <a16:creationId xmlns:a16="http://schemas.microsoft.com/office/drawing/2014/main" id="{7B049E9A-F027-8995-B6F7-CAD2D989608A}"/>
              </a:ext>
            </a:extLst>
          </p:cNvPr>
          <p:cNvSpPr/>
          <p:nvPr/>
        </p:nvSpPr>
        <p:spPr>
          <a:xfrm>
            <a:off x="862839" y="481857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13" name="Text 77">
            <a:extLst>
              <a:ext uri="{FF2B5EF4-FFF2-40B4-BE49-F238E27FC236}">
                <a16:creationId xmlns:a16="http://schemas.microsoft.com/office/drawing/2014/main" id="{80C68C24-0295-6787-86D0-5613ADCD9A85}"/>
              </a:ext>
            </a:extLst>
          </p:cNvPr>
          <p:cNvSpPr/>
          <p:nvPr/>
        </p:nvSpPr>
        <p:spPr>
          <a:xfrm>
            <a:off x="1299337" y="487714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얼굴 검출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4" name="Text 81">
            <a:extLst>
              <a:ext uri="{FF2B5EF4-FFF2-40B4-BE49-F238E27FC236}">
                <a16:creationId xmlns:a16="http://schemas.microsoft.com/office/drawing/2014/main" id="{7F31F56A-3A08-0284-A37D-B3DBFB274A55}"/>
              </a:ext>
            </a:extLst>
          </p:cNvPr>
          <p:cNvSpPr/>
          <p:nvPr/>
        </p:nvSpPr>
        <p:spPr>
          <a:xfrm>
            <a:off x="4089143" y="4879183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특징 벡터 추출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5" name="Text 69">
            <a:extLst>
              <a:ext uri="{FF2B5EF4-FFF2-40B4-BE49-F238E27FC236}">
                <a16:creationId xmlns:a16="http://schemas.microsoft.com/office/drawing/2014/main" id="{F92012D8-5B1B-2FF5-D440-027057E461FD}"/>
              </a:ext>
            </a:extLst>
          </p:cNvPr>
          <p:cNvSpPr/>
          <p:nvPr/>
        </p:nvSpPr>
        <p:spPr>
          <a:xfrm>
            <a:off x="5643956" y="4376098"/>
            <a:ext cx="1035996" cy="36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적용 흐름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6" name="Shape 74">
            <a:extLst>
              <a:ext uri="{FF2B5EF4-FFF2-40B4-BE49-F238E27FC236}">
                <a16:creationId xmlns:a16="http://schemas.microsoft.com/office/drawing/2014/main" id="{58CE8FA6-E212-760F-D514-AC0FC0A54B7B}"/>
              </a:ext>
            </a:extLst>
          </p:cNvPr>
          <p:cNvSpPr/>
          <p:nvPr/>
        </p:nvSpPr>
        <p:spPr>
          <a:xfrm>
            <a:off x="3150040" y="4951344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17" name="Shape 75">
            <a:extLst>
              <a:ext uri="{FF2B5EF4-FFF2-40B4-BE49-F238E27FC236}">
                <a16:creationId xmlns:a16="http://schemas.microsoft.com/office/drawing/2014/main" id="{E21F0926-7E64-DB28-5359-C3909C5AD27B}"/>
              </a:ext>
            </a:extLst>
          </p:cNvPr>
          <p:cNvSpPr/>
          <p:nvPr/>
        </p:nvSpPr>
        <p:spPr>
          <a:xfrm>
            <a:off x="6444672" y="482629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18" name="Text 77">
            <a:extLst>
              <a:ext uri="{FF2B5EF4-FFF2-40B4-BE49-F238E27FC236}">
                <a16:creationId xmlns:a16="http://schemas.microsoft.com/office/drawing/2014/main" id="{65A5495A-88B0-120F-B530-91BDCF95FD89}"/>
              </a:ext>
            </a:extLst>
          </p:cNvPr>
          <p:cNvSpPr/>
          <p:nvPr/>
        </p:nvSpPr>
        <p:spPr>
          <a:xfrm>
            <a:off x="6881170" y="488486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등록 얼굴과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유사도 비교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9" name="Shape 74">
            <a:extLst>
              <a:ext uri="{FF2B5EF4-FFF2-40B4-BE49-F238E27FC236}">
                <a16:creationId xmlns:a16="http://schemas.microsoft.com/office/drawing/2014/main" id="{79D0834F-FB73-3CAB-5593-0D5C5AA791C2}"/>
              </a:ext>
            </a:extLst>
          </p:cNvPr>
          <p:cNvSpPr/>
          <p:nvPr/>
        </p:nvSpPr>
        <p:spPr>
          <a:xfrm>
            <a:off x="8731873" y="4959064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20" name="Shape 74">
            <a:extLst>
              <a:ext uri="{FF2B5EF4-FFF2-40B4-BE49-F238E27FC236}">
                <a16:creationId xmlns:a16="http://schemas.microsoft.com/office/drawing/2014/main" id="{48C97FD0-44E9-7AAD-F855-B82DD93101C2}"/>
              </a:ext>
            </a:extLst>
          </p:cNvPr>
          <p:cNvSpPr/>
          <p:nvPr/>
        </p:nvSpPr>
        <p:spPr>
          <a:xfrm>
            <a:off x="5939773" y="4949827"/>
            <a:ext cx="357339" cy="318404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21" name="Shape 75">
            <a:extLst>
              <a:ext uri="{FF2B5EF4-FFF2-40B4-BE49-F238E27FC236}">
                <a16:creationId xmlns:a16="http://schemas.microsoft.com/office/drawing/2014/main" id="{7AB9415D-87F5-D7FE-2089-173AE7CACAFE}"/>
              </a:ext>
            </a:extLst>
          </p:cNvPr>
          <p:cNvSpPr/>
          <p:nvPr/>
        </p:nvSpPr>
        <p:spPr>
          <a:xfrm>
            <a:off x="9234541" y="4818571"/>
            <a:ext cx="2137410" cy="59436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122" name="Text 77">
            <a:extLst>
              <a:ext uri="{FF2B5EF4-FFF2-40B4-BE49-F238E27FC236}">
                <a16:creationId xmlns:a16="http://schemas.microsoft.com/office/drawing/2014/main" id="{B75D526C-E9E2-A58F-5384-4830AB82B677}"/>
              </a:ext>
            </a:extLst>
          </p:cNvPr>
          <p:cNvSpPr/>
          <p:nvPr/>
        </p:nvSpPr>
        <p:spPr>
          <a:xfrm>
            <a:off x="9671039" y="4877148"/>
            <a:ext cx="126873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대상자 식별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B564210B-9FD2-0382-F14A-49D59348DDFA}"/>
              </a:ext>
            </a:extLst>
          </p:cNvPr>
          <p:cNvGrpSpPr/>
          <p:nvPr/>
        </p:nvGrpSpPr>
        <p:grpSpPr>
          <a:xfrm>
            <a:off x="1010605" y="2208668"/>
            <a:ext cx="3797701" cy="1827587"/>
            <a:chOff x="841248" y="2331720"/>
            <a:chExt cx="3797701" cy="1902723"/>
          </a:xfrm>
        </p:grpSpPr>
        <p:sp>
          <p:nvSpPr>
            <p:cNvPr id="124" name="Shape 47">
              <a:extLst>
                <a:ext uri="{FF2B5EF4-FFF2-40B4-BE49-F238E27FC236}">
                  <a16:creationId xmlns:a16="http://schemas.microsoft.com/office/drawing/2014/main" id="{2B01EA32-E4CA-24BD-9AAE-784B9AC251C6}"/>
                </a:ext>
              </a:extLst>
            </p:cNvPr>
            <p:cNvSpPr/>
            <p:nvPr/>
          </p:nvSpPr>
          <p:spPr>
            <a:xfrm>
              <a:off x="841248" y="2404872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25" name="Text 48">
              <a:extLst>
                <a:ext uri="{FF2B5EF4-FFF2-40B4-BE49-F238E27FC236}">
                  <a16:creationId xmlns:a16="http://schemas.microsoft.com/office/drawing/2014/main" id="{B8E799A0-E905-0159-5235-24267F0631DD}"/>
                </a:ext>
              </a:extLst>
            </p:cNvPr>
            <p:cNvSpPr/>
            <p:nvPr/>
          </p:nvSpPr>
          <p:spPr>
            <a:xfrm>
              <a:off x="1042416" y="2331720"/>
              <a:ext cx="3596533" cy="3425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사람 영역에서 얼굴을 검출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6" name="Shape 49">
              <a:extLst>
                <a:ext uri="{FF2B5EF4-FFF2-40B4-BE49-F238E27FC236}">
                  <a16:creationId xmlns:a16="http://schemas.microsoft.com/office/drawing/2014/main" id="{5A3A356D-F725-E57F-83E5-96A2DFF7732A}"/>
                </a:ext>
              </a:extLst>
            </p:cNvPr>
            <p:cNvSpPr/>
            <p:nvPr/>
          </p:nvSpPr>
          <p:spPr>
            <a:xfrm>
              <a:off x="841248" y="2935224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27" name="Text 50">
              <a:extLst>
                <a:ext uri="{FF2B5EF4-FFF2-40B4-BE49-F238E27FC236}">
                  <a16:creationId xmlns:a16="http://schemas.microsoft.com/office/drawing/2014/main" id="{A1036BDC-421E-74D8-E4C9-5E935FEB56EC}"/>
                </a:ext>
              </a:extLst>
            </p:cNvPr>
            <p:cNvSpPr/>
            <p:nvPr/>
          </p:nvSpPr>
          <p:spPr>
            <a:xfrm>
              <a:off x="1042416" y="2862072"/>
              <a:ext cx="2877370" cy="31581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얼굴을 특징 벡터로 변환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8" name="Shape 51">
              <a:extLst>
                <a:ext uri="{FF2B5EF4-FFF2-40B4-BE49-F238E27FC236}">
                  <a16:creationId xmlns:a16="http://schemas.microsoft.com/office/drawing/2014/main" id="{5AB92B0F-F509-6DEA-B257-35DF099823AC}"/>
                </a:ext>
              </a:extLst>
            </p:cNvPr>
            <p:cNvSpPr/>
            <p:nvPr/>
          </p:nvSpPr>
          <p:spPr>
            <a:xfrm>
              <a:off x="841248" y="3465576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29" name="Text 52">
              <a:extLst>
                <a:ext uri="{FF2B5EF4-FFF2-40B4-BE49-F238E27FC236}">
                  <a16:creationId xmlns:a16="http://schemas.microsoft.com/office/drawing/2014/main" id="{EBF10B03-313B-5094-5351-5D819FF6B20D}"/>
                </a:ext>
              </a:extLst>
            </p:cNvPr>
            <p:cNvSpPr/>
            <p:nvPr/>
          </p:nvSpPr>
          <p:spPr>
            <a:xfrm>
              <a:off x="1042416" y="3392424"/>
              <a:ext cx="3515026" cy="36343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등록 대상자와 실시간 얼굴을 유사도로 비교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0" name="Shape 53">
              <a:extLst>
                <a:ext uri="{FF2B5EF4-FFF2-40B4-BE49-F238E27FC236}">
                  <a16:creationId xmlns:a16="http://schemas.microsoft.com/office/drawing/2014/main" id="{9BFF61BA-5684-FD88-F04E-F056B2D3BCCF}"/>
                </a:ext>
              </a:extLst>
            </p:cNvPr>
            <p:cNvSpPr/>
            <p:nvPr/>
          </p:nvSpPr>
          <p:spPr>
            <a:xfrm>
              <a:off x="841248" y="3995928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31" name="Text 54">
              <a:extLst>
                <a:ext uri="{FF2B5EF4-FFF2-40B4-BE49-F238E27FC236}">
                  <a16:creationId xmlns:a16="http://schemas.microsoft.com/office/drawing/2014/main" id="{C3B62593-7C45-367A-719A-D7312EA4918E}"/>
                </a:ext>
              </a:extLst>
            </p:cNvPr>
            <p:cNvSpPr/>
            <p:nvPr/>
          </p:nvSpPr>
          <p:spPr>
            <a:xfrm>
              <a:off x="1042416" y="3922776"/>
              <a:ext cx="3285267" cy="311667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5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일치하면 대상자 ID와 결과를 반환</a:t>
              </a:r>
              <a:endParaRPr lang="en-US" altLang="ko-KR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32" name="Shape 58">
            <a:extLst>
              <a:ext uri="{FF2B5EF4-FFF2-40B4-BE49-F238E27FC236}">
                <a16:creationId xmlns:a16="http://schemas.microsoft.com/office/drawing/2014/main" id="{2C2F2A02-A542-979E-360A-7774EC1671D6}"/>
              </a:ext>
            </a:extLst>
          </p:cNvPr>
          <p:cNvSpPr/>
          <p:nvPr/>
        </p:nvSpPr>
        <p:spPr>
          <a:xfrm>
            <a:off x="6617634" y="2180176"/>
            <a:ext cx="4646556" cy="841248"/>
          </a:xfrm>
          <a:prstGeom prst="roundRect">
            <a:avLst>
              <a:gd name="adj" fmla="val 5435"/>
            </a:avLst>
          </a:prstGeom>
          <a:solidFill>
            <a:srgbClr val="F7FAFF">
              <a:alpha val="0"/>
            </a:srgbClr>
          </a:solidFill>
          <a:ln w="1016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3" name="Text 61">
            <a:extLst>
              <a:ext uri="{FF2B5EF4-FFF2-40B4-BE49-F238E27FC236}">
                <a16:creationId xmlns:a16="http://schemas.microsoft.com/office/drawing/2014/main" id="{2D14B808-7BC4-85EA-627A-E668D0F8D27E}"/>
              </a:ext>
            </a:extLst>
          </p:cNvPr>
          <p:cNvSpPr/>
          <p:nvPr/>
        </p:nvSpPr>
        <p:spPr>
          <a:xfrm>
            <a:off x="6811608" y="2254974"/>
            <a:ext cx="419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2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app = FaceAnalysis(name="buffalo_l", ... )</a:t>
            </a:r>
            <a:endParaRPr lang="en-US" altLang="ko-KR" sz="12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28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IDENTIFY_THRESHOLD = 0.45</a:t>
            </a:r>
            <a:endParaRPr lang="en-US" altLang="ko-KR" sz="128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002F4C6-81C5-7C08-5432-42139129F24E}"/>
              </a:ext>
            </a:extLst>
          </p:cNvPr>
          <p:cNvGrpSpPr/>
          <p:nvPr/>
        </p:nvGrpSpPr>
        <p:grpSpPr>
          <a:xfrm>
            <a:off x="6811608" y="3066529"/>
            <a:ext cx="3827571" cy="1116175"/>
            <a:chOff x="6600697" y="2916077"/>
            <a:chExt cx="3827571" cy="1289304"/>
          </a:xfrm>
        </p:grpSpPr>
        <p:sp>
          <p:nvSpPr>
            <p:cNvPr id="135" name="Shape 62">
              <a:extLst>
                <a:ext uri="{FF2B5EF4-FFF2-40B4-BE49-F238E27FC236}">
                  <a16:creationId xmlns:a16="http://schemas.microsoft.com/office/drawing/2014/main" id="{7419FC93-D772-79D3-F508-8C8FAB051416}"/>
                </a:ext>
              </a:extLst>
            </p:cNvPr>
            <p:cNvSpPr/>
            <p:nvPr/>
          </p:nvSpPr>
          <p:spPr>
            <a:xfrm>
              <a:off x="6600697" y="2989229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36" name="Text 63">
              <a:extLst>
                <a:ext uri="{FF2B5EF4-FFF2-40B4-BE49-F238E27FC236}">
                  <a16:creationId xmlns:a16="http://schemas.microsoft.com/office/drawing/2014/main" id="{A229C81D-428E-C164-F2F5-0456096BB6BF}"/>
                </a:ext>
              </a:extLst>
            </p:cNvPr>
            <p:cNvSpPr/>
            <p:nvPr/>
          </p:nvSpPr>
          <p:spPr>
            <a:xfrm>
              <a:off x="6801865" y="2916077"/>
              <a:ext cx="2488179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사전 학습 얼굴 인식 모델 사용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7" name="Shape 64">
              <a:extLst>
                <a:ext uri="{FF2B5EF4-FFF2-40B4-BE49-F238E27FC236}">
                  <a16:creationId xmlns:a16="http://schemas.microsoft.com/office/drawing/2014/main" id="{CEF6D7EC-45BD-ED0B-D5FF-2F852653F232}"/>
                </a:ext>
              </a:extLst>
            </p:cNvPr>
            <p:cNvSpPr/>
            <p:nvPr/>
          </p:nvSpPr>
          <p:spPr>
            <a:xfrm>
              <a:off x="6600697" y="3318413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38" name="Text 65">
              <a:extLst>
                <a:ext uri="{FF2B5EF4-FFF2-40B4-BE49-F238E27FC236}">
                  <a16:creationId xmlns:a16="http://schemas.microsoft.com/office/drawing/2014/main" id="{28EC3CCF-D7E8-FF98-2D0C-DA4F164E17A0}"/>
                </a:ext>
              </a:extLst>
            </p:cNvPr>
            <p:cNvSpPr/>
            <p:nvPr/>
          </p:nvSpPr>
          <p:spPr>
            <a:xfrm>
              <a:off x="6801865" y="3245261"/>
              <a:ext cx="3626403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등록 얼굴을 특징 벡터로 저장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39" name="Shape 66">
              <a:extLst>
                <a:ext uri="{FF2B5EF4-FFF2-40B4-BE49-F238E27FC236}">
                  <a16:creationId xmlns:a16="http://schemas.microsoft.com/office/drawing/2014/main" id="{850F774C-04A1-0AB7-31DE-1713F2A68289}"/>
                </a:ext>
              </a:extLst>
            </p:cNvPr>
            <p:cNvSpPr/>
            <p:nvPr/>
          </p:nvSpPr>
          <p:spPr>
            <a:xfrm>
              <a:off x="6600697" y="3647597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40" name="Text 67">
              <a:extLst>
                <a:ext uri="{FF2B5EF4-FFF2-40B4-BE49-F238E27FC236}">
                  <a16:creationId xmlns:a16="http://schemas.microsoft.com/office/drawing/2014/main" id="{DE5DD3CB-FC00-FB60-24D9-697B94A2C55A}"/>
                </a:ext>
              </a:extLst>
            </p:cNvPr>
            <p:cNvSpPr/>
            <p:nvPr/>
          </p:nvSpPr>
          <p:spPr>
            <a:xfrm>
              <a:off x="6801865" y="3574445"/>
              <a:ext cx="2763374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유사도 0.45 이상이면 동일 대상자로 판단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1" name="Shape 68">
              <a:extLst>
                <a:ext uri="{FF2B5EF4-FFF2-40B4-BE49-F238E27FC236}">
                  <a16:creationId xmlns:a16="http://schemas.microsoft.com/office/drawing/2014/main" id="{2FBDE068-D38D-FA3D-7D5B-8DD890972C1C}"/>
                </a:ext>
              </a:extLst>
            </p:cNvPr>
            <p:cNvSpPr/>
            <p:nvPr/>
          </p:nvSpPr>
          <p:spPr>
            <a:xfrm>
              <a:off x="6600697" y="3976781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42" name="Text 69">
              <a:extLst>
                <a:ext uri="{FF2B5EF4-FFF2-40B4-BE49-F238E27FC236}">
                  <a16:creationId xmlns:a16="http://schemas.microsoft.com/office/drawing/2014/main" id="{F5FB9DA7-1515-A8D2-5CED-FB55FCD39CFC}"/>
                </a:ext>
              </a:extLst>
            </p:cNvPr>
            <p:cNvSpPr/>
            <p:nvPr/>
          </p:nvSpPr>
          <p:spPr>
            <a:xfrm>
              <a:off x="6801865" y="3903629"/>
              <a:ext cx="3178808" cy="30175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altLang="ko-KR" sz="110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모델 재학습 없이 비교 기준만 조정</a:t>
              </a:r>
              <a:endPara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057192ED-929C-E3DD-9632-ABB428EB6AF9}"/>
              </a:ext>
            </a:extLst>
          </p:cNvPr>
          <p:cNvGrpSpPr/>
          <p:nvPr/>
        </p:nvGrpSpPr>
        <p:grpSpPr>
          <a:xfrm>
            <a:off x="606235" y="5703327"/>
            <a:ext cx="10979123" cy="475488"/>
            <a:chOff x="606235" y="5693053"/>
            <a:chExt cx="10979123" cy="475488"/>
          </a:xfrm>
        </p:grpSpPr>
        <p:sp>
          <p:nvSpPr>
            <p:cNvPr id="145" name="Shape 82">
              <a:extLst>
                <a:ext uri="{FF2B5EF4-FFF2-40B4-BE49-F238E27FC236}">
                  <a16:creationId xmlns:a16="http://schemas.microsoft.com/office/drawing/2014/main" id="{16DEA6B5-8B43-A048-7F35-F52FEC46EDEC}"/>
                </a:ext>
              </a:extLst>
            </p:cNvPr>
            <p:cNvSpPr/>
            <p:nvPr/>
          </p:nvSpPr>
          <p:spPr>
            <a:xfrm>
              <a:off x="606235" y="5693053"/>
              <a:ext cx="10979123" cy="475488"/>
            </a:xfrm>
            <a:prstGeom prst="roundRect">
              <a:avLst>
                <a:gd name="adj" fmla="val 11538"/>
              </a:avLst>
            </a:prstGeom>
            <a:solidFill>
              <a:srgbClr val="F7FAFF">
                <a:alpha val="0"/>
              </a:srgbClr>
            </a:solidFill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46" name="Shape 83">
              <a:extLst>
                <a:ext uri="{FF2B5EF4-FFF2-40B4-BE49-F238E27FC236}">
                  <a16:creationId xmlns:a16="http://schemas.microsoft.com/office/drawing/2014/main" id="{33FD09E2-C79C-DD4B-3D44-28DE9A9687A5}"/>
                </a:ext>
              </a:extLst>
            </p:cNvPr>
            <p:cNvSpPr/>
            <p:nvPr/>
          </p:nvSpPr>
          <p:spPr>
            <a:xfrm>
              <a:off x="816547" y="5793637"/>
              <a:ext cx="274320" cy="274320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47" name="Text 84">
              <a:extLst>
                <a:ext uri="{FF2B5EF4-FFF2-40B4-BE49-F238E27FC236}">
                  <a16:creationId xmlns:a16="http://schemas.microsoft.com/office/drawing/2014/main" id="{07954B40-B61E-4F9C-3CB9-A945A713F537}"/>
                </a:ext>
              </a:extLst>
            </p:cNvPr>
            <p:cNvSpPr/>
            <p:nvPr/>
          </p:nvSpPr>
          <p:spPr>
            <a:xfrm>
              <a:off x="834835" y="5811925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Arial" pitchFamily="34" charset="-120"/>
                </a:rPr>
                <a:t>★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8" name="Text 85">
              <a:extLst>
                <a:ext uri="{FF2B5EF4-FFF2-40B4-BE49-F238E27FC236}">
                  <a16:creationId xmlns:a16="http://schemas.microsoft.com/office/drawing/2014/main" id="{D56F4246-B37F-1E1C-9552-86EE8ABB4656}"/>
                </a:ext>
              </a:extLst>
            </p:cNvPr>
            <p:cNvSpPr/>
            <p:nvPr/>
          </p:nvSpPr>
          <p:spPr>
            <a:xfrm>
              <a:off x="1200595" y="5802781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800" b="1" dirty="0">
                  <a:solidFill>
                    <a:srgbClr val="0958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핵심 정리</a:t>
              </a:r>
              <a:endPara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49" name="Shape 86">
              <a:extLst>
                <a:ext uri="{FF2B5EF4-FFF2-40B4-BE49-F238E27FC236}">
                  <a16:creationId xmlns:a16="http://schemas.microsoft.com/office/drawing/2014/main" id="{EDE9D7EB-CF74-24CE-4E18-2D8357BF9BD6}"/>
                </a:ext>
              </a:extLst>
            </p:cNvPr>
            <p:cNvSpPr/>
            <p:nvPr/>
          </p:nvSpPr>
          <p:spPr>
            <a:xfrm>
              <a:off x="2617915" y="5802781"/>
              <a:ext cx="0" cy="256032"/>
            </a:xfrm>
            <a:prstGeom prst="line">
              <a:avLst/>
            </a:prstGeom>
            <a:noFill/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50" name="Text 87">
              <a:extLst>
                <a:ext uri="{FF2B5EF4-FFF2-40B4-BE49-F238E27FC236}">
                  <a16:creationId xmlns:a16="http://schemas.microsoft.com/office/drawing/2014/main" id="{31823916-8E66-AC44-F899-359488A9443D}"/>
                </a:ext>
              </a:extLst>
            </p:cNvPr>
            <p:cNvSpPr/>
            <p:nvPr/>
          </p:nvSpPr>
          <p:spPr>
            <a:xfrm>
              <a:off x="2892234" y="5793637"/>
              <a:ext cx="8479717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altLang="ko-KR" sz="138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InsightFace는 등록된 얼굴 특징값과 실시간 얼굴을 비교하는 방식으로 사용되며, 유사도 기준을 프로젝트에 맞게 적용하였다.</a:t>
              </a:r>
              <a:endParaRPr lang="en-US" altLang="ko-KR" sz="138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42">
            <a:extLst>
              <a:ext uri="{FF2B5EF4-FFF2-40B4-BE49-F238E27FC236}">
                <a16:creationId xmlns:a16="http://schemas.microsoft.com/office/drawing/2014/main" id="{5988D40A-7C9C-08E5-6FFC-7B5FF0BFD1E5}"/>
              </a:ext>
            </a:extLst>
          </p:cNvPr>
          <p:cNvSpPr/>
          <p:nvPr/>
        </p:nvSpPr>
        <p:spPr>
          <a:xfrm>
            <a:off x="615250" y="1385316"/>
            <a:ext cx="3261806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9" name="Shape 42">
            <a:extLst>
              <a:ext uri="{FF2B5EF4-FFF2-40B4-BE49-F238E27FC236}">
                <a16:creationId xmlns:a16="http://schemas.microsoft.com/office/drawing/2014/main" id="{6FBEED8B-DFFF-36E5-4B63-2DF86AD53959}"/>
              </a:ext>
            </a:extLst>
          </p:cNvPr>
          <p:cNvSpPr/>
          <p:nvPr/>
        </p:nvSpPr>
        <p:spPr>
          <a:xfrm>
            <a:off x="4465097" y="1370716"/>
            <a:ext cx="3261806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8" name="Shape 42">
            <a:extLst>
              <a:ext uri="{FF2B5EF4-FFF2-40B4-BE49-F238E27FC236}">
                <a16:creationId xmlns:a16="http://schemas.microsoft.com/office/drawing/2014/main" id="{F074BE17-ABE9-FF59-5692-30B34BFCCF5C}"/>
              </a:ext>
            </a:extLst>
          </p:cNvPr>
          <p:cNvSpPr/>
          <p:nvPr/>
        </p:nvSpPr>
        <p:spPr>
          <a:xfrm>
            <a:off x="8318085" y="1382781"/>
            <a:ext cx="3261806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6" name="Shape 66">
            <a:extLst>
              <a:ext uri="{FF2B5EF4-FFF2-40B4-BE49-F238E27FC236}">
                <a16:creationId xmlns:a16="http://schemas.microsoft.com/office/drawing/2014/main" id="{146F5C5B-7226-6207-C1FD-84BFCEFD0F74}"/>
              </a:ext>
            </a:extLst>
          </p:cNvPr>
          <p:cNvSpPr/>
          <p:nvPr/>
        </p:nvSpPr>
        <p:spPr>
          <a:xfrm>
            <a:off x="615249" y="4312555"/>
            <a:ext cx="10979121" cy="1257967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13970">
            <a:solidFill>
              <a:srgbClr val="1267D9"/>
            </a:solidFill>
            <a:prstDash val="solid"/>
          </a:ln>
        </p:spPr>
      </p:sp>
      <p:sp>
        <p:nvSpPr>
          <p:cNvPr id="168" name="Shape 75">
            <a:extLst>
              <a:ext uri="{FF2B5EF4-FFF2-40B4-BE49-F238E27FC236}">
                <a16:creationId xmlns:a16="http://schemas.microsoft.com/office/drawing/2014/main" id="{B8086783-0780-FA85-88DF-E7000E758A85}"/>
              </a:ext>
            </a:extLst>
          </p:cNvPr>
          <p:cNvSpPr/>
          <p:nvPr/>
        </p:nvSpPr>
        <p:spPr>
          <a:xfrm>
            <a:off x="9234541" y="4818571"/>
            <a:ext cx="2137410" cy="585636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7610" y="258961"/>
            <a:ext cx="43782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추가 가공 및 시스템 연결</a:t>
            </a:r>
            <a:endParaRPr lang="en-US" sz="3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40232" y="847871"/>
            <a:ext cx="5123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세 모델을 연결하고, 프로젝트 목적에 맞게 처리 로직을 추가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54667" y="1601257"/>
            <a:ext cx="2204219" cy="400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등록 얼굴 데이터 가공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50006" y="2212848"/>
            <a:ext cx="2606040" cy="731520"/>
          </a:xfrm>
          <a:prstGeom prst="roundRect">
            <a:avLst>
              <a:gd name="adj" fmla="val 6250"/>
            </a:avLst>
          </a:prstGeom>
          <a:solidFill>
            <a:srgbClr val="F7FAFF">
              <a:alpha val="0"/>
            </a:srgbClr>
          </a:solidFill>
          <a:ln w="10160">
            <a:solidFill>
              <a:srgbClr val="1267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1993" y="2275631"/>
            <a:ext cx="242233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mean_vector = new_vector_sum / new_count</a:t>
            </a:r>
            <a:endParaRPr lang="en-US" sz="10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sz="102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new_norm_embedding = mean_vector /</a:t>
            </a:r>
            <a:endParaRPr lang="en-US" sz="10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en-US" sz="1020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onsolas" pitchFamily="34" charset="-120"/>
              </a:rPr>
              <a:t>    np.linalg.norm(mean_vector)</a:t>
            </a:r>
            <a:endParaRPr lang="en-US" sz="102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CF5DCB3-AA1E-25F4-493A-A8E3F7D17CDD}"/>
              </a:ext>
            </a:extLst>
          </p:cNvPr>
          <p:cNvGrpSpPr/>
          <p:nvPr/>
        </p:nvGrpSpPr>
        <p:grpSpPr>
          <a:xfrm>
            <a:off x="865594" y="3184372"/>
            <a:ext cx="2807208" cy="609229"/>
            <a:chOff x="865594" y="3184372"/>
            <a:chExt cx="2807208" cy="609229"/>
          </a:xfrm>
        </p:grpSpPr>
        <p:sp>
          <p:nvSpPr>
            <p:cNvPr id="51" name="Shape 49"/>
            <p:cNvSpPr/>
            <p:nvPr/>
          </p:nvSpPr>
          <p:spPr>
            <a:xfrm>
              <a:off x="865594" y="3236976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1066762" y="3184372"/>
              <a:ext cx="2606040" cy="24572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여러 등록 사진의 특징값을 평균 내어 저장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865594" y="3621024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1066762" y="3547872"/>
              <a:ext cx="2542032" cy="24572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한 장보다 안정적인 얼굴 비교 가능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57" name="Text 55"/>
          <p:cNvSpPr/>
          <p:nvPr/>
        </p:nvSpPr>
        <p:spPr>
          <a:xfrm>
            <a:off x="445770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itchFamily="34" charset="-120"/>
              </a:rPr>
              <a:t>↻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200974" y="1635610"/>
            <a:ext cx="17515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실시간 처리 방식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9864930E-EB1E-30A1-C37B-561969EAE95F}"/>
              </a:ext>
            </a:extLst>
          </p:cNvPr>
          <p:cNvGrpSpPr/>
          <p:nvPr/>
        </p:nvGrpSpPr>
        <p:grpSpPr>
          <a:xfrm>
            <a:off x="4638871" y="2249376"/>
            <a:ext cx="2925270" cy="1124712"/>
            <a:chOff x="4694616" y="2352051"/>
            <a:chExt cx="2925270" cy="1124712"/>
          </a:xfrm>
        </p:grpSpPr>
        <p:sp>
          <p:nvSpPr>
            <p:cNvPr id="60" name="Shape 58"/>
            <p:cNvSpPr/>
            <p:nvPr/>
          </p:nvSpPr>
          <p:spPr>
            <a:xfrm>
              <a:off x="4694616" y="2425203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4895783" y="2352051"/>
              <a:ext cx="2724103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얼굴 인식을 비동기 처리하여 영상 지연 감소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4694616" y="2809251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4895784" y="2736099"/>
              <a:ext cx="2542032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탐지 결과를 일정 주기로 재확인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4694616" y="3193299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4895784" y="3120147"/>
              <a:ext cx="2542032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확인된 대상자 정보는 화면에 표시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68" name="Text 66"/>
          <p:cNvSpPr/>
          <p:nvPr/>
        </p:nvSpPr>
        <p:spPr>
          <a:xfrm>
            <a:off x="806958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itchFamily="34" charset="-120"/>
              </a:rPr>
              <a:t>▧</a:t>
            </a:r>
            <a:endParaRPr lang="en-US" sz="17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115292" y="1645920"/>
            <a:ext cx="166739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관제 시스템 연동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12890CA-C724-4A3F-F40D-884740CCA2F0}"/>
              </a:ext>
            </a:extLst>
          </p:cNvPr>
          <p:cNvGrpSpPr/>
          <p:nvPr/>
        </p:nvGrpSpPr>
        <p:grpSpPr>
          <a:xfrm>
            <a:off x="8538015" y="2212848"/>
            <a:ext cx="2821944" cy="1124712"/>
            <a:chOff x="8542572" y="2252730"/>
            <a:chExt cx="2821944" cy="1124712"/>
          </a:xfrm>
        </p:grpSpPr>
        <p:sp>
          <p:nvSpPr>
            <p:cNvPr id="71" name="Shape 69"/>
            <p:cNvSpPr/>
            <p:nvPr/>
          </p:nvSpPr>
          <p:spPr>
            <a:xfrm>
              <a:off x="8542572" y="2325882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8743740" y="2252730"/>
              <a:ext cx="2542032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탐지 결과를 대시보드와 지도에 반영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8542572" y="2709930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8743740" y="2636778"/>
              <a:ext cx="2620776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발견 시간·위치·캡처 이미지를 이벤트 로그에 저장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5" name="Shape 73"/>
            <p:cNvSpPr/>
            <p:nvPr/>
          </p:nvSpPr>
          <p:spPr>
            <a:xfrm>
              <a:off x="8542572" y="3093978"/>
              <a:ext cx="59436" cy="59436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76" name="Text 74"/>
            <p:cNvSpPr/>
            <p:nvPr/>
          </p:nvSpPr>
          <p:spPr>
            <a:xfrm>
              <a:off x="8743740" y="3020826"/>
              <a:ext cx="2542032" cy="35661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경고 표시로 관제자가 빠르게 확인 가능</a:t>
              </a:r>
              <a:endParaRPr lang="en-US" sz="124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82" name="Shape 80"/>
          <p:cNvSpPr/>
          <p:nvPr/>
        </p:nvSpPr>
        <p:spPr>
          <a:xfrm>
            <a:off x="859589" y="4823460"/>
            <a:ext cx="1508760" cy="582442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17438" y="4876937"/>
            <a:ext cx="79306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영상 입력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29726" y="4956505"/>
            <a:ext cx="256032" cy="331688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48940" y="4823460"/>
            <a:ext cx="1508760" cy="580747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54225" y="4922057"/>
            <a:ext cx="1087978" cy="3852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YOLO 탐지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5040053" y="4815306"/>
            <a:ext cx="1508760" cy="580747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33771" y="4937634"/>
            <a:ext cx="1321324" cy="3694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BoT-SORT 추적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127600" y="4824626"/>
            <a:ext cx="1508760" cy="582442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7D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76776" y="4937634"/>
            <a:ext cx="1408176" cy="371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InsightFace 식별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9308908" y="4952164"/>
            <a:ext cx="1988676" cy="3403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ko-KR" sz="1350" dirty="0">
                <a:solidFill>
                  <a:srgbClr val="101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위치 표시·경고·로그 저장</a:t>
            </a:r>
            <a:endParaRPr lang="en-US" altLang="ko-KR" sz="135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CB2C907D-F930-12A6-8916-7E31B81868A9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6B9E651D-2049-71F2-E933-E125AF80F441}"/>
              </a:ext>
            </a:extLst>
          </p:cNvPr>
          <p:cNvGrpSpPr/>
          <p:nvPr/>
        </p:nvGrpSpPr>
        <p:grpSpPr>
          <a:xfrm>
            <a:off x="606235" y="5703327"/>
            <a:ext cx="10979123" cy="475488"/>
            <a:chOff x="606235" y="5693053"/>
            <a:chExt cx="10979123" cy="475488"/>
          </a:xfrm>
        </p:grpSpPr>
        <p:sp>
          <p:nvSpPr>
            <p:cNvPr id="148" name="Shape 82">
              <a:extLst>
                <a:ext uri="{FF2B5EF4-FFF2-40B4-BE49-F238E27FC236}">
                  <a16:creationId xmlns:a16="http://schemas.microsoft.com/office/drawing/2014/main" id="{8CE82FB7-FE84-53DB-2101-9A0A8FEAA064}"/>
                </a:ext>
              </a:extLst>
            </p:cNvPr>
            <p:cNvSpPr/>
            <p:nvPr/>
          </p:nvSpPr>
          <p:spPr>
            <a:xfrm>
              <a:off x="606235" y="5693053"/>
              <a:ext cx="10979123" cy="475488"/>
            </a:xfrm>
            <a:prstGeom prst="roundRect">
              <a:avLst>
                <a:gd name="adj" fmla="val 11538"/>
              </a:avLst>
            </a:prstGeom>
            <a:solidFill>
              <a:srgbClr val="F7FAFF">
                <a:alpha val="0"/>
              </a:srgbClr>
            </a:solidFill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49" name="Shape 83">
              <a:extLst>
                <a:ext uri="{FF2B5EF4-FFF2-40B4-BE49-F238E27FC236}">
                  <a16:creationId xmlns:a16="http://schemas.microsoft.com/office/drawing/2014/main" id="{12E4683B-886C-B934-97FC-4EE655A72671}"/>
                </a:ext>
              </a:extLst>
            </p:cNvPr>
            <p:cNvSpPr/>
            <p:nvPr/>
          </p:nvSpPr>
          <p:spPr>
            <a:xfrm>
              <a:off x="816547" y="5793637"/>
              <a:ext cx="274320" cy="274320"/>
            </a:xfrm>
            <a:prstGeom prst="ellipse">
              <a:avLst/>
            </a:prstGeom>
            <a:solidFill>
              <a:srgbClr val="0958C7"/>
            </a:solidFill>
            <a:ln w="12700">
              <a:solidFill>
                <a:srgbClr val="0958C7"/>
              </a:solidFill>
              <a:prstDash val="solid"/>
            </a:ln>
          </p:spPr>
        </p:sp>
        <p:sp>
          <p:nvSpPr>
            <p:cNvPr id="150" name="Text 84">
              <a:extLst>
                <a:ext uri="{FF2B5EF4-FFF2-40B4-BE49-F238E27FC236}">
                  <a16:creationId xmlns:a16="http://schemas.microsoft.com/office/drawing/2014/main" id="{B5FAC457-C594-2845-4B86-10F1E6527EA8}"/>
                </a:ext>
              </a:extLst>
            </p:cNvPr>
            <p:cNvSpPr/>
            <p:nvPr/>
          </p:nvSpPr>
          <p:spPr>
            <a:xfrm>
              <a:off x="834835" y="5811925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Arial" pitchFamily="34" charset="-120"/>
                </a:rPr>
                <a:t>★</a:t>
              </a:r>
              <a:endParaRPr 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1" name="Text 85">
              <a:extLst>
                <a:ext uri="{FF2B5EF4-FFF2-40B4-BE49-F238E27FC236}">
                  <a16:creationId xmlns:a16="http://schemas.microsoft.com/office/drawing/2014/main" id="{A5339283-81AC-0833-D8D8-62481B367BF5}"/>
                </a:ext>
              </a:extLst>
            </p:cNvPr>
            <p:cNvSpPr/>
            <p:nvPr/>
          </p:nvSpPr>
          <p:spPr>
            <a:xfrm>
              <a:off x="1200595" y="5802781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800" b="1" dirty="0">
                  <a:solidFill>
                    <a:srgbClr val="0958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핵심 정리</a:t>
              </a:r>
              <a:endPara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52" name="Shape 86">
              <a:extLst>
                <a:ext uri="{FF2B5EF4-FFF2-40B4-BE49-F238E27FC236}">
                  <a16:creationId xmlns:a16="http://schemas.microsoft.com/office/drawing/2014/main" id="{11BA04C4-69B7-49C4-F61B-AAD8DF8A98DA}"/>
                </a:ext>
              </a:extLst>
            </p:cNvPr>
            <p:cNvSpPr/>
            <p:nvPr/>
          </p:nvSpPr>
          <p:spPr>
            <a:xfrm>
              <a:off x="2617915" y="5802781"/>
              <a:ext cx="0" cy="256032"/>
            </a:xfrm>
            <a:prstGeom prst="line">
              <a:avLst/>
            </a:prstGeom>
            <a:noFill/>
            <a:ln w="12700">
              <a:solidFill>
                <a:srgbClr val="1267D9"/>
              </a:solidFill>
              <a:prstDash val="solid"/>
            </a:ln>
          </p:spPr>
        </p:sp>
        <p:sp>
          <p:nvSpPr>
            <p:cNvPr id="153" name="Text 87">
              <a:extLst>
                <a:ext uri="{FF2B5EF4-FFF2-40B4-BE49-F238E27FC236}">
                  <a16:creationId xmlns:a16="http://schemas.microsoft.com/office/drawing/2014/main" id="{BB92FC2F-36C1-BBC9-0AF0-B210CACE5ABC}"/>
                </a:ext>
              </a:extLst>
            </p:cNvPr>
            <p:cNvSpPr/>
            <p:nvPr/>
          </p:nvSpPr>
          <p:spPr>
            <a:xfrm>
              <a:off x="2892234" y="5752541"/>
              <a:ext cx="8479717" cy="3657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altLang="ko-KR" sz="1380" dirty="0">
                  <a:solidFill>
                    <a:srgbClr val="101828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Malgun Gothic" pitchFamily="34" charset="-120"/>
                </a:rPr>
                <a:t>우리 시스템은 사전 학습된 AI 모델의 가중치는 그대로 사용하고, 탐지 조건·추적 방식·얼굴 비교 기준·실시간 처리 로직을 프로젝트 목적에 맞게 커스터마이징하여 활용하였다.</a:t>
              </a:r>
              <a:endParaRPr lang="en-US" altLang="ko-KR" sz="138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65" name="Text 69">
            <a:extLst>
              <a:ext uri="{FF2B5EF4-FFF2-40B4-BE49-F238E27FC236}">
                <a16:creationId xmlns:a16="http://schemas.microsoft.com/office/drawing/2014/main" id="{7929B2CF-EA2B-5F9F-E48F-5F58D44613CE}"/>
              </a:ext>
            </a:extLst>
          </p:cNvPr>
          <p:cNvSpPr/>
          <p:nvPr/>
        </p:nvSpPr>
        <p:spPr>
          <a:xfrm>
            <a:off x="5643956" y="4376098"/>
            <a:ext cx="1035996" cy="36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적용 흐름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9" name="Shape 83">
            <a:extLst>
              <a:ext uri="{FF2B5EF4-FFF2-40B4-BE49-F238E27FC236}">
                <a16:creationId xmlns:a16="http://schemas.microsoft.com/office/drawing/2014/main" id="{EC783CE5-5A25-3990-069C-7ABE5F50A249}"/>
              </a:ext>
            </a:extLst>
          </p:cNvPr>
          <p:cNvSpPr/>
          <p:nvPr/>
        </p:nvSpPr>
        <p:spPr>
          <a:xfrm>
            <a:off x="4619958" y="4937634"/>
            <a:ext cx="256032" cy="331688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70" name="Shape 83">
            <a:extLst>
              <a:ext uri="{FF2B5EF4-FFF2-40B4-BE49-F238E27FC236}">
                <a16:creationId xmlns:a16="http://schemas.microsoft.com/office/drawing/2014/main" id="{000C8C5D-DD83-E92A-ACE8-31AD1F89CD35}"/>
              </a:ext>
            </a:extLst>
          </p:cNvPr>
          <p:cNvSpPr/>
          <p:nvPr/>
        </p:nvSpPr>
        <p:spPr>
          <a:xfrm>
            <a:off x="6710190" y="4975376"/>
            <a:ext cx="256032" cy="331688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  <p:sp>
        <p:nvSpPr>
          <p:cNvPr id="171" name="Shape 83">
            <a:extLst>
              <a:ext uri="{FF2B5EF4-FFF2-40B4-BE49-F238E27FC236}">
                <a16:creationId xmlns:a16="http://schemas.microsoft.com/office/drawing/2014/main" id="{3BF30E49-BFFD-619E-F310-88E05E38F7D3}"/>
              </a:ext>
            </a:extLst>
          </p:cNvPr>
          <p:cNvSpPr/>
          <p:nvPr/>
        </p:nvSpPr>
        <p:spPr>
          <a:xfrm>
            <a:off x="8807434" y="4975376"/>
            <a:ext cx="256032" cy="331688"/>
          </a:xfrm>
          <a:prstGeom prst="rightArrow">
            <a:avLst/>
          </a:prstGeom>
          <a:solidFill>
            <a:srgbClr val="0958C7"/>
          </a:solidFill>
          <a:ln w="12700">
            <a:solidFill>
              <a:srgbClr val="0958C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con_trackid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28" y="1927655"/>
            <a:ext cx="1383238" cy="1262707"/>
          </a:xfrm>
          <a:prstGeom prst="rect">
            <a:avLst/>
          </a:prstGeom>
        </p:spPr>
      </p:pic>
      <p:pic>
        <p:nvPicPr>
          <p:cNvPr id="15" name="Picture 14" descr="icon_realtime_transparent.png"/>
          <p:cNvPicPr>
            <a:picLocks noChangeAspect="1"/>
          </p:cNvPicPr>
          <p:nvPr/>
        </p:nvPicPr>
        <p:blipFill rotWithShape="1">
          <a:blip r:embed="rId3"/>
          <a:srcRect b="6855"/>
          <a:stretch/>
        </p:blipFill>
        <p:spPr>
          <a:xfrm>
            <a:off x="6428628" y="4547825"/>
            <a:ext cx="1345885" cy="1149780"/>
          </a:xfrm>
          <a:prstGeom prst="rect">
            <a:avLst/>
          </a:prstGeom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70FFCD8-95B8-1AFE-B64D-B4869D143FFE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19351" y="1394823"/>
            <a:ext cx="5264145" cy="2221886"/>
          </a:xfrm>
          <a:prstGeom prst="roundRect">
            <a:avLst/>
          </a:prstGeom>
          <a:noFill/>
          <a:ln w="17780">
            <a:solidFill>
              <a:srgbClr val="2D6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2" name="Picture 11" descr="icon_person_transparent.png"/>
          <p:cNvPicPr>
            <a:picLocks noChangeAspect="1"/>
          </p:cNvPicPr>
          <p:nvPr/>
        </p:nvPicPr>
        <p:blipFill rotWithShape="1">
          <a:blip r:embed="rId4"/>
          <a:srcRect l="10460" b="7407"/>
          <a:stretch/>
        </p:blipFill>
        <p:spPr>
          <a:xfrm>
            <a:off x="752113" y="1892590"/>
            <a:ext cx="1297957" cy="12977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01120" y="1927549"/>
            <a:ext cx="3137269" cy="60324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원거리 촬영이나 사람 가림 상황에서는</a:t>
            </a:r>
          </a:p>
          <a:p>
            <a:pPr algn="l"/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사람을 놓칠 수 있음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19408" y="2511609"/>
            <a:ext cx="1078992" cy="256032"/>
          </a:xfrm>
          <a:prstGeom prst="roundRect">
            <a:avLst/>
          </a:prstGeom>
          <a:solidFill>
            <a:srgbClr val="11409E"/>
          </a:solidFill>
          <a:ln w="15875">
            <a:solidFill>
              <a:srgbClr val="11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해결 방안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1552" y="2630481"/>
            <a:ext cx="2212848" cy="10972"/>
          </a:xfrm>
          <a:prstGeom prst="rect">
            <a:avLst/>
          </a:prstGeom>
          <a:solidFill>
            <a:srgbClr val="2D6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71552" y="2666848"/>
            <a:ext cx="1966179" cy="741742"/>
          </a:xfrm>
          <a:prstGeom prst="rect">
            <a:avLst/>
          </a:prstGeom>
          <a:noFill/>
        </p:spPr>
        <p:txBody>
          <a:bodyPr wrap="none" lIns="36576" tIns="9144" rIns="18288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 신뢰도</a:t>
            </a:r>
            <a:r>
              <a:rPr lang="en-US" altLang="ko-KR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 크기 조정</a:t>
            </a:r>
          </a:p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카메라 해상도</a:t>
            </a:r>
            <a:r>
              <a:rPr lang="en-US" altLang="ko-KR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각도 개선</a:t>
            </a:r>
          </a:p>
          <a:p>
            <a:pPr algn="l">
              <a:spcAft>
                <a:spcPts val="300"/>
              </a:spcAft>
            </a:pPr>
            <a:r>
              <a:rPr lang="en-US" altLang="ko-KR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BoT-SORT </a:t>
            </a: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 정보 활용</a:t>
            </a: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DA12F6E6-7FB0-9827-B3D7-52FA9E9DC187}"/>
              </a:ext>
            </a:extLst>
          </p:cNvPr>
          <p:cNvSpPr/>
          <p:nvPr/>
        </p:nvSpPr>
        <p:spPr>
          <a:xfrm>
            <a:off x="3081673" y="1496959"/>
            <a:ext cx="1519873" cy="400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 문제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3" name="Rounded Rectangle 3">
            <a:extLst>
              <a:ext uri="{FF2B5EF4-FFF2-40B4-BE49-F238E27FC236}">
                <a16:creationId xmlns:a16="http://schemas.microsoft.com/office/drawing/2014/main" id="{1AC3D0AE-F657-2EF4-CE88-DBBBEDD3E182}"/>
              </a:ext>
            </a:extLst>
          </p:cNvPr>
          <p:cNvSpPr/>
          <p:nvPr/>
        </p:nvSpPr>
        <p:spPr>
          <a:xfrm>
            <a:off x="6320218" y="1390176"/>
            <a:ext cx="5264145" cy="2221886"/>
          </a:xfrm>
          <a:prstGeom prst="roundRect">
            <a:avLst/>
          </a:prstGeom>
          <a:noFill/>
          <a:ln w="17780">
            <a:solidFill>
              <a:srgbClr val="2D6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2E12BE-EEFD-B684-173C-BA11F0AC29DC}"/>
              </a:ext>
            </a:extLst>
          </p:cNvPr>
          <p:cNvSpPr txBox="1"/>
          <p:nvPr/>
        </p:nvSpPr>
        <p:spPr>
          <a:xfrm>
            <a:off x="7901987" y="1922903"/>
            <a:ext cx="3089179" cy="60324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겹침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재등장 상황에서</a:t>
            </a:r>
          </a:p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 인물의 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 ID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바뀔 수 있음</a:t>
            </a:r>
          </a:p>
        </p:txBody>
      </p:sp>
      <p:sp>
        <p:nvSpPr>
          <p:cNvPr id="66" name="Rounded Rectangle 19">
            <a:extLst>
              <a:ext uri="{FF2B5EF4-FFF2-40B4-BE49-F238E27FC236}">
                <a16:creationId xmlns:a16="http://schemas.microsoft.com/office/drawing/2014/main" id="{656FBC97-CF05-4561-DCC4-E5C928573877}"/>
              </a:ext>
            </a:extLst>
          </p:cNvPr>
          <p:cNvSpPr/>
          <p:nvPr/>
        </p:nvSpPr>
        <p:spPr>
          <a:xfrm>
            <a:off x="7920275" y="2506962"/>
            <a:ext cx="1078992" cy="256032"/>
          </a:xfrm>
          <a:prstGeom prst="roundRect">
            <a:avLst/>
          </a:prstGeom>
          <a:solidFill>
            <a:srgbClr val="11409E"/>
          </a:solidFill>
          <a:ln w="15875">
            <a:solidFill>
              <a:srgbClr val="11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해결 방안</a:t>
            </a:r>
          </a:p>
        </p:txBody>
      </p:sp>
      <p:sp>
        <p:nvSpPr>
          <p:cNvPr id="67" name="Rectangle 20">
            <a:extLst>
              <a:ext uri="{FF2B5EF4-FFF2-40B4-BE49-F238E27FC236}">
                <a16:creationId xmlns:a16="http://schemas.microsoft.com/office/drawing/2014/main" id="{FCE9F783-6E65-DE94-9E31-9E863BD040DA}"/>
              </a:ext>
            </a:extLst>
          </p:cNvPr>
          <p:cNvSpPr/>
          <p:nvPr/>
        </p:nvSpPr>
        <p:spPr>
          <a:xfrm>
            <a:off x="9072419" y="2625834"/>
            <a:ext cx="2212848" cy="10972"/>
          </a:xfrm>
          <a:prstGeom prst="rect">
            <a:avLst/>
          </a:prstGeom>
          <a:solidFill>
            <a:srgbClr val="2D6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07C222-CE2A-AE9E-E730-558F39CCE2E8}"/>
              </a:ext>
            </a:extLst>
          </p:cNvPr>
          <p:cNvSpPr txBox="1"/>
          <p:nvPr/>
        </p:nvSpPr>
        <p:spPr>
          <a:xfrm>
            <a:off x="9072419" y="2662201"/>
            <a:ext cx="1966179" cy="741742"/>
          </a:xfrm>
          <a:prstGeom prst="rect">
            <a:avLst/>
          </a:prstGeom>
          <a:noFill/>
        </p:spPr>
        <p:txBody>
          <a:bodyPr wrap="none" lIns="36576" tIns="9144" rIns="18288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카메라별 추적기 분리</a:t>
            </a:r>
          </a:p>
          <a:p>
            <a:pPr algn="l">
              <a:spcAft>
                <a:spcPts val="300"/>
              </a:spcAft>
            </a:pPr>
            <a:r>
              <a:rPr lang="en-US" altLang="ko-KR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 ID</a:t>
            </a: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별 결과 임시 저장</a:t>
            </a:r>
          </a:p>
          <a:p>
            <a:pPr algn="l">
              <a:spcAft>
                <a:spcPts val="300"/>
              </a:spcAft>
            </a:pPr>
            <a:r>
              <a:rPr lang="en-US" altLang="ko-KR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</a:t>
            </a:r>
            <a:r>
              <a:rPr lang="ko-KR" altLang="en-US" sz="14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재확인</a:t>
            </a:r>
          </a:p>
        </p:txBody>
      </p:sp>
      <p:sp>
        <p:nvSpPr>
          <p:cNvPr id="69" name="Text 45">
            <a:extLst>
              <a:ext uri="{FF2B5EF4-FFF2-40B4-BE49-F238E27FC236}">
                <a16:creationId xmlns:a16="http://schemas.microsoft.com/office/drawing/2014/main" id="{76D1AD33-4A0E-DCB5-273B-5E1BF19BEDD7}"/>
              </a:ext>
            </a:extLst>
          </p:cNvPr>
          <p:cNvSpPr/>
          <p:nvPr/>
        </p:nvSpPr>
        <p:spPr>
          <a:xfrm>
            <a:off x="8495677" y="1491977"/>
            <a:ext cx="2036148" cy="400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 ID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변경 문제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1" name="Rounded Rectangle 3">
            <a:extLst>
              <a:ext uri="{FF2B5EF4-FFF2-40B4-BE49-F238E27FC236}">
                <a16:creationId xmlns:a16="http://schemas.microsoft.com/office/drawing/2014/main" id="{F6D4CC99-8615-1A59-2CC2-6E217728E9A0}"/>
              </a:ext>
            </a:extLst>
          </p:cNvPr>
          <p:cNvSpPr/>
          <p:nvPr/>
        </p:nvSpPr>
        <p:spPr>
          <a:xfrm>
            <a:off x="619350" y="3953582"/>
            <a:ext cx="5264145" cy="2221886"/>
          </a:xfrm>
          <a:prstGeom prst="roundRect">
            <a:avLst/>
          </a:prstGeom>
          <a:noFill/>
          <a:ln w="17780">
            <a:solidFill>
              <a:srgbClr val="2D6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2E476D-6897-56B1-7A29-7F50D90345CA}"/>
              </a:ext>
            </a:extLst>
          </p:cNvPr>
          <p:cNvSpPr txBox="1"/>
          <p:nvPr/>
        </p:nvSpPr>
        <p:spPr>
          <a:xfrm>
            <a:off x="2201120" y="4486309"/>
            <a:ext cx="2920494" cy="60324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측면 얼굴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작은 얼굴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환경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</a:t>
            </a:r>
          </a:p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마스크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안경 착용 시 인식 성능 저하</a:t>
            </a:r>
          </a:p>
        </p:txBody>
      </p:sp>
      <p:sp>
        <p:nvSpPr>
          <p:cNvPr id="74" name="Rounded Rectangle 19">
            <a:extLst>
              <a:ext uri="{FF2B5EF4-FFF2-40B4-BE49-F238E27FC236}">
                <a16:creationId xmlns:a16="http://schemas.microsoft.com/office/drawing/2014/main" id="{5451B5A6-0244-11FB-883F-A861FE55B840}"/>
              </a:ext>
            </a:extLst>
          </p:cNvPr>
          <p:cNvSpPr/>
          <p:nvPr/>
        </p:nvSpPr>
        <p:spPr>
          <a:xfrm>
            <a:off x="2219407" y="5070368"/>
            <a:ext cx="1078992" cy="256032"/>
          </a:xfrm>
          <a:prstGeom prst="roundRect">
            <a:avLst/>
          </a:prstGeom>
          <a:solidFill>
            <a:srgbClr val="11409E"/>
          </a:solidFill>
          <a:ln w="15875">
            <a:solidFill>
              <a:srgbClr val="11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해결 방안</a:t>
            </a:r>
          </a:p>
        </p:txBody>
      </p:sp>
      <p:sp>
        <p:nvSpPr>
          <p:cNvPr id="75" name="Rectangle 20">
            <a:extLst>
              <a:ext uri="{FF2B5EF4-FFF2-40B4-BE49-F238E27FC236}">
                <a16:creationId xmlns:a16="http://schemas.microsoft.com/office/drawing/2014/main" id="{820CACF9-76A1-8886-B54D-1C5F2ACD37F0}"/>
              </a:ext>
            </a:extLst>
          </p:cNvPr>
          <p:cNvSpPr/>
          <p:nvPr/>
        </p:nvSpPr>
        <p:spPr>
          <a:xfrm>
            <a:off x="3371551" y="5189240"/>
            <a:ext cx="2212848" cy="10972"/>
          </a:xfrm>
          <a:prstGeom prst="rect">
            <a:avLst/>
          </a:prstGeom>
          <a:solidFill>
            <a:srgbClr val="2D6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E4EEA1-263A-5247-46CB-6F1BE4D53DD1}"/>
              </a:ext>
            </a:extLst>
          </p:cNvPr>
          <p:cNvSpPr txBox="1"/>
          <p:nvPr/>
        </p:nvSpPr>
        <p:spPr>
          <a:xfrm>
            <a:off x="3371551" y="5225607"/>
            <a:ext cx="1672830" cy="872547"/>
          </a:xfrm>
          <a:prstGeom prst="rect">
            <a:avLst/>
          </a:prstGeom>
          <a:noFill/>
        </p:spPr>
        <p:txBody>
          <a:bodyPr wrap="none" lIns="36576" tIns="9144" rIns="18288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여러 각도의 얼굴 사진 등록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특징 벡터 평균 저장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유사도 기준 적용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일정 시간 후 재인식</a:t>
            </a:r>
          </a:p>
        </p:txBody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7E7FD118-0D04-4452-B4F3-E66DC19ECFC1}"/>
              </a:ext>
            </a:extLst>
          </p:cNvPr>
          <p:cNvSpPr/>
          <p:nvPr/>
        </p:nvSpPr>
        <p:spPr>
          <a:xfrm>
            <a:off x="2931324" y="4052064"/>
            <a:ext cx="2014310" cy="400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 환경 문제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1" name="Rounded Rectangle 3">
            <a:extLst>
              <a:ext uri="{FF2B5EF4-FFF2-40B4-BE49-F238E27FC236}">
                <a16:creationId xmlns:a16="http://schemas.microsoft.com/office/drawing/2014/main" id="{F2804030-D900-D2A9-92E0-823D3D1FEBC7}"/>
              </a:ext>
            </a:extLst>
          </p:cNvPr>
          <p:cNvSpPr/>
          <p:nvPr/>
        </p:nvSpPr>
        <p:spPr>
          <a:xfrm>
            <a:off x="6320217" y="3953582"/>
            <a:ext cx="5264145" cy="2221886"/>
          </a:xfrm>
          <a:prstGeom prst="roundRect">
            <a:avLst/>
          </a:prstGeom>
          <a:noFill/>
          <a:ln w="17780">
            <a:solidFill>
              <a:srgbClr val="2D6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2D2D3F-CA4F-AF92-9275-D876CF79B930}"/>
              </a:ext>
            </a:extLst>
          </p:cNvPr>
          <p:cNvSpPr txBox="1"/>
          <p:nvPr/>
        </p:nvSpPr>
        <p:spPr>
          <a:xfrm>
            <a:off x="7901986" y="4486308"/>
            <a:ext cx="3259097" cy="60324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  <a:r>
              <a:rPr lang="en-US" altLang="ko-KR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인식을 동시에 수행하면</a:t>
            </a:r>
          </a:p>
          <a:p>
            <a:pPr algn="l"/>
            <a:r>
              <a:rPr lang="ko-KR" altLang="en-US" sz="1600" b="1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지연이 발생할 수 있음</a:t>
            </a:r>
          </a:p>
        </p:txBody>
      </p:sp>
      <p:sp>
        <p:nvSpPr>
          <p:cNvPr id="84" name="Rounded Rectangle 19">
            <a:extLst>
              <a:ext uri="{FF2B5EF4-FFF2-40B4-BE49-F238E27FC236}">
                <a16:creationId xmlns:a16="http://schemas.microsoft.com/office/drawing/2014/main" id="{942DBAA0-9FC9-455D-BCC9-63EDB25EE660}"/>
              </a:ext>
            </a:extLst>
          </p:cNvPr>
          <p:cNvSpPr/>
          <p:nvPr/>
        </p:nvSpPr>
        <p:spPr>
          <a:xfrm>
            <a:off x="7920274" y="5070368"/>
            <a:ext cx="1078992" cy="256032"/>
          </a:xfrm>
          <a:prstGeom prst="roundRect">
            <a:avLst/>
          </a:prstGeom>
          <a:solidFill>
            <a:srgbClr val="11409E"/>
          </a:solidFill>
          <a:ln w="15875">
            <a:solidFill>
              <a:srgbClr val="11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해결 방안</a:t>
            </a:r>
          </a:p>
        </p:txBody>
      </p:sp>
      <p:sp>
        <p:nvSpPr>
          <p:cNvPr id="85" name="Rectangle 20">
            <a:extLst>
              <a:ext uri="{FF2B5EF4-FFF2-40B4-BE49-F238E27FC236}">
                <a16:creationId xmlns:a16="http://schemas.microsoft.com/office/drawing/2014/main" id="{E09167C3-C352-E5CE-816C-7854388BD6DE}"/>
              </a:ext>
            </a:extLst>
          </p:cNvPr>
          <p:cNvSpPr/>
          <p:nvPr/>
        </p:nvSpPr>
        <p:spPr>
          <a:xfrm>
            <a:off x="9072418" y="5189240"/>
            <a:ext cx="2212848" cy="10972"/>
          </a:xfrm>
          <a:prstGeom prst="rect">
            <a:avLst/>
          </a:prstGeom>
          <a:solidFill>
            <a:srgbClr val="2D6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A5D6B0-9348-BAAB-5DD5-71CB2088CB8C}"/>
              </a:ext>
            </a:extLst>
          </p:cNvPr>
          <p:cNvSpPr txBox="1"/>
          <p:nvPr/>
        </p:nvSpPr>
        <p:spPr>
          <a:xfrm>
            <a:off x="9072418" y="5225607"/>
            <a:ext cx="1805879" cy="872547"/>
          </a:xfrm>
          <a:prstGeom prst="rect">
            <a:avLst/>
          </a:prstGeom>
          <a:noFill/>
        </p:spPr>
        <p:txBody>
          <a:bodyPr wrap="none" lIns="36576" tIns="9144" rIns="18288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 비동기 처리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식별된 사람은 인식 주기 증가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중복 분석 감소</a:t>
            </a:r>
          </a:p>
          <a:p>
            <a:pPr algn="l">
              <a:spcAft>
                <a:spcPts val="300"/>
              </a:spcAft>
            </a:pPr>
            <a:r>
              <a:rPr lang="ko-KR" altLang="en-US" sz="1200" b="0" dirty="0">
                <a:solidFill>
                  <a:srgbClr val="19191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이벤트 로그 저장 간격 설정</a:t>
            </a:r>
          </a:p>
        </p:txBody>
      </p:sp>
      <p:sp>
        <p:nvSpPr>
          <p:cNvPr id="87" name="Text 45">
            <a:extLst>
              <a:ext uri="{FF2B5EF4-FFF2-40B4-BE49-F238E27FC236}">
                <a16:creationId xmlns:a16="http://schemas.microsoft.com/office/drawing/2014/main" id="{BC859647-7529-D2F6-64CD-431AA9158806}"/>
              </a:ext>
            </a:extLst>
          </p:cNvPr>
          <p:cNvSpPr/>
          <p:nvPr/>
        </p:nvSpPr>
        <p:spPr>
          <a:xfrm>
            <a:off x="8409437" y="4049151"/>
            <a:ext cx="2208627" cy="400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처리 지연 문제</a:t>
            </a:r>
            <a:endParaRPr 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5B52FAE3-E93D-0CA5-90CD-94AD6FEDAFDB}"/>
              </a:ext>
            </a:extLst>
          </p:cNvPr>
          <p:cNvSpPr/>
          <p:nvPr/>
        </p:nvSpPr>
        <p:spPr>
          <a:xfrm>
            <a:off x="3676338" y="258874"/>
            <a:ext cx="49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문제점 및 해결 방안</a:t>
            </a:r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9DB2DF22-600D-706D-5CC0-1C1E9FEAB474}"/>
              </a:ext>
            </a:extLst>
          </p:cNvPr>
          <p:cNvSpPr/>
          <p:nvPr/>
        </p:nvSpPr>
        <p:spPr>
          <a:xfrm>
            <a:off x="3569611" y="848355"/>
            <a:ext cx="5052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700" b="0" dirty="0">
                <a:solidFill>
                  <a:srgbClr val="46464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사전 학습 </a:t>
            </a:r>
            <a:r>
              <a:rPr lang="en-US" altLang="ko-KR" sz="1700" b="0" dirty="0">
                <a:solidFill>
                  <a:srgbClr val="46464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sz="1700" b="0" dirty="0">
                <a:solidFill>
                  <a:srgbClr val="46464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 활용 과정에서의 주요 문제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6063FD7B-F116-5F74-B2E5-DE6736CA2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91" y="4489627"/>
            <a:ext cx="1165976" cy="1276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90675EC-CD32-C518-C0E9-1F1F98D1858E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40">
            <a:extLst>
              <a:ext uri="{FF2B5EF4-FFF2-40B4-BE49-F238E27FC236}">
                <a16:creationId xmlns:a16="http://schemas.microsoft.com/office/drawing/2014/main" id="{84DF8061-B49B-F751-2BFA-97E7291EADA8}"/>
              </a:ext>
            </a:extLst>
          </p:cNvPr>
          <p:cNvSpPr/>
          <p:nvPr/>
        </p:nvSpPr>
        <p:spPr>
          <a:xfrm>
            <a:off x="4641301" y="217015"/>
            <a:ext cx="290939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400" b="1" dirty="0">
                <a:solidFill>
                  <a:srgbClr val="061A5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모델 사용 결과</a:t>
            </a:r>
          </a:p>
        </p:txBody>
      </p:sp>
      <p:cxnSp>
        <p:nvCxnSpPr>
          <p:cNvPr id="11" name="Connector 9">
            <a:extLst>
              <a:ext uri="{FF2B5EF4-FFF2-40B4-BE49-F238E27FC236}">
                <a16:creationId xmlns:a16="http://schemas.microsoft.com/office/drawing/2014/main" id="{AF77C653-F777-445A-C47C-63114A593C78}"/>
              </a:ext>
            </a:extLst>
          </p:cNvPr>
          <p:cNvCxnSpPr/>
          <p:nvPr/>
        </p:nvCxnSpPr>
        <p:spPr>
          <a:xfrm>
            <a:off x="4270469" y="1723511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6E5360B2-9341-082A-36D3-CBA21D9717FF}"/>
              </a:ext>
            </a:extLst>
          </p:cNvPr>
          <p:cNvSpPr/>
          <p:nvPr/>
        </p:nvSpPr>
        <p:spPr>
          <a:xfrm>
            <a:off x="5276309" y="1376039"/>
            <a:ext cx="48006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</a:t>
            </a:r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하도록 설정해 불필요한 객체 탐지를 줄였다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5F4360CD-A21C-1ADB-2760-E4DE8C3A2231}"/>
              </a:ext>
            </a:extLst>
          </p:cNvPr>
          <p:cNvSpPr/>
          <p:nvPr/>
        </p:nvSpPr>
        <p:spPr>
          <a:xfrm>
            <a:off x="2115497" y="1376039"/>
            <a:ext cx="197209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5" name="Connector 9">
            <a:extLst>
              <a:ext uri="{FF2B5EF4-FFF2-40B4-BE49-F238E27FC236}">
                <a16:creationId xmlns:a16="http://schemas.microsoft.com/office/drawing/2014/main" id="{6B2AFB0C-8D43-3090-19A0-676A73681ACC}"/>
              </a:ext>
            </a:extLst>
          </p:cNvPr>
          <p:cNvCxnSpPr/>
          <p:nvPr/>
        </p:nvCxnSpPr>
        <p:spPr>
          <a:xfrm>
            <a:off x="4270469" y="2754014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8BD1BD3F-9FC6-F00D-4B17-237C79A901FA}"/>
              </a:ext>
            </a:extLst>
          </p:cNvPr>
          <p:cNvSpPr/>
          <p:nvPr/>
        </p:nvSpPr>
        <p:spPr>
          <a:xfrm>
            <a:off x="5276309" y="2406542"/>
            <a:ext cx="48006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 ID</a:t>
            </a:r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부여해 동일 인물의 이동을 계속 추적했다</a:t>
            </a:r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CF0E1DFB-0A76-8D1A-61D6-1CE479A43280}"/>
              </a:ext>
            </a:extLst>
          </p:cNvPr>
          <p:cNvSpPr/>
          <p:nvPr/>
        </p:nvSpPr>
        <p:spPr>
          <a:xfrm>
            <a:off x="2115497" y="2406542"/>
            <a:ext cx="197209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BoT-SORT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5A179F4D-BC13-E250-7E37-0248CEBBD635}"/>
              </a:ext>
            </a:extLst>
          </p:cNvPr>
          <p:cNvCxnSpPr/>
          <p:nvPr/>
        </p:nvCxnSpPr>
        <p:spPr>
          <a:xfrm>
            <a:off x="4270469" y="3784516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05FD1D40-3C7C-336F-FA47-B39EBD8248DF}"/>
              </a:ext>
            </a:extLst>
          </p:cNvPr>
          <p:cNvSpPr/>
          <p:nvPr/>
        </p:nvSpPr>
        <p:spPr>
          <a:xfrm>
            <a:off x="5276309" y="3437044"/>
            <a:ext cx="48006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등록된 얼굴과 실시간 얼굴을 비교해 대상자를 식별했다</a:t>
            </a:r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C640ED0C-6379-028F-F51A-336B0EB74B0F}"/>
              </a:ext>
            </a:extLst>
          </p:cNvPr>
          <p:cNvSpPr/>
          <p:nvPr/>
        </p:nvSpPr>
        <p:spPr>
          <a:xfrm>
            <a:off x="2115497" y="3437044"/>
            <a:ext cx="197209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1" name="Connector 9">
            <a:extLst>
              <a:ext uri="{FF2B5EF4-FFF2-40B4-BE49-F238E27FC236}">
                <a16:creationId xmlns:a16="http://schemas.microsoft.com/office/drawing/2014/main" id="{C9660E59-EC38-0AA3-B5B3-2608A926AB12}"/>
              </a:ext>
            </a:extLst>
          </p:cNvPr>
          <p:cNvCxnSpPr/>
          <p:nvPr/>
        </p:nvCxnSpPr>
        <p:spPr>
          <a:xfrm>
            <a:off x="4270469" y="4772572"/>
            <a:ext cx="82296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39815985-40E0-EFFC-540F-37D65F5EE447}"/>
              </a:ext>
            </a:extLst>
          </p:cNvPr>
          <p:cNvSpPr/>
          <p:nvPr/>
        </p:nvSpPr>
        <p:spPr>
          <a:xfrm>
            <a:off x="5276309" y="4425100"/>
            <a:ext cx="48006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중복 분석과 영상 지연을 줄여 실시간 결과를 안정적으로 제공했다</a:t>
            </a:r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D5AA8780-2B86-78F2-B9B3-4F12A9E6FFF4}"/>
              </a:ext>
            </a:extLst>
          </p:cNvPr>
          <p:cNvSpPr/>
          <p:nvPr/>
        </p:nvSpPr>
        <p:spPr>
          <a:xfrm>
            <a:off x="2115497" y="4425100"/>
            <a:ext cx="197209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비동기 처리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1BD4F49-F86F-42BC-98E7-D00E8A710104}"/>
              </a:ext>
            </a:extLst>
          </p:cNvPr>
          <p:cNvSpPr/>
          <p:nvPr/>
        </p:nvSpPr>
        <p:spPr>
          <a:xfrm>
            <a:off x="615250" y="5413156"/>
            <a:ext cx="10961903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 </a:t>
            </a:r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 → </a:t>
            </a:r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BoT-SORT </a:t>
            </a:r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 → </a:t>
            </a:r>
            <a:r>
              <a:rPr lang="en-US" altLang="ko-KR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 </a:t>
            </a:r>
            <a:r>
              <a:rPr lang="ko-KR" altLang="en-US" sz="1700" b="1" dirty="0">
                <a:solidFill>
                  <a:srgbClr val="12264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 → 실시간 결과 제공</a:t>
            </a:r>
            <a:endParaRPr sz="1700" b="1" dirty="0">
              <a:solidFill>
                <a:srgbClr val="12264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12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906</TotalTime>
  <Words>1277</Words>
  <Application>Microsoft Office PowerPoint</Application>
  <PresentationFormat>와이드스크린</PresentationFormat>
  <Paragraphs>254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Arial</vt:lpstr>
      <vt:lpstr>Malgun Gothic</vt:lpstr>
      <vt:lpstr>Consolas</vt:lpstr>
      <vt:lpstr>Calibri</vt:lpstr>
      <vt:lpstr>나눔스퀘어_ac Bold</vt:lpstr>
      <vt:lpstr>나눔스퀘어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Admin</cp:lastModifiedBy>
  <cp:revision>503</cp:revision>
  <dcterms:modified xsi:type="dcterms:W3CDTF">2026-07-21T05:40:19Z</dcterms:modified>
</cp:coreProperties>
</file>