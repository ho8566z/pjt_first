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73" r:id="rId5"/>
    <p:sldId id="259" r:id="rId6"/>
    <p:sldId id="268" r:id="rId7"/>
    <p:sldId id="267" r:id="rId8"/>
    <p:sldId id="272" r:id="rId9"/>
    <p:sldId id="270" r:id="rId10"/>
    <p:sldId id="269" r:id="rId11"/>
    <p:sldId id="258" r:id="rId12"/>
    <p:sldId id="260" r:id="rId13"/>
    <p:sldId id="261" r:id="rId14"/>
    <p:sldId id="262" r:id="rId15"/>
    <p:sldId id="263" r:id="rId16"/>
    <p:sldId id="264" r:id="rId17"/>
    <p:sldId id="265" r:id="rId18"/>
  </p:sldIdLst>
  <p:sldSz cx="18288000" cy="10287000"/>
  <p:notesSz cx="6858000" cy="9144000"/>
  <p:embeddedFontLst>
    <p:embeddedFont>
      <p:font typeface="프리텐다드 Medium" panose="020B0600000101010101" charset="-127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프리텐다드 Semi-Bold" panose="020B0600000101010101" charset="-127"/>
      <p:regular r:id="rId24"/>
    </p:embeddedFont>
    <p:embeddedFont>
      <p:font typeface="프리텐다드 Light" panose="020B0600000101010101" charset="-127"/>
      <p:regular r:id="rId25"/>
    </p:embeddedFont>
    <p:embeddedFont>
      <p:font typeface="프리텐다드 Bold" panose="020B0600000101010101" charset="-127"/>
      <p:regular r:id="rId26"/>
    </p:embeddedFont>
    <p:embeddedFont>
      <p:font typeface="프리텐다드" panose="020B0600000101010101" charset="-127"/>
      <p:regular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883" autoAdjust="0"/>
  </p:normalViewPr>
  <p:slideViewPr>
    <p:cSldViewPr>
      <p:cViewPr varScale="1">
        <p:scale>
          <a:sx n="77" d="100"/>
          <a:sy n="77" d="100"/>
        </p:scale>
        <p:origin x="414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78433" y="-189268"/>
            <a:ext cx="3268199" cy="7739024"/>
            <a:chOff x="0" y="0"/>
            <a:chExt cx="860760" cy="20382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0760" cy="2038262"/>
            </a:xfrm>
            <a:custGeom>
              <a:avLst/>
              <a:gdLst/>
              <a:ahLst/>
              <a:cxnLst/>
              <a:rect l="l" t="t" r="r" b="b"/>
              <a:pathLst>
                <a:path w="860760" h="2038262">
                  <a:moveTo>
                    <a:pt x="0" y="0"/>
                  </a:moveTo>
                  <a:lnTo>
                    <a:pt x="860760" y="0"/>
                  </a:lnTo>
                  <a:lnTo>
                    <a:pt x="860760" y="2038262"/>
                  </a:lnTo>
                  <a:lnTo>
                    <a:pt x="0" y="203826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60760" cy="2085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93873" y="7075598"/>
            <a:ext cx="18675746" cy="3324731"/>
            <a:chOff x="0" y="0"/>
            <a:chExt cx="4918715" cy="8756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18715" cy="875649"/>
            </a:xfrm>
            <a:custGeom>
              <a:avLst/>
              <a:gdLst/>
              <a:ahLst/>
              <a:cxnLst/>
              <a:rect l="l" t="t" r="r" b="b"/>
              <a:pathLst>
                <a:path w="4918715" h="875649">
                  <a:moveTo>
                    <a:pt x="0" y="0"/>
                  </a:moveTo>
                  <a:lnTo>
                    <a:pt x="4918715" y="0"/>
                  </a:lnTo>
                  <a:lnTo>
                    <a:pt x="4918715" y="875649"/>
                  </a:lnTo>
                  <a:lnTo>
                    <a:pt x="0" y="875649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18715" cy="923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33463" y="7907272"/>
            <a:ext cx="0" cy="1351028"/>
          </a:xfrm>
          <a:prstGeom prst="line">
            <a:avLst/>
          </a:prstGeom>
          <a:ln w="9525" cap="flat">
            <a:solidFill>
              <a:srgbClr val="F6F6F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2525577" y="8951595"/>
            <a:ext cx="20376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 dirty="0" smtClean="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010-1234-5678</a:t>
            </a:r>
            <a:endParaRPr lang="en-US" sz="1800" spc="131" dirty="0">
              <a:solidFill>
                <a:srgbClr val="F6F6F6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25577" y="7869172"/>
            <a:ext cx="316377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 dirty="0" smtClean="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www.168.190.1.155:5000</a:t>
            </a:r>
            <a:endParaRPr lang="en-US" sz="1800" spc="131" dirty="0">
              <a:solidFill>
                <a:srgbClr val="F6F6F6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82725" y="7869172"/>
            <a:ext cx="104285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홈페이지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2725" y="8405119"/>
            <a:ext cx="104285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이메일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2725" y="8951595"/>
            <a:ext cx="104285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연락처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25577" y="8405119"/>
            <a:ext cx="34981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pc="131" dirty="0" smtClean="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jungho</a:t>
            </a:r>
            <a:r>
              <a:rPr lang="en-US" sz="1800" spc="131" dirty="0" smtClean="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@gmail.com</a:t>
            </a:r>
            <a:endParaRPr lang="en-US" sz="1800" spc="131" dirty="0">
              <a:solidFill>
                <a:srgbClr val="F6F6F6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2231800"/>
            <a:ext cx="9334500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979"/>
              </a:lnSpc>
              <a:spcBef>
                <a:spcPct val="0"/>
              </a:spcBef>
            </a:pPr>
            <a:r>
              <a:rPr lang="ko-KR" altLang="en-US" sz="927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지능형 관제 시스템</a:t>
            </a:r>
            <a:endParaRPr lang="en-US" sz="927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3516926"/>
            <a:ext cx="7056707" cy="1667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79"/>
              </a:lnSpc>
              <a:spcBef>
                <a:spcPct val="0"/>
              </a:spcBef>
            </a:pPr>
            <a:r>
              <a:rPr lang="en-US" sz="8000" b="1" dirty="0" err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프레젠테이션</a:t>
            </a:r>
            <a:endParaRPr lang="en-US" sz="8000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1848967"/>
            <a:ext cx="4995062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0"/>
              </a:lnSpc>
              <a:spcBef>
                <a:spcPct val="0"/>
              </a:spcBef>
            </a:pPr>
            <a:r>
              <a:rPr lang="ko-KR" altLang="en-US" sz="2107" spc="210" dirty="0" err="1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옵시디언</a:t>
            </a:r>
            <a:r>
              <a:rPr lang="ko-KR" altLang="en-US" sz="2107" spc="210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ko-KR" altLang="en-US" sz="2107" spc="210" dirty="0" err="1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실드</a:t>
            </a:r>
            <a:r>
              <a:rPr lang="en-US" altLang="ko-KR" sz="2107" spc="210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Obsidian Shield</a:t>
            </a:r>
            <a:endParaRPr lang="en-US" sz="2107" spc="21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2383" y="2458855"/>
            <a:ext cx="5983252" cy="7922513"/>
            <a:chOff x="0" y="0"/>
            <a:chExt cx="1575836" cy="20865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5836" cy="2086588"/>
            </a:xfrm>
            <a:custGeom>
              <a:avLst/>
              <a:gdLst/>
              <a:ahLst/>
              <a:cxnLst/>
              <a:rect l="l" t="t" r="r" b="b"/>
              <a:pathLst>
                <a:path w="1575836" h="2086588">
                  <a:moveTo>
                    <a:pt x="0" y="0"/>
                  </a:moveTo>
                  <a:lnTo>
                    <a:pt x="1575836" y="0"/>
                  </a:lnTo>
                  <a:lnTo>
                    <a:pt x="1575836" y="2086588"/>
                  </a:lnTo>
                  <a:lnTo>
                    <a:pt x="0" y="2086588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575836" cy="213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62858" y="-107527"/>
            <a:ext cx="5983252" cy="2953200"/>
            <a:chOff x="0" y="0"/>
            <a:chExt cx="1575836" cy="7777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75836" cy="777797"/>
            </a:xfrm>
            <a:custGeom>
              <a:avLst/>
              <a:gdLst/>
              <a:ahLst/>
              <a:cxnLst/>
              <a:rect l="l" t="t" r="r" b="b"/>
              <a:pathLst>
                <a:path w="1575836" h="777797">
                  <a:moveTo>
                    <a:pt x="0" y="0"/>
                  </a:moveTo>
                  <a:lnTo>
                    <a:pt x="1575836" y="0"/>
                  </a:lnTo>
                  <a:lnTo>
                    <a:pt x="1575836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575836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405377"/>
            <a:ext cx="132273" cy="814512"/>
            <a:chOff x="0" y="0"/>
            <a:chExt cx="40474" cy="2492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474" cy="249233"/>
            </a:xfrm>
            <a:custGeom>
              <a:avLst/>
              <a:gdLst/>
              <a:ahLst/>
              <a:cxnLst/>
              <a:rect l="l" t="t" r="r" b="b"/>
              <a:pathLst>
                <a:path w="40474" h="249233">
                  <a:moveTo>
                    <a:pt x="0" y="0"/>
                  </a:moveTo>
                  <a:lnTo>
                    <a:pt x="40474" y="0"/>
                  </a:lnTo>
                  <a:lnTo>
                    <a:pt x="40474" y="249233"/>
                  </a:lnTo>
                  <a:lnTo>
                    <a:pt x="0" y="249233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474" cy="287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93273" y="1253961"/>
            <a:ext cx="3894213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en-US" sz="5699" b="1" u="none" strike="noStrik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Contests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86800" y="163830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팀 소개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827799" y="164287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86800" y="3935321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아이디어 및 벤치마킹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827799" y="3939895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86800" y="2784144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  <a:spcBef>
                <a:spcPct val="0"/>
              </a:spcBef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프로젝트 소개</a:t>
            </a:r>
            <a:endParaRPr lang="en-US" sz="2550" b="1" u="none" strike="noStrike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827799" y="2788718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  <a:spcBef>
                <a:spcPct val="0"/>
              </a:spcBef>
            </a:pPr>
            <a:r>
              <a:rPr lang="en-US" sz="2350" b="1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6800" y="2162771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TEAM INTRODUCTION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686800" y="3311583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PROJECT INTRODUCTION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686800" y="4458947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IDEA &amp; BENCHMARKING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54" name="TextBox 14"/>
          <p:cNvSpPr txBox="1"/>
          <p:nvPr/>
        </p:nvSpPr>
        <p:spPr>
          <a:xfrm>
            <a:off x="8686800" y="5081924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요구사항 분석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55" name="TextBox 15"/>
          <p:cNvSpPr txBox="1"/>
          <p:nvPr/>
        </p:nvSpPr>
        <p:spPr>
          <a:xfrm>
            <a:off x="7827799" y="5086498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04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56" name="TextBox 26"/>
          <p:cNvSpPr txBox="1"/>
          <p:nvPr/>
        </p:nvSpPr>
        <p:spPr>
          <a:xfrm>
            <a:off x="8686800" y="5605550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REQUIREMENT ANALYSIS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57" name="TextBox 14"/>
          <p:cNvSpPr txBox="1"/>
          <p:nvPr/>
        </p:nvSpPr>
        <p:spPr>
          <a:xfrm>
            <a:off x="8686800" y="7357817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기능 설계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58" name="TextBox 15"/>
          <p:cNvSpPr txBox="1"/>
          <p:nvPr/>
        </p:nvSpPr>
        <p:spPr>
          <a:xfrm>
            <a:off x="7827799" y="7362391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06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59" name="TextBox 16"/>
          <p:cNvSpPr txBox="1"/>
          <p:nvPr/>
        </p:nvSpPr>
        <p:spPr>
          <a:xfrm>
            <a:off x="8686800" y="620664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  <a:spcBef>
                <a:spcPct val="0"/>
              </a:spcBef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시스템 설계</a:t>
            </a:r>
            <a:endParaRPr lang="en-US" sz="2550" b="1" u="none" strike="noStrike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60" name="TextBox 17"/>
          <p:cNvSpPr txBox="1"/>
          <p:nvPr/>
        </p:nvSpPr>
        <p:spPr>
          <a:xfrm>
            <a:off x="7827799" y="621121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  <a:spcBef>
                <a:spcPct val="0"/>
              </a:spcBef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61" name="TextBox 25"/>
          <p:cNvSpPr txBox="1"/>
          <p:nvPr/>
        </p:nvSpPr>
        <p:spPr>
          <a:xfrm>
            <a:off x="8686800" y="6734079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SYSTEM DESIGN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62" name="TextBox 26"/>
          <p:cNvSpPr txBox="1"/>
          <p:nvPr/>
        </p:nvSpPr>
        <p:spPr>
          <a:xfrm>
            <a:off x="8686800" y="7881443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FUNCTIONAL DESIGN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63" name="TextBox 14"/>
          <p:cNvSpPr txBox="1"/>
          <p:nvPr/>
        </p:nvSpPr>
        <p:spPr>
          <a:xfrm>
            <a:off x="8686800" y="850442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화면 설계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64" name="TextBox 15"/>
          <p:cNvSpPr txBox="1"/>
          <p:nvPr/>
        </p:nvSpPr>
        <p:spPr>
          <a:xfrm>
            <a:off x="7827799" y="850899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07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65" name="TextBox 26"/>
          <p:cNvSpPr txBox="1"/>
          <p:nvPr/>
        </p:nvSpPr>
        <p:spPr>
          <a:xfrm>
            <a:off x="8686800" y="9028046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UI DESIGN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66" name="TextBox 12"/>
          <p:cNvSpPr txBox="1"/>
          <p:nvPr/>
        </p:nvSpPr>
        <p:spPr>
          <a:xfrm>
            <a:off x="13432001" y="163830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개발 계획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67" name="TextBox 13"/>
          <p:cNvSpPr txBox="1"/>
          <p:nvPr/>
        </p:nvSpPr>
        <p:spPr>
          <a:xfrm>
            <a:off x="12573000" y="164287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08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68" name="TextBox 14"/>
          <p:cNvSpPr txBox="1"/>
          <p:nvPr/>
        </p:nvSpPr>
        <p:spPr>
          <a:xfrm>
            <a:off x="13432001" y="3935321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구현 내용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69" name="TextBox 15"/>
          <p:cNvSpPr txBox="1"/>
          <p:nvPr/>
        </p:nvSpPr>
        <p:spPr>
          <a:xfrm>
            <a:off x="12573000" y="3939895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10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70" name="TextBox 16"/>
          <p:cNvSpPr txBox="1"/>
          <p:nvPr/>
        </p:nvSpPr>
        <p:spPr>
          <a:xfrm>
            <a:off x="13432001" y="2784144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  <a:spcBef>
                <a:spcPct val="0"/>
              </a:spcBef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주요 기능 구현</a:t>
            </a:r>
            <a:endParaRPr lang="en-US" sz="2550" b="1" u="none" strike="noStrike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71" name="TextBox 17"/>
          <p:cNvSpPr txBox="1"/>
          <p:nvPr/>
        </p:nvSpPr>
        <p:spPr>
          <a:xfrm>
            <a:off x="12573000" y="2788718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  <a:spcBef>
                <a:spcPct val="0"/>
              </a:spcBef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09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72" name="TextBox 24"/>
          <p:cNvSpPr txBox="1"/>
          <p:nvPr/>
        </p:nvSpPr>
        <p:spPr>
          <a:xfrm>
            <a:off x="13432001" y="2162771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DEVELOPMENT PLAN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73" name="TextBox 25"/>
          <p:cNvSpPr txBox="1"/>
          <p:nvPr/>
        </p:nvSpPr>
        <p:spPr>
          <a:xfrm>
            <a:off x="13432001" y="3311583"/>
            <a:ext cx="3351316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CORE FEATURE IMPLEMENTATION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74" name="TextBox 26"/>
          <p:cNvSpPr txBox="1"/>
          <p:nvPr/>
        </p:nvSpPr>
        <p:spPr>
          <a:xfrm>
            <a:off x="13432001" y="4458947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ko-KR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IMPLEMENTATION</a:t>
            </a:r>
            <a:r>
              <a:rPr lang="en-US" altLang="ko-KR" sz="1500" spc="78" dirty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 </a:t>
            </a:r>
            <a:r>
              <a:rPr lang="en-US" altLang="ko-KR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DETAILS</a:t>
            </a:r>
            <a:endParaRPr lang="en-US" altLang="ko-KR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75" name="TextBox 14"/>
          <p:cNvSpPr txBox="1"/>
          <p:nvPr/>
        </p:nvSpPr>
        <p:spPr>
          <a:xfrm>
            <a:off x="13432001" y="5081924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테스트 및 시연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76" name="TextBox 15"/>
          <p:cNvSpPr txBox="1"/>
          <p:nvPr/>
        </p:nvSpPr>
        <p:spPr>
          <a:xfrm>
            <a:off x="12573000" y="5086498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11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77" name="TextBox 26"/>
          <p:cNvSpPr txBox="1"/>
          <p:nvPr/>
        </p:nvSpPr>
        <p:spPr>
          <a:xfrm>
            <a:off x="13432001" y="5605550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TESTING &amp; DEMONSTRAION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78" name="TextBox 14"/>
          <p:cNvSpPr txBox="1"/>
          <p:nvPr/>
        </p:nvSpPr>
        <p:spPr>
          <a:xfrm>
            <a:off x="13432001" y="7357817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향후 개선 계획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79" name="TextBox 15"/>
          <p:cNvSpPr txBox="1"/>
          <p:nvPr/>
        </p:nvSpPr>
        <p:spPr>
          <a:xfrm>
            <a:off x="12573000" y="7362391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</a:t>
            </a: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80" name="TextBox 16"/>
          <p:cNvSpPr txBox="1"/>
          <p:nvPr/>
        </p:nvSpPr>
        <p:spPr>
          <a:xfrm>
            <a:off x="13432001" y="620664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  <a:spcBef>
                <a:spcPct val="0"/>
              </a:spcBef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기대 효과</a:t>
            </a:r>
            <a:endParaRPr lang="en-US" sz="2550" b="1" u="none" strike="noStrike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81" name="TextBox 17"/>
          <p:cNvSpPr txBox="1"/>
          <p:nvPr/>
        </p:nvSpPr>
        <p:spPr>
          <a:xfrm>
            <a:off x="12573000" y="621121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  <a:spcBef>
                <a:spcPct val="0"/>
              </a:spcBef>
            </a:pPr>
            <a:r>
              <a:rPr lang="en-US" sz="2350" b="1" dirty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</a:t>
            </a: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82" name="TextBox 25"/>
          <p:cNvSpPr txBox="1"/>
          <p:nvPr/>
        </p:nvSpPr>
        <p:spPr>
          <a:xfrm>
            <a:off x="13432001" y="6734079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EXPECTED OUTCOMES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83" name="TextBox 26"/>
          <p:cNvSpPr txBox="1"/>
          <p:nvPr/>
        </p:nvSpPr>
        <p:spPr>
          <a:xfrm>
            <a:off x="13432001" y="7881443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FUTURE IMPROVEMENTS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84" name="TextBox 14"/>
          <p:cNvSpPr txBox="1"/>
          <p:nvPr/>
        </p:nvSpPr>
        <p:spPr>
          <a:xfrm>
            <a:off x="13432001" y="850442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Q&amp;A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85" name="TextBox 15"/>
          <p:cNvSpPr txBox="1"/>
          <p:nvPr/>
        </p:nvSpPr>
        <p:spPr>
          <a:xfrm>
            <a:off x="12573000" y="850899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</a:t>
            </a:r>
            <a:r>
              <a:rPr lang="en-US" sz="2350" b="1" dirty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</a:t>
            </a:r>
          </a:p>
        </p:txBody>
      </p:sp>
      <p:sp>
        <p:nvSpPr>
          <p:cNvPr id="86" name="TextBox 26"/>
          <p:cNvSpPr txBox="1"/>
          <p:nvPr/>
        </p:nvSpPr>
        <p:spPr>
          <a:xfrm>
            <a:off x="13432001" y="9028046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Q&amp;A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21481" y="990600"/>
            <a:ext cx="3894213" cy="26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TEAM INTRODUCTION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21481" y="1253961"/>
            <a:ext cx="3894213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팀 소개</a:t>
            </a:r>
            <a:r>
              <a:rPr lang="en-US" altLang="ko-KR" sz="5699" b="1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: </a:t>
            </a:r>
            <a:r>
              <a:rPr lang="ko-KR" altLang="en-US" sz="5699" b="1" dirty="0" err="1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딱코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026377"/>
              </p:ext>
            </p:extLst>
          </p:nvPr>
        </p:nvGraphicFramePr>
        <p:xfrm>
          <a:off x="1713028" y="3635910"/>
          <a:ext cx="14830156" cy="6003389"/>
        </p:xfrm>
        <a:graphic>
          <a:graphicData uri="http://schemas.openxmlformats.org/drawingml/2006/table">
            <a:tbl>
              <a:tblPr/>
              <a:tblGrid>
                <a:gridCol w="1639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85248060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8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0135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사진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67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이름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200" b="1" dirty="0" smtClean="0"/>
                        <a:t>박정호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김태준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err="1" smtClean="0"/>
                        <a:t>이규찬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이윤호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err="1" smtClean="0"/>
                        <a:t>장동근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67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직위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팀장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팀원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팀원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팀원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팀원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67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역할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360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89" y="3494616"/>
            <a:ext cx="6437536" cy="581768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96200" y="3494616"/>
            <a:ext cx="9563100" cy="5763684"/>
            <a:chOff x="0" y="0"/>
            <a:chExt cx="2518677" cy="15180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18676" cy="1518007"/>
            </a:xfrm>
            <a:custGeom>
              <a:avLst/>
              <a:gdLst/>
              <a:ahLst/>
              <a:cxnLst/>
              <a:rect l="l" t="t" r="r" b="b"/>
              <a:pathLst>
                <a:path w="2518676" h="1518007">
                  <a:moveTo>
                    <a:pt x="0" y="0"/>
                  </a:moveTo>
                  <a:lnTo>
                    <a:pt x="2518676" y="0"/>
                  </a:lnTo>
                  <a:lnTo>
                    <a:pt x="2518676" y="1518007"/>
                  </a:lnTo>
                  <a:lnTo>
                    <a:pt x="0" y="1518007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518677" cy="156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442494" y="3979365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442494" y="5595433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442494" y="7043233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>
            <a:off x="8411703" y="5444814"/>
            <a:ext cx="8101303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8442494" y="6896100"/>
            <a:ext cx="8101303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8411703" y="4438022"/>
            <a:ext cx="7933317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ko-KR" altLang="en-US" dirty="0" err="1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드론과</a:t>
            </a: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CCTV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 활용해 실시간 영상을 수집하고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AI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객체 탐지 및 얼굴 인식 기술로 실종자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수배자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관심 인물을 식별하는 지능형 관제 시스템을 개발한다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또한 </a:t>
            </a:r>
            <a:r>
              <a:rPr lang="ko-KR" altLang="en-US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대상의 </a:t>
            </a:r>
            <a:r>
              <a:rPr lang="ko-KR" altLang="en-US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위치를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추적하여 신속한 대응을 지원한다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57139" y="3908432"/>
            <a:ext cx="356604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프로젝트 개요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411703" y="6054090"/>
            <a:ext cx="7933317" cy="61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기존 관제 시스템은 인력 의존도가 높아 대상 식별과 추적에 한계가 있다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이에 따라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와 </a:t>
            </a:r>
            <a:r>
              <a:rPr lang="ko-KR" altLang="en-US" dirty="0" err="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기술을 활용한 효율적인 실시간 감시 및 대응 시스템의 필요성이 증가하고 있다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57139" y="5524500"/>
            <a:ext cx="356604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프로젝트 배경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411703" y="7501890"/>
            <a:ext cx="7933317" cy="157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실시간 영상 수집 및 통합 관제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 대상 탐지 및 얼굴 인식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실종자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수배자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관심 인물 식별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위치 및 이동 경로 추적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신속한 대응 및 공공 안전 강화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957139" y="6972300"/>
            <a:ext cx="356604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프로젝트 목표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grpSp>
        <p:nvGrpSpPr>
          <p:cNvPr id="26" name="Group 5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27" name="Freeform 6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28" name="TextBox 7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9" name="TextBox 18"/>
          <p:cNvSpPr txBox="1"/>
          <p:nvPr/>
        </p:nvSpPr>
        <p:spPr>
          <a:xfrm>
            <a:off x="1421481" y="990600"/>
            <a:ext cx="389421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PROJECT INTRODUCTION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30" name="TextBox 19"/>
          <p:cNvSpPr txBox="1"/>
          <p:nvPr/>
        </p:nvSpPr>
        <p:spPr>
          <a:xfrm>
            <a:off x="1421481" y="1253961"/>
            <a:ext cx="452211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프로젝트 소개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</p:spTree>
    <p:extLst>
      <p:ext uri="{BB962C8B-B14F-4D97-AF65-F5344CB8AC3E}">
        <p14:creationId xmlns:p14="http://schemas.microsoft.com/office/powerpoint/2010/main" val="305906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696200" y="3494616"/>
            <a:ext cx="9563096" cy="5173771"/>
          </a:xfrm>
          <a:custGeom>
            <a:avLst/>
            <a:gdLst/>
            <a:ahLst/>
            <a:cxnLst/>
            <a:rect l="l" t="t" r="r" b="b"/>
            <a:pathLst>
              <a:path w="2518676" h="1518007">
                <a:moveTo>
                  <a:pt x="0" y="0"/>
                </a:moveTo>
                <a:lnTo>
                  <a:pt x="2518676" y="0"/>
                </a:lnTo>
                <a:lnTo>
                  <a:pt x="2518676" y="1518007"/>
                </a:lnTo>
                <a:lnTo>
                  <a:pt x="0" y="1518007"/>
                </a:lnTo>
                <a:close/>
              </a:path>
            </a:pathLst>
          </a:custGeom>
          <a:ln w="9525" cap="sq">
            <a:solidFill>
              <a:srgbClr val="737373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8442494" y="3979365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421481" y="990600"/>
            <a:ext cx="3894213" cy="26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IDEA INTRODUCTION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21481" y="1253961"/>
            <a:ext cx="452211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아이디어 소개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57139" y="3908432"/>
            <a:ext cx="5444661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지능형 영상 분석 기반 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AI </a:t>
            </a: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관제 시스템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411690" y="4490764"/>
            <a:ext cx="7933317" cy="320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b="1" dirty="0" err="1" smtClean="0"/>
              <a:t>드론</a:t>
            </a:r>
            <a:r>
              <a:rPr lang="ko-KR" altLang="en-US" b="1" dirty="0" smtClean="0"/>
              <a:t> </a:t>
            </a:r>
            <a:r>
              <a:rPr lang="ko-KR" altLang="en-US" b="1" dirty="0"/>
              <a:t>및 </a:t>
            </a:r>
            <a:r>
              <a:rPr lang="en-US" altLang="ko-KR" b="1" dirty="0"/>
              <a:t>CCTV </a:t>
            </a:r>
            <a:r>
              <a:rPr lang="ko-KR" altLang="en-US" b="1" dirty="0"/>
              <a:t>영상 </a:t>
            </a:r>
            <a:r>
              <a:rPr lang="ko-KR" altLang="en-US" b="1" dirty="0" smtClean="0"/>
              <a:t>수집</a:t>
            </a:r>
            <a:endParaRPr lang="en-US" altLang="ko-KR" b="1" dirty="0"/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AI </a:t>
            </a:r>
            <a:r>
              <a:rPr lang="ko-KR" altLang="en-US" b="1" dirty="0"/>
              <a:t>기반 객체 탐지 및 얼굴 </a:t>
            </a:r>
            <a:r>
              <a:rPr lang="ko-KR" altLang="en-US" b="1" dirty="0" smtClean="0"/>
              <a:t>인식</a:t>
            </a:r>
            <a:endParaRPr lang="en-US" altLang="ko-KR" b="1" dirty="0"/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실종자</a:t>
            </a:r>
            <a:r>
              <a:rPr lang="en-US" altLang="ko-KR" b="1" dirty="0"/>
              <a:t>·</a:t>
            </a:r>
            <a:r>
              <a:rPr lang="ko-KR" altLang="en-US" b="1" dirty="0"/>
              <a:t>수배자</a:t>
            </a:r>
            <a:r>
              <a:rPr lang="en-US" altLang="ko-KR" b="1" dirty="0"/>
              <a:t>·</a:t>
            </a:r>
            <a:r>
              <a:rPr lang="ko-KR" altLang="en-US" b="1" dirty="0"/>
              <a:t>관심 인물 </a:t>
            </a:r>
            <a:r>
              <a:rPr lang="ko-KR" altLang="en-US" b="1" dirty="0" smtClean="0"/>
              <a:t>식별</a:t>
            </a:r>
            <a:endParaRPr lang="en-US" altLang="ko-KR" b="1" dirty="0"/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위치 </a:t>
            </a:r>
            <a:r>
              <a:rPr lang="ko-KR" altLang="en-US" b="1" dirty="0"/>
              <a:t>및 이동 경로 </a:t>
            </a:r>
            <a:r>
              <a:rPr lang="ko-KR" altLang="en-US" b="1" dirty="0" smtClean="0"/>
              <a:t>추적</a:t>
            </a:r>
            <a:endParaRPr lang="en-US" altLang="ko-KR" b="1" dirty="0"/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실시간 </a:t>
            </a:r>
            <a:r>
              <a:rPr lang="ko-KR" altLang="en-US" b="1" dirty="0"/>
              <a:t>관제 및 대응 </a:t>
            </a:r>
            <a:r>
              <a:rPr lang="ko-KR" altLang="en-US" b="1" dirty="0" smtClean="0"/>
              <a:t>지원</a:t>
            </a:r>
            <a:endParaRPr lang="en-US" altLang="ko-KR" b="1" dirty="0" smtClean="0"/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>
              <a:lnSpc>
                <a:spcPts val="2520"/>
              </a:lnSpc>
            </a:pP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</a:t>
            </a:r>
            <a:r>
              <a:rPr lang="en-US" altLang="ko-KR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ko-KR" altLang="en-US" b="1" dirty="0" err="1" smtClean="0"/>
              <a:t>드론과</a:t>
            </a:r>
            <a:r>
              <a:rPr lang="ko-KR" altLang="en-US" b="1" dirty="0" smtClean="0"/>
              <a:t> </a:t>
            </a:r>
            <a:r>
              <a:rPr lang="en-US" altLang="ko-KR" b="1" dirty="0"/>
              <a:t>CCTV</a:t>
            </a:r>
            <a:r>
              <a:rPr lang="ko-KR" altLang="en-US" b="1" dirty="0"/>
              <a:t>를 활용하여 실시간 영상을 수집하고</a:t>
            </a:r>
            <a:r>
              <a:rPr lang="en-US" altLang="ko-KR" b="1" dirty="0"/>
              <a:t>, AI </a:t>
            </a:r>
            <a:r>
              <a:rPr lang="ko-KR" altLang="en-US" b="1" dirty="0"/>
              <a:t>기반 객체 탐지 및 </a:t>
            </a:r>
            <a:endParaRPr lang="en-US" altLang="ko-KR" b="1" dirty="0" smtClean="0"/>
          </a:p>
          <a:p>
            <a:pPr>
              <a:lnSpc>
                <a:spcPts val="2520"/>
              </a:lnSpc>
            </a:pPr>
            <a:r>
              <a:rPr lang="en-US" altLang="ko-KR" b="1" dirty="0" smtClean="0"/>
              <a:t>      </a:t>
            </a:r>
            <a:r>
              <a:rPr lang="ko-KR" altLang="en-US" b="1" dirty="0" smtClean="0"/>
              <a:t>얼굴 </a:t>
            </a:r>
            <a:r>
              <a:rPr lang="ko-KR" altLang="en-US" b="1" dirty="0"/>
              <a:t>인식 기술을 통해 실종자</a:t>
            </a:r>
            <a:r>
              <a:rPr lang="en-US" altLang="ko-KR" b="1" dirty="0"/>
              <a:t>, </a:t>
            </a:r>
            <a:r>
              <a:rPr lang="ko-KR" altLang="en-US" b="1" dirty="0"/>
              <a:t>수배자 및 관심 인물을 식별한다</a:t>
            </a:r>
            <a:r>
              <a:rPr lang="en-US" altLang="ko-KR" b="1" dirty="0"/>
              <a:t>. </a:t>
            </a:r>
            <a:r>
              <a:rPr lang="ko-KR" altLang="en-US" b="1" dirty="0"/>
              <a:t>또한 </a:t>
            </a:r>
            <a:endParaRPr lang="en-US" altLang="ko-KR" b="1" dirty="0" smtClean="0"/>
          </a:p>
          <a:p>
            <a:pPr>
              <a:lnSpc>
                <a:spcPts val="2520"/>
              </a:lnSpc>
            </a:pPr>
            <a:r>
              <a:rPr lang="en-US" altLang="ko-KR" b="1" dirty="0" smtClean="0"/>
              <a:t>      </a:t>
            </a:r>
            <a:r>
              <a:rPr lang="ko-KR" altLang="en-US" b="1" dirty="0" smtClean="0"/>
              <a:t>대상의 위치를 </a:t>
            </a:r>
            <a:r>
              <a:rPr lang="ko-KR" altLang="en-US" b="1" dirty="0"/>
              <a:t>추적</a:t>
            </a:r>
            <a:r>
              <a:rPr lang="en-US" altLang="ko-KR" b="1" dirty="0"/>
              <a:t>·</a:t>
            </a:r>
            <a:r>
              <a:rPr lang="ko-KR" altLang="en-US" b="1" dirty="0"/>
              <a:t>기록하여 공공 안전 향상 및 신속한 대응을 </a:t>
            </a:r>
            <a:r>
              <a:rPr lang="ko-KR" altLang="en-US" b="1" dirty="0" smtClean="0"/>
              <a:t>지원하는</a:t>
            </a:r>
            <a:endParaRPr lang="en-US" altLang="ko-KR" b="1" dirty="0" smtClean="0"/>
          </a:p>
          <a:p>
            <a:pPr>
              <a:lnSpc>
                <a:spcPts val="252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</a:t>
            </a:r>
            <a:r>
              <a:rPr lang="ko-KR" altLang="en-US" b="1" dirty="0" smtClean="0"/>
              <a:t> </a:t>
            </a:r>
            <a:r>
              <a:rPr lang="ko-KR" altLang="en-US" b="1" dirty="0"/>
              <a:t>지능형 관제 시스템을 구축하는 것을 목표로 한다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30" t="20692" r="2870" b="3043"/>
          <a:stretch/>
        </p:blipFill>
        <p:spPr>
          <a:xfrm>
            <a:off x="844628" y="3521367"/>
            <a:ext cx="6617597" cy="5147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3179" y="-176131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6341936" y="3507316"/>
            <a:ext cx="0" cy="608400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11945424" y="3507316"/>
            <a:ext cx="0" cy="608400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21481" y="990600"/>
            <a:ext cx="5512719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SIMILAR SERVICE ANALYSIS : BENCHMARKING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21481" y="1253961"/>
            <a:ext cx="924651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유사 사이트 </a:t>
            </a:r>
            <a:r>
              <a:rPr lang="ko-KR" altLang="en-US" sz="5699" b="1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</a:t>
            </a:r>
            <a:r>
              <a:rPr lang="en-US" altLang="ko-KR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</a:t>
            </a: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벤치마킹</a:t>
            </a:r>
            <a:r>
              <a:rPr lang="en-US" altLang="ko-KR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)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756847" y="6819900"/>
            <a:ext cx="3566049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CCTV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와 </a:t>
            </a:r>
            <a:r>
              <a:rPr lang="ko-KR" altLang="en-US" dirty="0" err="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연계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군 부대 외곽 침입자 감지 및 해안선 경계 시스템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endParaRPr lang="en-US" altLang="ko-KR" dirty="0" smtClean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en-US" altLang="ko-KR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CCTV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 시스템의 공통적인 한계로 인해 사람이 카메라를 벗어나면 추적이 어려워진다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 과정에서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ID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가 바뀌거나 추적이 끊길 수 있다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56847" y="5616974"/>
            <a:ext cx="3566049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ko-KR" altLang="en-US" sz="36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인텔리빅스</a:t>
            </a:r>
            <a:endParaRPr lang="en-US" altLang="ko-KR" sz="3600" b="1" dirty="0" smtClean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(</a:t>
            </a:r>
            <a:r>
              <a:rPr lang="en-US" altLang="ko-KR" sz="24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Intellivix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, </a:t>
            </a: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한국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)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360976" y="6819900"/>
            <a:ext cx="3566049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센서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CCTV, </a:t>
            </a:r>
            <a:r>
              <a:rPr lang="ko-KR" altLang="en-US" dirty="0" err="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드론을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하나의 네트워크로 묶어 </a:t>
            </a: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용의자나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무단 침입자를 자동으로 감지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추적하는 시스템 개발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endParaRPr lang="en-US" altLang="ko-KR" dirty="0" smtClean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en-US" altLang="ko-KR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공개된 보도자료들에 따르면 일부 자율 시스템이 시험 중 오작동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ko-KR" altLang="en-US" dirty="0" err="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추락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목표 </a:t>
            </a: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미 명중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등의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문제를 겪었다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360976" y="5616974"/>
            <a:ext cx="3566049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ko-KR" altLang="en-US" sz="36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안두릴</a:t>
            </a:r>
            <a:r>
              <a:rPr lang="ko-KR" altLang="en-US" sz="36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 </a:t>
            </a:r>
            <a:r>
              <a:rPr lang="ko-KR" altLang="en-US" sz="36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인더스트리</a:t>
            </a:r>
            <a:endParaRPr lang="en-US" altLang="ko-KR" sz="3600" b="1" dirty="0" smtClean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(</a:t>
            </a:r>
            <a:r>
              <a:rPr lang="en-US" altLang="ko-KR" sz="24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Anduril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 </a:t>
            </a:r>
            <a:r>
              <a:rPr lang="en-US" altLang="ko-KR" sz="24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Indusries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, </a:t>
            </a: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미국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)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965105" y="6819900"/>
            <a:ext cx="3566049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 영상 분석 플랫폼으로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경찰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공항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도시 관제센터 등에서 활용되는 대표적인 스마트 관제 시스템</a:t>
            </a: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endParaRPr lang="en-US" altLang="ko-KR" dirty="0" smtClean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서비스 설계가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주로 고정형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CCTV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환경을 </a:t>
            </a: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기반으로 하기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때문에 대상이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CCTV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사각지대로 이동할 경우 추적이 중단될 가능성이 존재한다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965105" y="5616974"/>
            <a:ext cx="3566049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ko-KR" altLang="en-US" sz="36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브리프</a:t>
            </a:r>
            <a:r>
              <a:rPr lang="ko-KR" altLang="en-US" sz="36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 캠</a:t>
            </a:r>
            <a:endParaRPr lang="en-US" altLang="ko-KR" sz="3600" b="1" dirty="0" smtClean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(Brief Cam, </a:t>
            </a: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이스라엘</a:t>
            </a:r>
            <a:r>
              <a:rPr 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)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551" y="3070708"/>
            <a:ext cx="4161283" cy="2402447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756" y="3056648"/>
            <a:ext cx="3645849" cy="2430566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806" y="2913693"/>
            <a:ext cx="3118644" cy="253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40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33400" y="3331258"/>
            <a:ext cx="17221200" cy="6536642"/>
          </a:xfrm>
          <a:custGeom>
            <a:avLst/>
            <a:gdLst/>
            <a:ahLst/>
            <a:cxnLst/>
            <a:rect l="l" t="t" r="r" b="b"/>
            <a:pathLst>
              <a:path w="2518676" h="1518007">
                <a:moveTo>
                  <a:pt x="0" y="0"/>
                </a:moveTo>
                <a:lnTo>
                  <a:pt x="2518676" y="0"/>
                </a:lnTo>
                <a:lnTo>
                  <a:pt x="2518676" y="1518007"/>
                </a:lnTo>
                <a:lnTo>
                  <a:pt x="0" y="1518007"/>
                </a:lnTo>
                <a:close/>
              </a:path>
            </a:pathLst>
          </a:custGeom>
          <a:ln w="9525" cap="sq">
            <a:solidFill>
              <a:srgbClr val="737373"/>
            </a:solidFill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1421481" y="990600"/>
            <a:ext cx="3894213" cy="26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REQUIREMMENTS SPECIFICATION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21481" y="1253961"/>
            <a:ext cx="505551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요구사항 명세서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</p:spTree>
    <p:extLst>
      <p:ext uri="{BB962C8B-B14F-4D97-AF65-F5344CB8AC3E}">
        <p14:creationId xmlns:p14="http://schemas.microsoft.com/office/powerpoint/2010/main" val="365749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21481" y="1253961"/>
            <a:ext cx="3894213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기능 명세서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3" name="TextBox 18"/>
          <p:cNvSpPr txBox="1"/>
          <p:nvPr/>
        </p:nvSpPr>
        <p:spPr>
          <a:xfrm>
            <a:off x="1421481" y="990600"/>
            <a:ext cx="389421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FUNCTIONAL SPECIFICATION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4" name="Freeform 9"/>
          <p:cNvSpPr/>
          <p:nvPr/>
        </p:nvSpPr>
        <p:spPr>
          <a:xfrm>
            <a:off x="533400" y="3331258"/>
            <a:ext cx="17221200" cy="6536642"/>
          </a:xfrm>
          <a:custGeom>
            <a:avLst/>
            <a:gdLst/>
            <a:ahLst/>
            <a:cxnLst/>
            <a:rect l="l" t="t" r="r" b="b"/>
            <a:pathLst>
              <a:path w="2518676" h="1518007">
                <a:moveTo>
                  <a:pt x="0" y="0"/>
                </a:moveTo>
                <a:lnTo>
                  <a:pt x="2518676" y="0"/>
                </a:lnTo>
                <a:lnTo>
                  <a:pt x="2518676" y="1518007"/>
                </a:lnTo>
                <a:lnTo>
                  <a:pt x="0" y="1518007"/>
                </a:lnTo>
                <a:close/>
              </a:path>
            </a:pathLst>
          </a:custGeom>
          <a:ln w="9525" cap="sq">
            <a:solidFill>
              <a:srgbClr val="737373"/>
            </a:solidFill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79439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21481" y="990600"/>
            <a:ext cx="5512719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EXISTING SYSTEM VS. PROPOSED SYSTEM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21481" y="1253961"/>
            <a:ext cx="9032302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기존 시스템 </a:t>
            </a:r>
            <a:r>
              <a:rPr lang="en-US" altLang="ko-KR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VS </a:t>
            </a: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제안 시스템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32907" y="3980122"/>
            <a:ext cx="7418523" cy="5735378"/>
          </a:xfrm>
          <a:custGeom>
            <a:avLst/>
            <a:gdLst/>
            <a:ahLst/>
            <a:cxnLst/>
            <a:rect l="l" t="t" r="r" b="b"/>
            <a:pathLst>
              <a:path w="1953850" h="1368879">
                <a:moveTo>
                  <a:pt x="0" y="0"/>
                </a:moveTo>
                <a:lnTo>
                  <a:pt x="1953850" y="0"/>
                </a:lnTo>
                <a:lnTo>
                  <a:pt x="1953850" y="1368879"/>
                </a:lnTo>
                <a:lnTo>
                  <a:pt x="0" y="1368879"/>
                </a:lnTo>
                <a:close/>
              </a:path>
            </a:pathLst>
          </a:custGeom>
          <a:ln w="9525" cap="sq">
            <a:solidFill>
              <a:srgbClr val="737373"/>
            </a:solidFill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9536570" y="3980122"/>
            <a:ext cx="7418523" cy="5735378"/>
          </a:xfrm>
          <a:custGeom>
            <a:avLst/>
            <a:gdLst/>
            <a:ahLst/>
            <a:cxnLst/>
            <a:rect l="l" t="t" r="r" b="b"/>
            <a:pathLst>
              <a:path w="1953850" h="1368879">
                <a:moveTo>
                  <a:pt x="0" y="0"/>
                </a:moveTo>
                <a:lnTo>
                  <a:pt x="1953850" y="0"/>
                </a:lnTo>
                <a:lnTo>
                  <a:pt x="1953850" y="1368879"/>
                </a:lnTo>
                <a:lnTo>
                  <a:pt x="0" y="1368879"/>
                </a:lnTo>
                <a:close/>
              </a:path>
            </a:pathLst>
          </a:custGeom>
          <a:ln w="28575" cap="sq">
            <a:solidFill>
              <a:srgbClr val="2A59C5"/>
            </a:solidFill>
            <a:prstDash val="solid"/>
            <a:miter/>
          </a:ln>
        </p:spPr>
      </p:sp>
      <p:grpSp>
        <p:nvGrpSpPr>
          <p:cNvPr id="16" name="Group 16"/>
          <p:cNvGrpSpPr/>
          <p:nvPr/>
        </p:nvGrpSpPr>
        <p:grpSpPr>
          <a:xfrm>
            <a:off x="3414286" y="3611851"/>
            <a:ext cx="3255765" cy="736542"/>
            <a:chOff x="0" y="0"/>
            <a:chExt cx="4341019" cy="982056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341019" cy="982056"/>
              <a:chOff x="0" y="0"/>
              <a:chExt cx="857485" cy="19398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57485" cy="193986"/>
              </a:xfrm>
              <a:custGeom>
                <a:avLst/>
                <a:gdLst/>
                <a:ahLst/>
                <a:cxnLst/>
                <a:rect l="l" t="t" r="r" b="b"/>
                <a:pathLst>
                  <a:path w="857485" h="193986">
                    <a:moveTo>
                      <a:pt x="0" y="0"/>
                    </a:moveTo>
                    <a:lnTo>
                      <a:pt x="857485" y="0"/>
                    </a:lnTo>
                    <a:lnTo>
                      <a:pt x="857485" y="193986"/>
                    </a:lnTo>
                    <a:lnTo>
                      <a:pt x="0" y="193986"/>
                    </a:lnTo>
                    <a:close/>
                  </a:path>
                </a:pathLst>
              </a:custGeom>
              <a:solidFill>
                <a:srgbClr val="BCBCB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857485" cy="2416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56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93711" y="141566"/>
              <a:ext cx="2553597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BEFORE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617949" y="3611851"/>
            <a:ext cx="3255765" cy="736542"/>
            <a:chOff x="0" y="0"/>
            <a:chExt cx="4341019" cy="982056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4341019" cy="982056"/>
              <a:chOff x="0" y="0"/>
              <a:chExt cx="857485" cy="19398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57485" cy="193986"/>
              </a:xfrm>
              <a:custGeom>
                <a:avLst/>
                <a:gdLst/>
                <a:ahLst/>
                <a:cxnLst/>
                <a:rect l="l" t="t" r="r" b="b"/>
                <a:pathLst>
                  <a:path w="857485" h="193986">
                    <a:moveTo>
                      <a:pt x="0" y="0"/>
                    </a:moveTo>
                    <a:lnTo>
                      <a:pt x="857485" y="0"/>
                    </a:lnTo>
                    <a:lnTo>
                      <a:pt x="857485" y="193986"/>
                    </a:lnTo>
                    <a:lnTo>
                      <a:pt x="0" y="193986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857485" cy="2416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56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893711" y="141566"/>
              <a:ext cx="2553597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AFTER</a:t>
              </a:r>
            </a:p>
          </p:txBody>
        </p:sp>
      </p:grpSp>
      <p:grpSp>
        <p:nvGrpSpPr>
          <p:cNvPr id="111" name="그룹 110"/>
          <p:cNvGrpSpPr/>
          <p:nvPr/>
        </p:nvGrpSpPr>
        <p:grpSpPr>
          <a:xfrm>
            <a:off x="2250119" y="4533900"/>
            <a:ext cx="13787762" cy="736542"/>
            <a:chOff x="2250119" y="4533900"/>
            <a:chExt cx="13787762" cy="736542"/>
          </a:xfrm>
        </p:grpSpPr>
        <p:sp>
          <p:nvSpPr>
            <p:cNvPr id="27" name="Freeform 27"/>
            <p:cNvSpPr/>
            <p:nvPr/>
          </p:nvSpPr>
          <p:spPr>
            <a:xfrm>
              <a:off x="2250119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39" name="Freeform 39"/>
            <p:cNvSpPr/>
            <p:nvPr/>
          </p:nvSpPr>
          <p:spPr>
            <a:xfrm>
              <a:off x="10453783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497144" y="4695478"/>
              <a:ext cx="5090049" cy="34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smtClean="0">
                  <a:solidFill>
                    <a:srgbClr val="737373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시설 보안 중심</a:t>
              </a:r>
              <a:endParaRPr lang="en-US" sz="2100" dirty="0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700807" y="4695478"/>
              <a:ext cx="5090049" cy="34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smtClean="0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시민 안전 중심</a:t>
              </a:r>
              <a:endParaRPr lang="en-US" sz="2100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2250119" y="5369218"/>
            <a:ext cx="13787762" cy="736542"/>
            <a:chOff x="2250119" y="4533900"/>
            <a:chExt cx="13787762" cy="736542"/>
          </a:xfrm>
        </p:grpSpPr>
        <p:sp>
          <p:nvSpPr>
            <p:cNvPr id="113" name="Freeform 27"/>
            <p:cNvSpPr/>
            <p:nvPr/>
          </p:nvSpPr>
          <p:spPr>
            <a:xfrm>
              <a:off x="2250119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114" name="Freeform 39"/>
            <p:cNvSpPr/>
            <p:nvPr/>
          </p:nvSpPr>
          <p:spPr>
            <a:xfrm>
              <a:off x="10453783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id="115" name="TextBox 53"/>
            <p:cNvSpPr txBox="1"/>
            <p:nvPr/>
          </p:nvSpPr>
          <p:spPr>
            <a:xfrm>
              <a:off x="2497144" y="4695478"/>
              <a:ext cx="5090049" cy="34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smtClean="0">
                  <a:solidFill>
                    <a:srgbClr val="737373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고정 </a:t>
              </a:r>
              <a:r>
                <a:rPr lang="en-US" altLang="ko-KR" sz="2100" dirty="0" smtClean="0">
                  <a:solidFill>
                    <a:srgbClr val="737373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CCTV</a:t>
              </a:r>
              <a:endParaRPr lang="en-US" sz="2100" dirty="0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  <p:sp>
          <p:nvSpPr>
            <p:cNvPr id="116" name="TextBox 57"/>
            <p:cNvSpPr txBox="1"/>
            <p:nvPr/>
          </p:nvSpPr>
          <p:spPr>
            <a:xfrm>
              <a:off x="10700807" y="4695478"/>
              <a:ext cx="5090049" cy="34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err="1" smtClean="0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드론</a:t>
              </a:r>
              <a:r>
                <a:rPr lang="ko-KR" altLang="en-US" sz="2100" dirty="0" smtClean="0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altLang="ko-KR" sz="2100" dirty="0" smtClean="0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+ CCTV</a:t>
              </a:r>
              <a:endParaRPr lang="en-US" sz="2100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2250119" y="6204536"/>
            <a:ext cx="13787762" cy="736542"/>
            <a:chOff x="2250119" y="4533900"/>
            <a:chExt cx="13787762" cy="736542"/>
          </a:xfrm>
        </p:grpSpPr>
        <p:sp>
          <p:nvSpPr>
            <p:cNvPr id="118" name="Freeform 27"/>
            <p:cNvSpPr/>
            <p:nvPr/>
          </p:nvSpPr>
          <p:spPr>
            <a:xfrm>
              <a:off x="2250119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119" name="Freeform 39"/>
            <p:cNvSpPr/>
            <p:nvPr/>
          </p:nvSpPr>
          <p:spPr>
            <a:xfrm>
              <a:off x="10453783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id="120" name="TextBox 53"/>
            <p:cNvSpPr txBox="1"/>
            <p:nvPr/>
          </p:nvSpPr>
          <p:spPr>
            <a:xfrm>
              <a:off x="2497144" y="4695478"/>
              <a:ext cx="5090049" cy="34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smtClean="0">
                  <a:solidFill>
                    <a:srgbClr val="737373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사후 분석</a:t>
              </a:r>
              <a:endParaRPr lang="en-US" sz="2100" dirty="0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  <p:sp>
          <p:nvSpPr>
            <p:cNvPr id="121" name="TextBox 57"/>
            <p:cNvSpPr txBox="1"/>
            <p:nvPr/>
          </p:nvSpPr>
          <p:spPr>
            <a:xfrm>
              <a:off x="10700807" y="4695478"/>
              <a:ext cx="5090049" cy="34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smtClean="0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실시간 분석</a:t>
              </a:r>
              <a:endParaRPr lang="en-US" sz="2100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2250119" y="7039854"/>
            <a:ext cx="13787762" cy="736542"/>
            <a:chOff x="2250119" y="4533900"/>
            <a:chExt cx="13787762" cy="736542"/>
          </a:xfrm>
        </p:grpSpPr>
        <p:sp>
          <p:nvSpPr>
            <p:cNvPr id="123" name="Freeform 27"/>
            <p:cNvSpPr/>
            <p:nvPr/>
          </p:nvSpPr>
          <p:spPr>
            <a:xfrm>
              <a:off x="2250119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124" name="Freeform 39"/>
            <p:cNvSpPr/>
            <p:nvPr/>
          </p:nvSpPr>
          <p:spPr>
            <a:xfrm>
              <a:off x="10453783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id="125" name="TextBox 53"/>
            <p:cNvSpPr txBox="1"/>
            <p:nvPr/>
          </p:nvSpPr>
          <p:spPr>
            <a:xfrm>
              <a:off x="2497144" y="4695478"/>
              <a:ext cx="5090049" cy="34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smtClean="0">
                  <a:solidFill>
                    <a:srgbClr val="737373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단순 탐지</a:t>
              </a:r>
              <a:endParaRPr lang="en-US" sz="2100" dirty="0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  <p:sp>
          <p:nvSpPr>
            <p:cNvPr id="126" name="TextBox 57"/>
            <p:cNvSpPr txBox="1"/>
            <p:nvPr/>
          </p:nvSpPr>
          <p:spPr>
            <a:xfrm>
              <a:off x="10700807" y="4695478"/>
              <a:ext cx="5090049" cy="34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smtClean="0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얼굴 인식</a:t>
              </a:r>
              <a:endParaRPr lang="en-US" sz="2100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</p:grpSp>
      <p:grpSp>
        <p:nvGrpSpPr>
          <p:cNvPr id="127" name="그룹 126"/>
          <p:cNvGrpSpPr/>
          <p:nvPr/>
        </p:nvGrpSpPr>
        <p:grpSpPr>
          <a:xfrm>
            <a:off x="2250119" y="7875172"/>
            <a:ext cx="13787762" cy="736542"/>
            <a:chOff x="2250119" y="4533900"/>
            <a:chExt cx="13787762" cy="736542"/>
          </a:xfrm>
        </p:grpSpPr>
        <p:sp>
          <p:nvSpPr>
            <p:cNvPr id="128" name="Freeform 27"/>
            <p:cNvSpPr/>
            <p:nvPr/>
          </p:nvSpPr>
          <p:spPr>
            <a:xfrm>
              <a:off x="2250119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129" name="Freeform 39"/>
            <p:cNvSpPr/>
            <p:nvPr/>
          </p:nvSpPr>
          <p:spPr>
            <a:xfrm>
              <a:off x="10453783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id="130" name="TextBox 53"/>
            <p:cNvSpPr txBox="1"/>
            <p:nvPr/>
          </p:nvSpPr>
          <p:spPr>
            <a:xfrm>
              <a:off x="2497144" y="4695478"/>
              <a:ext cx="5090049" cy="34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smtClean="0">
                  <a:solidFill>
                    <a:srgbClr val="737373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위치 기록</a:t>
              </a:r>
              <a:endParaRPr lang="en-US" sz="2100" dirty="0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  <p:sp>
          <p:nvSpPr>
            <p:cNvPr id="131" name="TextBox 57"/>
            <p:cNvSpPr txBox="1"/>
            <p:nvPr/>
          </p:nvSpPr>
          <p:spPr>
            <a:xfrm>
              <a:off x="10700807" y="4695478"/>
              <a:ext cx="5090049" cy="34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smtClean="0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이동 경로 추적</a:t>
              </a:r>
              <a:endParaRPr lang="en-US" sz="2100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2245255" y="8710490"/>
            <a:ext cx="13787762" cy="736542"/>
            <a:chOff x="2250119" y="4533900"/>
            <a:chExt cx="13787762" cy="736542"/>
          </a:xfrm>
        </p:grpSpPr>
        <p:sp>
          <p:nvSpPr>
            <p:cNvPr id="133" name="Freeform 27"/>
            <p:cNvSpPr/>
            <p:nvPr/>
          </p:nvSpPr>
          <p:spPr>
            <a:xfrm>
              <a:off x="2250119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134" name="Freeform 39"/>
            <p:cNvSpPr/>
            <p:nvPr/>
          </p:nvSpPr>
          <p:spPr>
            <a:xfrm>
              <a:off x="10453783" y="4533900"/>
              <a:ext cx="5584098" cy="736542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id="135" name="TextBox 53"/>
            <p:cNvSpPr txBox="1"/>
            <p:nvPr/>
          </p:nvSpPr>
          <p:spPr>
            <a:xfrm>
              <a:off x="2497144" y="4695478"/>
              <a:ext cx="5090049" cy="344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smtClean="0">
                  <a:solidFill>
                    <a:srgbClr val="737373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단말 카메라</a:t>
              </a:r>
              <a:endParaRPr lang="en-US" sz="2100" dirty="0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  <p:sp>
          <p:nvSpPr>
            <p:cNvPr id="136" name="TextBox 57"/>
            <p:cNvSpPr txBox="1"/>
            <p:nvPr/>
          </p:nvSpPr>
          <p:spPr>
            <a:xfrm>
              <a:off x="10700807" y="4695478"/>
              <a:ext cx="5090049" cy="371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ko-KR" altLang="en-US" sz="2100" dirty="0" smtClean="0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다중 센서 연계</a:t>
              </a:r>
              <a:endParaRPr lang="en-US" sz="2100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</p:grpSp>
      <p:grpSp>
        <p:nvGrpSpPr>
          <p:cNvPr id="137" name="Group 50"/>
          <p:cNvGrpSpPr/>
          <p:nvPr/>
        </p:nvGrpSpPr>
        <p:grpSpPr>
          <a:xfrm rot="5400000">
            <a:off x="8921747" y="6360793"/>
            <a:ext cx="444505" cy="175819"/>
            <a:chOff x="0" y="0"/>
            <a:chExt cx="1798056" cy="711200"/>
          </a:xfrm>
        </p:grpSpPr>
        <p:sp>
          <p:nvSpPr>
            <p:cNvPr id="138" name="Freeform 51"/>
            <p:cNvSpPr/>
            <p:nvPr/>
          </p:nvSpPr>
          <p:spPr>
            <a:xfrm>
              <a:off x="0" y="0"/>
              <a:ext cx="1798056" cy="711200"/>
            </a:xfrm>
            <a:custGeom>
              <a:avLst/>
              <a:gdLst/>
              <a:ahLst/>
              <a:cxnLst/>
              <a:rect l="l" t="t" r="r" b="b"/>
              <a:pathLst>
                <a:path w="1798056" h="711200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id="139" name="TextBox 52"/>
            <p:cNvSpPr txBox="1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05086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913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6341936" y="3507316"/>
            <a:ext cx="0" cy="3922468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11945424" y="3507316"/>
            <a:ext cx="0" cy="3922468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10800000">
            <a:off x="8921747" y="7679279"/>
            <a:ext cx="444505" cy="175819"/>
            <a:chOff x="0" y="0"/>
            <a:chExt cx="1798056" cy="711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8056" cy="711200"/>
            </a:xfrm>
            <a:custGeom>
              <a:avLst/>
              <a:gdLst/>
              <a:ahLst/>
              <a:cxnLst/>
              <a:rect l="l" t="t" r="r" b="b"/>
              <a:pathLst>
                <a:path w="1798056" h="711200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8162748"/>
            <a:ext cx="16230600" cy="1095552"/>
            <a:chOff x="0" y="0"/>
            <a:chExt cx="4274726" cy="2885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74726" cy="288540"/>
            </a:xfrm>
            <a:custGeom>
              <a:avLst/>
              <a:gdLst/>
              <a:ahLst/>
              <a:cxnLst/>
              <a:rect l="l" t="t" r="r" b="b"/>
              <a:pathLst>
                <a:path w="4274726" h="288540">
                  <a:moveTo>
                    <a:pt x="0" y="0"/>
                  </a:moveTo>
                  <a:lnTo>
                    <a:pt x="4274726" y="0"/>
                  </a:lnTo>
                  <a:lnTo>
                    <a:pt x="4274726" y="288540"/>
                  </a:lnTo>
                  <a:lnTo>
                    <a:pt x="0" y="288540"/>
                  </a:lnTo>
                  <a:close/>
                </a:path>
              </a:pathLst>
            </a:custGeom>
            <a:solidFill>
              <a:srgbClr val="E9E9E9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274726" cy="336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3735" y="3507316"/>
            <a:ext cx="4812273" cy="1784350"/>
            <a:chOff x="0" y="0"/>
            <a:chExt cx="745547" cy="2764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45547" cy="276443"/>
            </a:xfrm>
            <a:custGeom>
              <a:avLst/>
              <a:gdLst/>
              <a:ahLst/>
              <a:cxnLst/>
              <a:rect l="l" t="t" r="r" b="b"/>
              <a:pathLst>
                <a:path w="745547" h="276443">
                  <a:moveTo>
                    <a:pt x="0" y="0"/>
                  </a:moveTo>
                  <a:lnTo>
                    <a:pt x="745547" y="0"/>
                  </a:lnTo>
                  <a:lnTo>
                    <a:pt x="745547" y="276443"/>
                  </a:lnTo>
                  <a:lnTo>
                    <a:pt x="0" y="276443"/>
                  </a:lnTo>
                  <a:close/>
                </a:path>
              </a:pathLst>
            </a:custGeom>
            <a:blipFill>
              <a:blip r:embed="rId2"/>
              <a:stretch>
                <a:fillRect t="-39979" b="-39979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737863" y="3507316"/>
            <a:ext cx="4812273" cy="1784350"/>
            <a:chOff x="0" y="0"/>
            <a:chExt cx="745547" cy="2764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5547" cy="276443"/>
            </a:xfrm>
            <a:custGeom>
              <a:avLst/>
              <a:gdLst/>
              <a:ahLst/>
              <a:cxnLst/>
              <a:rect l="l" t="t" r="r" b="b"/>
              <a:pathLst>
                <a:path w="745547" h="276443">
                  <a:moveTo>
                    <a:pt x="0" y="0"/>
                  </a:moveTo>
                  <a:lnTo>
                    <a:pt x="745547" y="0"/>
                  </a:lnTo>
                  <a:lnTo>
                    <a:pt x="745547" y="276443"/>
                  </a:lnTo>
                  <a:lnTo>
                    <a:pt x="0" y="276443"/>
                  </a:lnTo>
                  <a:close/>
                </a:path>
              </a:pathLst>
            </a:custGeom>
            <a:blipFill>
              <a:blip r:embed="rId3"/>
              <a:stretch>
                <a:fillRect t="-39489" b="-3948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2341992" y="3507316"/>
            <a:ext cx="4812273" cy="1784350"/>
            <a:chOff x="0" y="0"/>
            <a:chExt cx="745547" cy="27644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45547" cy="276443"/>
            </a:xfrm>
            <a:custGeom>
              <a:avLst/>
              <a:gdLst/>
              <a:ahLst/>
              <a:cxnLst/>
              <a:rect l="l" t="t" r="r" b="b"/>
              <a:pathLst>
                <a:path w="745547" h="276443">
                  <a:moveTo>
                    <a:pt x="0" y="0"/>
                  </a:moveTo>
                  <a:lnTo>
                    <a:pt x="745547" y="0"/>
                  </a:lnTo>
                  <a:lnTo>
                    <a:pt x="745547" y="276443"/>
                  </a:lnTo>
                  <a:lnTo>
                    <a:pt x="0" y="276443"/>
                  </a:lnTo>
                  <a:close/>
                </a:path>
              </a:pathLst>
            </a:custGeom>
            <a:blipFill>
              <a:blip r:embed="rId4"/>
              <a:stretch>
                <a:fillRect t="-39841" b="-3984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421481" y="990600"/>
            <a:ext cx="389421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PROPOSAL OVERVIEW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21481" y="1253961"/>
            <a:ext cx="4524527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프로젝트</a:t>
            </a:r>
            <a:r>
              <a:rPr 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5699" b="1" dirty="0" err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개요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756847" y="6226723"/>
            <a:ext cx="356604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고객의 현재 비즈니스 환경과 운영 상태를 데이터 기반으로 분석하여 핵심 이슈를 도출합니다.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56847" y="5616974"/>
            <a:ext cx="356604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고객 현황 분석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60976" y="6226723"/>
            <a:ext cx="356604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분석 결과를 바탕으로 실질적인 성과를 이끌어낼 수 있는 맞춤형 전략과 실행 방향을 수립합니다.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60976" y="5616974"/>
            <a:ext cx="356604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전략적 방향 설정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65105" y="6226723"/>
            <a:ext cx="356604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단순한 제안에 그치지 않고, 즉시 적용 가능한 실행 방안을 통해 성과 창출을 지원합니다.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65105" y="5616974"/>
            <a:ext cx="356604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실행 중심 솔루션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32453" y="8433272"/>
            <a:ext cx="862309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분석부터 실행까지, 성과로 연결되는 전략을 제안합니다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24778" y="988435"/>
            <a:ext cx="389421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OBJECTIVES &amp; DIRECTION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4778" y="1251796"/>
            <a:ext cx="3894213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목표 및 방향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31997" y="1026535"/>
            <a:ext cx="132273" cy="1204431"/>
            <a:chOff x="0" y="0"/>
            <a:chExt cx="40474" cy="3685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8029796"/>
            <a:ext cx="16230600" cy="1095552"/>
            <a:chOff x="0" y="0"/>
            <a:chExt cx="4274726" cy="2885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74726" cy="288540"/>
            </a:xfrm>
            <a:custGeom>
              <a:avLst/>
              <a:gdLst/>
              <a:ahLst/>
              <a:cxnLst/>
              <a:rect l="l" t="t" r="r" b="b"/>
              <a:pathLst>
                <a:path w="4274726" h="288540">
                  <a:moveTo>
                    <a:pt x="0" y="0"/>
                  </a:moveTo>
                  <a:lnTo>
                    <a:pt x="4274726" y="0"/>
                  </a:lnTo>
                  <a:lnTo>
                    <a:pt x="4274726" y="288540"/>
                  </a:lnTo>
                  <a:lnTo>
                    <a:pt x="0" y="288540"/>
                  </a:lnTo>
                  <a:close/>
                </a:path>
              </a:pathLst>
            </a:custGeom>
            <a:solidFill>
              <a:srgbClr val="E9E9E9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274726" cy="336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31997" y="3513474"/>
            <a:ext cx="7945196" cy="4203143"/>
            <a:chOff x="0" y="0"/>
            <a:chExt cx="2092562" cy="11070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92562" cy="1107001"/>
            </a:xfrm>
            <a:custGeom>
              <a:avLst/>
              <a:gdLst/>
              <a:ahLst/>
              <a:cxnLst/>
              <a:rect l="l" t="t" r="r" b="b"/>
              <a:pathLst>
                <a:path w="2092562" h="1107001">
                  <a:moveTo>
                    <a:pt x="0" y="0"/>
                  </a:moveTo>
                  <a:lnTo>
                    <a:pt x="2092562" y="0"/>
                  </a:lnTo>
                  <a:lnTo>
                    <a:pt x="2092562" y="1107001"/>
                  </a:lnTo>
                  <a:lnTo>
                    <a:pt x="0" y="1107001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092562" cy="1154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14104" y="3513474"/>
            <a:ext cx="7945196" cy="4203143"/>
            <a:chOff x="0" y="0"/>
            <a:chExt cx="2092562" cy="110700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92562" cy="1107001"/>
            </a:xfrm>
            <a:custGeom>
              <a:avLst/>
              <a:gdLst/>
              <a:ahLst/>
              <a:cxnLst/>
              <a:rect l="l" t="t" r="r" b="b"/>
              <a:pathLst>
                <a:path w="2092562" h="1107001">
                  <a:moveTo>
                    <a:pt x="0" y="0"/>
                  </a:moveTo>
                  <a:lnTo>
                    <a:pt x="2092562" y="0"/>
                  </a:lnTo>
                  <a:lnTo>
                    <a:pt x="2092562" y="1107001"/>
                  </a:lnTo>
                  <a:lnTo>
                    <a:pt x="0" y="1107001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092562" cy="1154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994751" y="6689685"/>
            <a:ext cx="1921933" cy="482542"/>
            <a:chOff x="0" y="0"/>
            <a:chExt cx="2562578" cy="643389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2562578" cy="643389"/>
              <a:chOff x="0" y="0"/>
              <a:chExt cx="506188" cy="12708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06188" cy="127089"/>
              </a:xfrm>
              <a:custGeom>
                <a:avLst/>
                <a:gdLst/>
                <a:ahLst/>
                <a:cxnLst/>
                <a:rect l="l" t="t" r="r" b="b"/>
                <a:pathLst>
                  <a:path w="506188" h="127089">
                    <a:moveTo>
                      <a:pt x="0" y="0"/>
                    </a:moveTo>
                    <a:lnTo>
                      <a:pt x="506188" y="0"/>
                    </a:lnTo>
                    <a:lnTo>
                      <a:pt x="506188" y="127089"/>
                    </a:lnTo>
                    <a:lnTo>
                      <a:pt x="0" y="127089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506188" cy="1747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56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57057" y="82511"/>
              <a:ext cx="2048463" cy="396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#업무효율화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81702" y="6689685"/>
            <a:ext cx="1921933" cy="482542"/>
            <a:chOff x="0" y="0"/>
            <a:chExt cx="2562578" cy="643389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2562578" cy="643389"/>
              <a:chOff x="0" y="0"/>
              <a:chExt cx="506188" cy="12708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506188" cy="127089"/>
              </a:xfrm>
              <a:custGeom>
                <a:avLst/>
                <a:gdLst/>
                <a:ahLst/>
                <a:cxnLst/>
                <a:rect l="l" t="t" r="r" b="b"/>
                <a:pathLst>
                  <a:path w="506188" h="127089">
                    <a:moveTo>
                      <a:pt x="0" y="0"/>
                    </a:moveTo>
                    <a:lnTo>
                      <a:pt x="506188" y="0"/>
                    </a:lnTo>
                    <a:lnTo>
                      <a:pt x="506188" y="127089"/>
                    </a:lnTo>
                    <a:lnTo>
                      <a:pt x="0" y="127089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506188" cy="1747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56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57057" y="82511"/>
              <a:ext cx="2048463" cy="396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#운영최적화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199378" y="6689685"/>
            <a:ext cx="1921933" cy="482542"/>
            <a:chOff x="0" y="0"/>
            <a:chExt cx="2562578" cy="643389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2562578" cy="643389"/>
              <a:chOff x="0" y="0"/>
              <a:chExt cx="506188" cy="12708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06188" cy="127089"/>
              </a:xfrm>
              <a:custGeom>
                <a:avLst/>
                <a:gdLst/>
                <a:ahLst/>
                <a:cxnLst/>
                <a:rect l="l" t="t" r="r" b="b"/>
                <a:pathLst>
                  <a:path w="506188" h="127089">
                    <a:moveTo>
                      <a:pt x="0" y="0"/>
                    </a:moveTo>
                    <a:lnTo>
                      <a:pt x="506188" y="0"/>
                    </a:lnTo>
                    <a:lnTo>
                      <a:pt x="506188" y="127089"/>
                    </a:lnTo>
                    <a:lnTo>
                      <a:pt x="0" y="127089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506188" cy="1747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56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257057" y="82511"/>
              <a:ext cx="2048463" cy="396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#비용절감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86328" y="6689685"/>
            <a:ext cx="1921933" cy="482542"/>
            <a:chOff x="0" y="0"/>
            <a:chExt cx="2562578" cy="643389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2562578" cy="643389"/>
              <a:chOff x="0" y="0"/>
              <a:chExt cx="506188" cy="12708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506188" cy="127089"/>
              </a:xfrm>
              <a:custGeom>
                <a:avLst/>
                <a:gdLst/>
                <a:ahLst/>
                <a:cxnLst/>
                <a:rect l="l" t="t" r="r" b="b"/>
                <a:pathLst>
                  <a:path w="506188" h="127089">
                    <a:moveTo>
                      <a:pt x="0" y="0"/>
                    </a:moveTo>
                    <a:lnTo>
                      <a:pt x="506188" y="0"/>
                    </a:lnTo>
                    <a:lnTo>
                      <a:pt x="506188" y="127089"/>
                    </a:lnTo>
                    <a:lnTo>
                      <a:pt x="0" y="127089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506188" cy="1747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56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257057" y="82511"/>
              <a:ext cx="2048463" cy="396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#업무자동화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373279" y="6689685"/>
            <a:ext cx="1921933" cy="482542"/>
            <a:chOff x="0" y="0"/>
            <a:chExt cx="2562578" cy="643389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2562578" cy="643389"/>
              <a:chOff x="0" y="0"/>
              <a:chExt cx="506188" cy="127089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506188" cy="127089"/>
              </a:xfrm>
              <a:custGeom>
                <a:avLst/>
                <a:gdLst/>
                <a:ahLst/>
                <a:cxnLst/>
                <a:rect l="l" t="t" r="r" b="b"/>
                <a:pathLst>
                  <a:path w="506188" h="127089">
                    <a:moveTo>
                      <a:pt x="0" y="0"/>
                    </a:moveTo>
                    <a:lnTo>
                      <a:pt x="506188" y="0"/>
                    </a:lnTo>
                    <a:lnTo>
                      <a:pt x="506188" y="127089"/>
                    </a:lnTo>
                    <a:lnTo>
                      <a:pt x="0" y="127089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506188" cy="1747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56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257057" y="82511"/>
              <a:ext cx="2048463" cy="396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#효율성향상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907801" y="6689685"/>
            <a:ext cx="1921933" cy="482542"/>
            <a:chOff x="0" y="0"/>
            <a:chExt cx="2562578" cy="643389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2562578" cy="643389"/>
              <a:chOff x="0" y="0"/>
              <a:chExt cx="506188" cy="127089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506188" cy="127089"/>
              </a:xfrm>
              <a:custGeom>
                <a:avLst/>
                <a:gdLst/>
                <a:ahLst/>
                <a:cxnLst/>
                <a:rect l="l" t="t" r="r" b="b"/>
                <a:pathLst>
                  <a:path w="506188" h="127089">
                    <a:moveTo>
                      <a:pt x="0" y="0"/>
                    </a:moveTo>
                    <a:lnTo>
                      <a:pt x="506188" y="0"/>
                    </a:lnTo>
                    <a:lnTo>
                      <a:pt x="506188" y="127089"/>
                    </a:lnTo>
                    <a:lnTo>
                      <a:pt x="0" y="127089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47625"/>
                <a:ext cx="506188" cy="1747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56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257057" y="82511"/>
              <a:ext cx="2048463" cy="396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#프로세스개선</a:t>
              </a:r>
            </a:p>
          </p:txBody>
        </p:sp>
      </p:grpSp>
      <p:sp>
        <p:nvSpPr>
          <p:cNvPr id="49" name="Freeform 49"/>
          <p:cNvSpPr/>
          <p:nvPr/>
        </p:nvSpPr>
        <p:spPr>
          <a:xfrm>
            <a:off x="1864575" y="4161104"/>
            <a:ext cx="301131" cy="301131"/>
          </a:xfrm>
          <a:custGeom>
            <a:avLst/>
            <a:gdLst/>
            <a:ahLst/>
            <a:cxnLst/>
            <a:rect l="l" t="t" r="r" b="b"/>
            <a:pathLst>
              <a:path w="301131" h="301131">
                <a:moveTo>
                  <a:pt x="0" y="0"/>
                </a:moveTo>
                <a:lnTo>
                  <a:pt x="301131" y="0"/>
                </a:lnTo>
                <a:lnTo>
                  <a:pt x="301131" y="301131"/>
                </a:lnTo>
                <a:lnTo>
                  <a:pt x="0" y="301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10576425" y="4075449"/>
            <a:ext cx="602381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성과 창출을 위한 데이터 기반 성장 전략 수립</a:t>
            </a:r>
          </a:p>
        </p:txBody>
      </p:sp>
      <p:sp>
        <p:nvSpPr>
          <p:cNvPr id="51" name="Freeform 51"/>
          <p:cNvSpPr/>
          <p:nvPr/>
        </p:nvSpPr>
        <p:spPr>
          <a:xfrm>
            <a:off x="10137213" y="4161104"/>
            <a:ext cx="301131" cy="301131"/>
          </a:xfrm>
          <a:custGeom>
            <a:avLst/>
            <a:gdLst/>
            <a:ahLst/>
            <a:cxnLst/>
            <a:rect l="l" t="t" r="r" b="b"/>
            <a:pathLst>
              <a:path w="301131" h="301131">
                <a:moveTo>
                  <a:pt x="0" y="0"/>
                </a:moveTo>
                <a:lnTo>
                  <a:pt x="301131" y="0"/>
                </a:lnTo>
                <a:lnTo>
                  <a:pt x="301131" y="301131"/>
                </a:lnTo>
                <a:lnTo>
                  <a:pt x="0" y="301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2303787" y="4075449"/>
            <a:ext cx="602381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운영 효율을 극대화하는 체계적인 프로세스 개선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845636" y="4817716"/>
            <a:ext cx="6298979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현재 운영 구조를 분석하여 불필요한 요소를 제거하고, 효율적인 프로세스 구축을 통해 성과 기반을 강화합니다.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64575" y="5724496"/>
            <a:ext cx="6298979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업무 프로세스 간소화 및 자동화</a:t>
            </a:r>
          </a:p>
          <a:p>
            <a:pPr marL="388620" lvl="1" indent="-194310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비용 절감 및 운영 리소스 최적화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137213" y="4817716"/>
            <a:ext cx="6298979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단기 성과와 장기 성장을 동시에 고려한 전략을 수립하여 지속적으로 확장 가능한 비즈니스 구조를 만듭니다.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137213" y="5724496"/>
            <a:ext cx="6298979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핵심 성과 지표(KPI) 기반 운영</a:t>
            </a:r>
          </a:p>
          <a:p>
            <a:pPr marL="388620" lvl="1" indent="-194310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시장 확대 및 신규 기회 발굴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779286" y="8327269"/>
            <a:ext cx="1272942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9"/>
              </a:lnSpc>
              <a:spcBef>
                <a:spcPct val="0"/>
              </a:spcBef>
            </a:pPr>
            <a:r>
              <a:rPr lang="en-US" sz="2699" b="1" u="none" strike="noStrik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명확한 목표 설정과 실행 중심 전략을 통해 지속 가능한 성과 창출 기반을 구축합니다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21481" y="990600"/>
            <a:ext cx="389421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PROPOSED 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1481" y="1253961"/>
            <a:ext cx="3894213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솔루션 제안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32907" y="3980122"/>
            <a:ext cx="7418523" cy="5197462"/>
            <a:chOff x="0" y="0"/>
            <a:chExt cx="1953850" cy="136887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53850" cy="1368879"/>
            </a:xfrm>
            <a:custGeom>
              <a:avLst/>
              <a:gdLst/>
              <a:ahLst/>
              <a:cxnLst/>
              <a:rect l="l" t="t" r="r" b="b"/>
              <a:pathLst>
                <a:path w="1953850" h="1368879">
                  <a:moveTo>
                    <a:pt x="0" y="0"/>
                  </a:moveTo>
                  <a:lnTo>
                    <a:pt x="1953850" y="0"/>
                  </a:lnTo>
                  <a:lnTo>
                    <a:pt x="1953850" y="1368879"/>
                  </a:lnTo>
                  <a:lnTo>
                    <a:pt x="0" y="1368879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53850" cy="1416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36570" y="3980122"/>
            <a:ext cx="7418523" cy="5197462"/>
            <a:chOff x="0" y="0"/>
            <a:chExt cx="1953850" cy="136887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53850" cy="1368879"/>
            </a:xfrm>
            <a:custGeom>
              <a:avLst/>
              <a:gdLst/>
              <a:ahLst/>
              <a:cxnLst/>
              <a:rect l="l" t="t" r="r" b="b"/>
              <a:pathLst>
                <a:path w="1953850" h="1368879">
                  <a:moveTo>
                    <a:pt x="0" y="0"/>
                  </a:moveTo>
                  <a:lnTo>
                    <a:pt x="1953850" y="0"/>
                  </a:lnTo>
                  <a:lnTo>
                    <a:pt x="1953850" y="1368879"/>
                  </a:lnTo>
                  <a:lnTo>
                    <a:pt x="0" y="1368879"/>
                  </a:lnTo>
                  <a:close/>
                </a:path>
              </a:pathLst>
            </a:custGeom>
            <a:ln w="285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953850" cy="1416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414286" y="3611851"/>
            <a:ext cx="3255765" cy="736542"/>
            <a:chOff x="0" y="0"/>
            <a:chExt cx="4341019" cy="982056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341019" cy="982056"/>
              <a:chOff x="0" y="0"/>
              <a:chExt cx="857485" cy="19398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57485" cy="193986"/>
              </a:xfrm>
              <a:custGeom>
                <a:avLst/>
                <a:gdLst/>
                <a:ahLst/>
                <a:cxnLst/>
                <a:rect l="l" t="t" r="r" b="b"/>
                <a:pathLst>
                  <a:path w="857485" h="193986">
                    <a:moveTo>
                      <a:pt x="0" y="0"/>
                    </a:moveTo>
                    <a:lnTo>
                      <a:pt x="857485" y="0"/>
                    </a:lnTo>
                    <a:lnTo>
                      <a:pt x="857485" y="193986"/>
                    </a:lnTo>
                    <a:lnTo>
                      <a:pt x="0" y="193986"/>
                    </a:lnTo>
                    <a:close/>
                  </a:path>
                </a:pathLst>
              </a:custGeom>
              <a:solidFill>
                <a:srgbClr val="BCBCB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857485" cy="2416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56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93711" y="141566"/>
              <a:ext cx="2553597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BEFORE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617949" y="3611851"/>
            <a:ext cx="3255765" cy="736542"/>
            <a:chOff x="0" y="0"/>
            <a:chExt cx="4341019" cy="982056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4341019" cy="982056"/>
              <a:chOff x="0" y="0"/>
              <a:chExt cx="857485" cy="19398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57485" cy="193986"/>
              </a:xfrm>
              <a:custGeom>
                <a:avLst/>
                <a:gdLst/>
                <a:ahLst/>
                <a:cxnLst/>
                <a:rect l="l" t="t" r="r" b="b"/>
                <a:pathLst>
                  <a:path w="857485" h="193986">
                    <a:moveTo>
                      <a:pt x="0" y="0"/>
                    </a:moveTo>
                    <a:lnTo>
                      <a:pt x="857485" y="0"/>
                    </a:lnTo>
                    <a:lnTo>
                      <a:pt x="857485" y="193986"/>
                    </a:lnTo>
                    <a:lnTo>
                      <a:pt x="0" y="193986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857485" cy="2416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56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893711" y="141566"/>
              <a:ext cx="2553597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AFTER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250119" y="4924409"/>
            <a:ext cx="5584098" cy="736542"/>
            <a:chOff x="0" y="0"/>
            <a:chExt cx="1470709" cy="19398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70709" cy="193986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470709" cy="241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250119" y="5858179"/>
            <a:ext cx="5584098" cy="736542"/>
            <a:chOff x="0" y="0"/>
            <a:chExt cx="1470709" cy="1939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70709" cy="193986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470709" cy="241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250119" y="6791950"/>
            <a:ext cx="5584098" cy="736542"/>
            <a:chOff x="0" y="0"/>
            <a:chExt cx="1470709" cy="19398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70709" cy="193986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470709" cy="241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250119" y="7725721"/>
            <a:ext cx="5584098" cy="736542"/>
            <a:chOff x="0" y="0"/>
            <a:chExt cx="1470709" cy="19398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70709" cy="193986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470709" cy="241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453783" y="4924409"/>
            <a:ext cx="5584098" cy="736542"/>
            <a:chOff x="0" y="0"/>
            <a:chExt cx="1470709" cy="19398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470709" cy="193986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1470709" cy="241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453783" y="5858179"/>
            <a:ext cx="5584098" cy="736542"/>
            <a:chOff x="0" y="0"/>
            <a:chExt cx="1470709" cy="19398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470709" cy="193986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1470709" cy="241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453783" y="6791950"/>
            <a:ext cx="5584098" cy="736542"/>
            <a:chOff x="0" y="0"/>
            <a:chExt cx="1470709" cy="19398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70709" cy="193986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1470709" cy="241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453783" y="7725721"/>
            <a:ext cx="5584098" cy="736542"/>
            <a:chOff x="0" y="0"/>
            <a:chExt cx="1470709" cy="19398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70709" cy="193986"/>
            </a:xfrm>
            <a:custGeom>
              <a:avLst/>
              <a:gdLst/>
              <a:ahLst/>
              <a:cxnLst/>
              <a:rect l="l" t="t" r="r" b="b"/>
              <a:pathLst>
                <a:path w="1470709" h="193986">
                  <a:moveTo>
                    <a:pt x="0" y="0"/>
                  </a:moveTo>
                  <a:lnTo>
                    <a:pt x="1470709" y="0"/>
                  </a:lnTo>
                  <a:lnTo>
                    <a:pt x="1470709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1470709" cy="241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 rot="5400000">
            <a:off x="8921747" y="6360793"/>
            <a:ext cx="444505" cy="175819"/>
            <a:chOff x="0" y="0"/>
            <a:chExt cx="1798056" cy="7112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798056" cy="711200"/>
            </a:xfrm>
            <a:custGeom>
              <a:avLst/>
              <a:gdLst/>
              <a:ahLst/>
              <a:cxnLst/>
              <a:rect l="l" t="t" r="r" b="b"/>
              <a:pathLst>
                <a:path w="1798056" h="711200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2497144" y="5085987"/>
            <a:ext cx="509004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명확한 전략 없이 단기적인 실행 반복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497144" y="6019758"/>
            <a:ext cx="509004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비효율적인 업무 프로세스로 시간과 비용 낭비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497144" y="6953529"/>
            <a:ext cx="509004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데이터 기반 의사결정 부족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497144" y="7887300"/>
            <a:ext cx="509004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성과 측정 및 개선 체계 미흡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700807" y="5085987"/>
            <a:ext cx="509004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데이터 기반의 체계적인 전략 수립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700807" y="6019758"/>
            <a:ext cx="509004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효율적인 프로세스 구축으로 운영 최적화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700807" y="6953529"/>
            <a:ext cx="509004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성과 중심의 의사결정 체계 확립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700807" y="7887300"/>
            <a:ext cx="509004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지속적인 성과 분석 및 개선 시스템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770844"/>
            <a:ext cx="3763076" cy="3329735"/>
            <a:chOff x="0" y="0"/>
            <a:chExt cx="991098" cy="8769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91098" cy="876967"/>
            </a:xfrm>
            <a:custGeom>
              <a:avLst/>
              <a:gdLst/>
              <a:ahLst/>
              <a:cxnLst/>
              <a:rect l="l" t="t" r="r" b="b"/>
              <a:pathLst>
                <a:path w="991098" h="876967">
                  <a:moveTo>
                    <a:pt x="0" y="0"/>
                  </a:moveTo>
                  <a:lnTo>
                    <a:pt x="991098" y="0"/>
                  </a:lnTo>
                  <a:lnTo>
                    <a:pt x="991098" y="876967"/>
                  </a:lnTo>
                  <a:lnTo>
                    <a:pt x="0" y="876967"/>
                  </a:lnTo>
                  <a:close/>
                </a:path>
              </a:pathLst>
            </a:custGeom>
            <a:solidFill>
              <a:srgbClr val="E9E9E9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91098" cy="924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378523" y="4275547"/>
            <a:ext cx="1063430" cy="1015092"/>
          </a:xfrm>
          <a:custGeom>
            <a:avLst/>
            <a:gdLst/>
            <a:ahLst/>
            <a:cxnLst/>
            <a:rect l="l" t="t" r="r" b="b"/>
            <a:pathLst>
              <a:path w="1063430" h="1015092">
                <a:moveTo>
                  <a:pt x="0" y="0"/>
                </a:moveTo>
                <a:lnTo>
                  <a:pt x="1063430" y="0"/>
                </a:lnTo>
                <a:lnTo>
                  <a:pt x="1063430" y="1015093"/>
                </a:lnTo>
                <a:lnTo>
                  <a:pt x="0" y="1015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5184541" y="3770844"/>
            <a:ext cx="3763076" cy="3329735"/>
            <a:chOff x="0" y="0"/>
            <a:chExt cx="991098" cy="8769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1098" cy="876967"/>
            </a:xfrm>
            <a:custGeom>
              <a:avLst/>
              <a:gdLst/>
              <a:ahLst/>
              <a:cxnLst/>
              <a:rect l="l" t="t" r="r" b="b"/>
              <a:pathLst>
                <a:path w="991098" h="876967">
                  <a:moveTo>
                    <a:pt x="0" y="0"/>
                  </a:moveTo>
                  <a:lnTo>
                    <a:pt x="991098" y="0"/>
                  </a:lnTo>
                  <a:lnTo>
                    <a:pt x="991098" y="876967"/>
                  </a:lnTo>
                  <a:lnTo>
                    <a:pt x="0" y="876967"/>
                  </a:lnTo>
                  <a:close/>
                </a:path>
              </a:pathLst>
            </a:custGeom>
            <a:solidFill>
              <a:srgbClr val="E9E9E9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91098" cy="924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598214" y="4275547"/>
            <a:ext cx="935730" cy="1015092"/>
          </a:xfrm>
          <a:custGeom>
            <a:avLst/>
            <a:gdLst/>
            <a:ahLst/>
            <a:cxnLst/>
            <a:rect l="l" t="t" r="r" b="b"/>
            <a:pathLst>
              <a:path w="935730" h="1015092">
                <a:moveTo>
                  <a:pt x="0" y="0"/>
                </a:moveTo>
                <a:lnTo>
                  <a:pt x="935731" y="0"/>
                </a:lnTo>
                <a:lnTo>
                  <a:pt x="935731" y="1015093"/>
                </a:lnTo>
                <a:lnTo>
                  <a:pt x="0" y="10150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9340383" y="3770844"/>
            <a:ext cx="3763076" cy="3329735"/>
            <a:chOff x="0" y="0"/>
            <a:chExt cx="991098" cy="8769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91098" cy="876967"/>
            </a:xfrm>
            <a:custGeom>
              <a:avLst/>
              <a:gdLst/>
              <a:ahLst/>
              <a:cxnLst/>
              <a:rect l="l" t="t" r="r" b="b"/>
              <a:pathLst>
                <a:path w="991098" h="876967">
                  <a:moveTo>
                    <a:pt x="0" y="0"/>
                  </a:moveTo>
                  <a:lnTo>
                    <a:pt x="991098" y="0"/>
                  </a:lnTo>
                  <a:lnTo>
                    <a:pt x="991098" y="876967"/>
                  </a:lnTo>
                  <a:lnTo>
                    <a:pt x="0" y="876967"/>
                  </a:lnTo>
                  <a:close/>
                </a:path>
              </a:pathLst>
            </a:custGeom>
            <a:solidFill>
              <a:srgbClr val="E9E9E9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991098" cy="924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714375" y="4275547"/>
            <a:ext cx="1015092" cy="1015092"/>
          </a:xfrm>
          <a:custGeom>
            <a:avLst/>
            <a:gdLst/>
            <a:ahLst/>
            <a:cxnLst/>
            <a:rect l="l" t="t" r="r" b="b"/>
            <a:pathLst>
              <a:path w="1015092" h="1015092">
                <a:moveTo>
                  <a:pt x="0" y="0"/>
                </a:moveTo>
                <a:lnTo>
                  <a:pt x="1015092" y="0"/>
                </a:lnTo>
                <a:lnTo>
                  <a:pt x="1015092" y="1015093"/>
                </a:lnTo>
                <a:lnTo>
                  <a:pt x="0" y="1015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3496224" y="3770844"/>
            <a:ext cx="3763076" cy="3329735"/>
            <a:chOff x="0" y="0"/>
            <a:chExt cx="991098" cy="87696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1098" cy="876967"/>
            </a:xfrm>
            <a:custGeom>
              <a:avLst/>
              <a:gdLst/>
              <a:ahLst/>
              <a:cxnLst/>
              <a:rect l="l" t="t" r="r" b="b"/>
              <a:pathLst>
                <a:path w="991098" h="876967">
                  <a:moveTo>
                    <a:pt x="0" y="0"/>
                  </a:moveTo>
                  <a:lnTo>
                    <a:pt x="991098" y="0"/>
                  </a:lnTo>
                  <a:lnTo>
                    <a:pt x="991098" y="876967"/>
                  </a:lnTo>
                  <a:lnTo>
                    <a:pt x="0" y="876967"/>
                  </a:lnTo>
                  <a:close/>
                </a:path>
              </a:pathLst>
            </a:custGeom>
            <a:solidFill>
              <a:srgbClr val="E9E9E9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991098" cy="924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4827883" y="4233214"/>
            <a:ext cx="1099759" cy="1099759"/>
          </a:xfrm>
          <a:custGeom>
            <a:avLst/>
            <a:gdLst/>
            <a:ahLst/>
            <a:cxnLst/>
            <a:rect l="l" t="t" r="r" b="b"/>
            <a:pathLst>
              <a:path w="1099759" h="1099759">
                <a:moveTo>
                  <a:pt x="0" y="0"/>
                </a:moveTo>
                <a:lnTo>
                  <a:pt x="1099759" y="0"/>
                </a:lnTo>
                <a:lnTo>
                  <a:pt x="1099759" y="1099759"/>
                </a:lnTo>
                <a:lnTo>
                  <a:pt x="0" y="1099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4587330" y="5034883"/>
            <a:ext cx="801657" cy="801657"/>
            <a:chOff x="0" y="0"/>
            <a:chExt cx="1068876" cy="1068876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068876" cy="1068876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369402" y="295135"/>
              <a:ext cx="330073" cy="478605"/>
            </a:xfrm>
            <a:custGeom>
              <a:avLst/>
              <a:gdLst/>
              <a:ahLst/>
              <a:cxnLst/>
              <a:rect l="l" t="t" r="r" b="b"/>
              <a:pathLst>
                <a:path w="330073" h="478605">
                  <a:moveTo>
                    <a:pt x="0" y="0"/>
                  </a:moveTo>
                  <a:lnTo>
                    <a:pt x="330072" y="0"/>
                  </a:lnTo>
                  <a:lnTo>
                    <a:pt x="330072" y="478606"/>
                  </a:lnTo>
                  <a:lnTo>
                    <a:pt x="0" y="478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2903345" y="5034883"/>
            <a:ext cx="801657" cy="801657"/>
            <a:chOff x="0" y="0"/>
            <a:chExt cx="1068876" cy="1068876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068876" cy="1068876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369402" y="295135"/>
              <a:ext cx="330073" cy="478605"/>
            </a:xfrm>
            <a:custGeom>
              <a:avLst/>
              <a:gdLst/>
              <a:ahLst/>
              <a:cxnLst/>
              <a:rect l="l" t="t" r="r" b="b"/>
              <a:pathLst>
                <a:path w="330073" h="478605">
                  <a:moveTo>
                    <a:pt x="0" y="0"/>
                  </a:moveTo>
                  <a:lnTo>
                    <a:pt x="330072" y="0"/>
                  </a:lnTo>
                  <a:lnTo>
                    <a:pt x="330072" y="478606"/>
                  </a:lnTo>
                  <a:lnTo>
                    <a:pt x="0" y="478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8743172" y="5034883"/>
            <a:ext cx="801657" cy="801657"/>
            <a:chOff x="0" y="0"/>
            <a:chExt cx="1068876" cy="1068876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1068876" cy="1068876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38" name="Freeform 38"/>
            <p:cNvSpPr/>
            <p:nvPr/>
          </p:nvSpPr>
          <p:spPr>
            <a:xfrm>
              <a:off x="369402" y="295135"/>
              <a:ext cx="330073" cy="478605"/>
            </a:xfrm>
            <a:custGeom>
              <a:avLst/>
              <a:gdLst/>
              <a:ahLst/>
              <a:cxnLst/>
              <a:rect l="l" t="t" r="r" b="b"/>
              <a:pathLst>
                <a:path w="330073" h="478605">
                  <a:moveTo>
                    <a:pt x="0" y="0"/>
                  </a:moveTo>
                  <a:lnTo>
                    <a:pt x="330072" y="0"/>
                  </a:lnTo>
                  <a:lnTo>
                    <a:pt x="330072" y="478606"/>
                  </a:lnTo>
                  <a:lnTo>
                    <a:pt x="0" y="478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1421481" y="990600"/>
            <a:ext cx="389421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EXECUTION STRATEGY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21481" y="1253961"/>
            <a:ext cx="3894213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실행 전략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21805" y="7443478"/>
            <a:ext cx="2576866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고객의 비즈니스 환경과 시장 데이터를 종합적으로 분석하여 핵심 문제와 개선 포인트를 도출합니다.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57464" y="6106230"/>
            <a:ext cx="210554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단계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857464" y="5628248"/>
            <a:ext cx="21055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STEP 01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777646" y="7443478"/>
            <a:ext cx="2576866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분석 결과를 바탕으로 목표에 맞는 전략을 수립하고, 실행 가능한 구체적인 계획을 설계합니다.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013305" y="6106230"/>
            <a:ext cx="210554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기획 단계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013305" y="5628248"/>
            <a:ext cx="21055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STEP 02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933488" y="7443478"/>
            <a:ext cx="2576866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수립된 전략을 기반으로 실질적인 실행을 진행하며, 성과 창출을 위한 운영을 체계적으로 수행합니다.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169146" y="6106230"/>
            <a:ext cx="210554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실행 단계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169146" y="5628248"/>
            <a:ext cx="21055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STEP 03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089329" y="7443478"/>
            <a:ext cx="2576866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성과를 지속적으로 모니터링하고 데이터를 분석하여 전략을 보완하고 최적의 결과를 도출합니다.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324988" y="6106230"/>
            <a:ext cx="210554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개선 단계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324988" y="5628248"/>
            <a:ext cx="21055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STEP 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21481" y="990600"/>
            <a:ext cx="389421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SERVICE PACKAGE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1481" y="1253961"/>
            <a:ext cx="3894213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서비스 구성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713028" y="3635913"/>
          <a:ext cx="14830156" cy="4648110"/>
        </p:xfrm>
        <a:graphic>
          <a:graphicData uri="http://schemas.openxmlformats.org/drawingml/2006/table">
            <a:tbl>
              <a:tblPr/>
              <a:tblGrid>
                <a:gridCol w="378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1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1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1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468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Premium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Custom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Standard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Basic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68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282828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전략 기획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68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282828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콘텐츠 제작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68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282828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데이터 분석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68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282828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운영 관리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68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282828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맞춤 컨설팅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12021341" y="8357242"/>
            <a:ext cx="4521844" cy="75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078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고객 상황에 맞는 맞춤형 서비스 선택 가능</a:t>
            </a:r>
          </a:p>
          <a:p>
            <a:pPr marL="388620" lvl="1" indent="-194310" algn="l">
              <a:lnSpc>
                <a:spcPts val="3078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단계별 확장 가능한 구조로 유연한 운영 지원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484832"/>
            <a:ext cx="7987112" cy="2750146"/>
            <a:chOff x="0" y="0"/>
            <a:chExt cx="2103601" cy="7243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03601" cy="724318"/>
            </a:xfrm>
            <a:custGeom>
              <a:avLst/>
              <a:gdLst/>
              <a:ahLst/>
              <a:cxnLst/>
              <a:rect l="l" t="t" r="r" b="b"/>
              <a:pathLst>
                <a:path w="2103601" h="724318">
                  <a:moveTo>
                    <a:pt x="0" y="0"/>
                  </a:moveTo>
                  <a:lnTo>
                    <a:pt x="2103601" y="0"/>
                  </a:lnTo>
                  <a:lnTo>
                    <a:pt x="2103601" y="724318"/>
                  </a:lnTo>
                  <a:lnTo>
                    <a:pt x="0" y="724318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03601" cy="771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72188" y="3484832"/>
            <a:ext cx="7987112" cy="2750146"/>
            <a:chOff x="0" y="0"/>
            <a:chExt cx="2103601" cy="7243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03601" cy="724318"/>
            </a:xfrm>
            <a:custGeom>
              <a:avLst/>
              <a:gdLst/>
              <a:ahLst/>
              <a:cxnLst/>
              <a:rect l="l" t="t" r="r" b="b"/>
              <a:pathLst>
                <a:path w="2103601" h="724318">
                  <a:moveTo>
                    <a:pt x="0" y="0"/>
                  </a:moveTo>
                  <a:lnTo>
                    <a:pt x="2103601" y="0"/>
                  </a:lnTo>
                  <a:lnTo>
                    <a:pt x="2103601" y="724318"/>
                  </a:lnTo>
                  <a:lnTo>
                    <a:pt x="0" y="724318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103601" cy="771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6508154"/>
            <a:ext cx="7987112" cy="2750146"/>
            <a:chOff x="0" y="0"/>
            <a:chExt cx="2103601" cy="7243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03601" cy="724318"/>
            </a:xfrm>
            <a:custGeom>
              <a:avLst/>
              <a:gdLst/>
              <a:ahLst/>
              <a:cxnLst/>
              <a:rect l="l" t="t" r="r" b="b"/>
              <a:pathLst>
                <a:path w="2103601" h="724318">
                  <a:moveTo>
                    <a:pt x="0" y="0"/>
                  </a:moveTo>
                  <a:lnTo>
                    <a:pt x="2103601" y="0"/>
                  </a:lnTo>
                  <a:lnTo>
                    <a:pt x="2103601" y="724318"/>
                  </a:lnTo>
                  <a:lnTo>
                    <a:pt x="0" y="724318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103601" cy="771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72188" y="6508154"/>
            <a:ext cx="7987112" cy="2750146"/>
            <a:chOff x="0" y="0"/>
            <a:chExt cx="2103601" cy="7243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03601" cy="724318"/>
            </a:xfrm>
            <a:custGeom>
              <a:avLst/>
              <a:gdLst/>
              <a:ahLst/>
              <a:cxnLst/>
              <a:rect l="l" t="t" r="r" b="b"/>
              <a:pathLst>
                <a:path w="2103601" h="724318">
                  <a:moveTo>
                    <a:pt x="0" y="0"/>
                  </a:moveTo>
                  <a:lnTo>
                    <a:pt x="2103601" y="0"/>
                  </a:lnTo>
                  <a:lnTo>
                    <a:pt x="2103601" y="724318"/>
                  </a:lnTo>
                  <a:lnTo>
                    <a:pt x="0" y="724318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103601" cy="771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4213836" y="4353471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455381" y="4353471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4" y="0"/>
                </a:lnTo>
                <a:lnTo>
                  <a:pt x="330574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485702" y="7190862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4" y="0"/>
                </a:lnTo>
                <a:lnTo>
                  <a:pt x="330574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244157" y="7190862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047750" y="3501311"/>
            <a:ext cx="2562322" cy="2717187"/>
            <a:chOff x="0" y="0"/>
            <a:chExt cx="396971" cy="42096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6971" cy="420963"/>
            </a:xfrm>
            <a:custGeom>
              <a:avLst/>
              <a:gdLst/>
              <a:ahLst/>
              <a:cxnLst/>
              <a:rect l="l" t="t" r="r" b="b"/>
              <a:pathLst>
                <a:path w="396971" h="420963">
                  <a:moveTo>
                    <a:pt x="0" y="0"/>
                  </a:moveTo>
                  <a:lnTo>
                    <a:pt x="396971" y="0"/>
                  </a:lnTo>
                  <a:lnTo>
                    <a:pt x="396971" y="420963"/>
                  </a:lnTo>
                  <a:lnTo>
                    <a:pt x="0" y="420963"/>
                  </a:lnTo>
                  <a:close/>
                </a:path>
              </a:pathLst>
            </a:custGeom>
            <a:blipFill>
              <a:blip r:embed="rId4"/>
              <a:stretch>
                <a:fillRect l="-29460" r="-29460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9291238" y="3501311"/>
            <a:ext cx="2562322" cy="2717187"/>
            <a:chOff x="0" y="0"/>
            <a:chExt cx="396971" cy="42096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96971" cy="420963"/>
            </a:xfrm>
            <a:custGeom>
              <a:avLst/>
              <a:gdLst/>
              <a:ahLst/>
              <a:cxnLst/>
              <a:rect l="l" t="t" r="r" b="b"/>
              <a:pathLst>
                <a:path w="396971" h="420963">
                  <a:moveTo>
                    <a:pt x="0" y="0"/>
                  </a:moveTo>
                  <a:lnTo>
                    <a:pt x="396971" y="0"/>
                  </a:lnTo>
                  <a:lnTo>
                    <a:pt x="396971" y="420963"/>
                  </a:lnTo>
                  <a:lnTo>
                    <a:pt x="0" y="420963"/>
                  </a:lnTo>
                  <a:close/>
                </a:path>
              </a:pathLst>
            </a:custGeom>
            <a:blipFill>
              <a:blip r:embed="rId5"/>
              <a:stretch>
                <a:fillRect t="-8937" b="-8937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047750" y="6524634"/>
            <a:ext cx="2562322" cy="2717187"/>
            <a:chOff x="0" y="0"/>
            <a:chExt cx="396971" cy="42096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6971" cy="420963"/>
            </a:xfrm>
            <a:custGeom>
              <a:avLst/>
              <a:gdLst/>
              <a:ahLst/>
              <a:cxnLst/>
              <a:rect l="l" t="t" r="r" b="b"/>
              <a:pathLst>
                <a:path w="396971" h="420963">
                  <a:moveTo>
                    <a:pt x="0" y="0"/>
                  </a:moveTo>
                  <a:lnTo>
                    <a:pt x="396971" y="0"/>
                  </a:lnTo>
                  <a:lnTo>
                    <a:pt x="396971" y="420963"/>
                  </a:lnTo>
                  <a:lnTo>
                    <a:pt x="0" y="420963"/>
                  </a:lnTo>
                  <a:close/>
                </a:path>
              </a:pathLst>
            </a:custGeom>
            <a:blipFill>
              <a:blip r:embed="rId6"/>
              <a:stretch>
                <a:fillRect t="-20661" b="-20661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9291238" y="6524634"/>
            <a:ext cx="2562322" cy="2717187"/>
            <a:chOff x="0" y="0"/>
            <a:chExt cx="396971" cy="42096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6971" cy="420963"/>
            </a:xfrm>
            <a:custGeom>
              <a:avLst/>
              <a:gdLst/>
              <a:ahLst/>
              <a:cxnLst/>
              <a:rect l="l" t="t" r="r" b="b"/>
              <a:pathLst>
                <a:path w="396971" h="420963">
                  <a:moveTo>
                    <a:pt x="0" y="0"/>
                  </a:moveTo>
                  <a:lnTo>
                    <a:pt x="396971" y="0"/>
                  </a:lnTo>
                  <a:lnTo>
                    <a:pt x="396971" y="420963"/>
                  </a:lnTo>
                  <a:lnTo>
                    <a:pt x="0" y="420963"/>
                  </a:lnTo>
                  <a:close/>
                </a:path>
              </a:pathLst>
            </a:custGeom>
            <a:blipFill>
              <a:blip r:embed="rId7"/>
              <a:stretch>
                <a:fillRect l="-29677" r="-29677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1421481" y="990600"/>
            <a:ext cx="389421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EXPECTED OUTCOMES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1481" y="1253961"/>
            <a:ext cx="3894213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기대 효과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61564" y="4274282"/>
            <a:ext cx="347655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운영 효율 향상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83515" y="4899661"/>
            <a:ext cx="4656779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업무 처리 시간 단축 및 프로세스 간소화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운영 비용 절감 및 자원 활용 최적화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003110" y="4274282"/>
            <a:ext cx="364588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지속 가능한 성장 기반 구축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425060" y="4899661"/>
            <a:ext cx="4656779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지속적인 성과 관리 및 개선 프로세스 구축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장기적 비즈니스 성장 및 확장 기반 확보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033431" y="7111674"/>
            <a:ext cx="347655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경쟁력 강화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455381" y="7737053"/>
            <a:ext cx="4656779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시장 내 차별화 전략 및 경쟁 우위 확보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브랜드 인지도 향상 및 고객 신뢰도 강화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91885" y="7111674"/>
            <a:ext cx="347655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성과 창출 가속화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213836" y="7737053"/>
            <a:ext cx="4656779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매출 및 핵심 성과 지표(KPI) 개선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실행 속도 향상 및 업무 생산성 강화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78433" y="-189268"/>
            <a:ext cx="3268199" cy="7739024"/>
            <a:chOff x="0" y="0"/>
            <a:chExt cx="860760" cy="20382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0760" cy="2038262"/>
            </a:xfrm>
            <a:custGeom>
              <a:avLst/>
              <a:gdLst/>
              <a:ahLst/>
              <a:cxnLst/>
              <a:rect l="l" t="t" r="r" b="b"/>
              <a:pathLst>
                <a:path w="860760" h="2038262">
                  <a:moveTo>
                    <a:pt x="0" y="0"/>
                  </a:moveTo>
                  <a:lnTo>
                    <a:pt x="860760" y="0"/>
                  </a:lnTo>
                  <a:lnTo>
                    <a:pt x="860760" y="2038262"/>
                  </a:lnTo>
                  <a:lnTo>
                    <a:pt x="0" y="203826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60760" cy="2085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4221" y="7075598"/>
            <a:ext cx="18596442" cy="3324731"/>
            <a:chOff x="0" y="0"/>
            <a:chExt cx="4897828" cy="8756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97829" cy="875649"/>
            </a:xfrm>
            <a:custGeom>
              <a:avLst/>
              <a:gdLst/>
              <a:ahLst/>
              <a:cxnLst/>
              <a:rect l="l" t="t" r="r" b="b"/>
              <a:pathLst>
                <a:path w="4897829" h="875649">
                  <a:moveTo>
                    <a:pt x="0" y="0"/>
                  </a:moveTo>
                  <a:lnTo>
                    <a:pt x="4897829" y="0"/>
                  </a:lnTo>
                  <a:lnTo>
                    <a:pt x="4897829" y="875649"/>
                  </a:lnTo>
                  <a:lnTo>
                    <a:pt x="0" y="875649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897828" cy="923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33463" y="7907272"/>
            <a:ext cx="0" cy="1351028"/>
          </a:xfrm>
          <a:prstGeom prst="line">
            <a:avLst/>
          </a:prstGeom>
          <a:ln w="9525" cap="flat">
            <a:solidFill>
              <a:srgbClr val="F6F6F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2525577" y="8951595"/>
            <a:ext cx="20376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02-1234-5678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25577" y="7869172"/>
            <a:ext cx="316377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www.umchungjoeun.kr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2725" y="7869172"/>
            <a:ext cx="104285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홈페이지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2725" y="8405119"/>
            <a:ext cx="104285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이메일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2725" y="8951595"/>
            <a:ext cx="104285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연락처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25577" y="8405119"/>
            <a:ext cx="34981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dream@canvakorea.co.kr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214108"/>
            <a:ext cx="8441160" cy="158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79"/>
              </a:lnSpc>
              <a:spcBef>
                <a:spcPct val="0"/>
              </a:spcBef>
            </a:pPr>
            <a:r>
              <a:rPr lang="en-US" sz="9270" b="1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Thank You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3516926"/>
            <a:ext cx="7056707" cy="158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79"/>
              </a:lnSpc>
              <a:spcBef>
                <a:spcPct val="0"/>
              </a:spcBef>
            </a:pPr>
            <a:r>
              <a:rPr lang="en-US" sz="9270" b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감사합니다!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1848967"/>
            <a:ext cx="3836759" cy="356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0"/>
              </a:lnSpc>
              <a:spcBef>
                <a:spcPct val="0"/>
              </a:spcBef>
            </a:pPr>
            <a:r>
              <a:rPr lang="en-US" sz="2107" spc="21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BUSINESS PROPOSAL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244784"/>
            <a:ext cx="6505897" cy="333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40"/>
              </a:lnSpc>
              <a:spcBef>
                <a:spcPct val="0"/>
              </a:spcBef>
            </a:pPr>
            <a:r>
              <a:rPr lang="en-US" sz="1886" spc="335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고객의 성장을 위한 전략적 솔루션을 제안합니다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938</Words>
  <Application>Microsoft Office PowerPoint</Application>
  <PresentationFormat>사용자 지정</PresentationFormat>
  <Paragraphs>239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프리텐다드 Medium</vt:lpstr>
      <vt:lpstr>Arial</vt:lpstr>
      <vt:lpstr>Calibri</vt:lpstr>
      <vt:lpstr>프리텐다드 Semi-Bold</vt:lpstr>
      <vt:lpstr>프리텐다드 Light</vt:lpstr>
      <vt:lpstr>프리텐다드 Bold</vt:lpstr>
      <vt:lpstr>프리텐다드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회색 깔끔한 비즈니스 제안서 프레젠테이션</dc:title>
  <cp:lastModifiedBy>DW</cp:lastModifiedBy>
  <cp:revision>23</cp:revision>
  <dcterms:created xsi:type="dcterms:W3CDTF">2006-08-16T00:00:00Z</dcterms:created>
  <dcterms:modified xsi:type="dcterms:W3CDTF">2026-06-25T06:50:08Z</dcterms:modified>
  <dc:identifier>DAHNfhaR16o</dc:identifier>
</cp:coreProperties>
</file>