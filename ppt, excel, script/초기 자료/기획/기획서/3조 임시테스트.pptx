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69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59" autoAdjust="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13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1352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837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 w="8890">
            <a:solidFill>
              <a:srgbClr val="5C462F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pic>
        <p:nvPicPr>
          <p:cNvPr id="3" name="Image 0" descr="/mnt/data/a_cinematic_high_tech_surveillance_drone_reconn_batch_1.png"/>
          <p:cNvPicPr>
            <a:picLocks noChangeAspect="1"/>
          </p:cNvPicPr>
          <p:nvPr/>
        </p:nvPicPr>
        <p:blipFill>
          <a:blip r:embed="rId3"/>
          <a:srcRect l="4000" r="-405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>
              <a:alpha val="88000"/>
            </a:srgbClr>
          </a:solidFill>
          <a:ln w="8890">
            <a:solidFill>
              <a:srgbClr val="5C462F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 dirty="0"/>
          </a:p>
        </p:txBody>
      </p:sp>
      <p:sp>
        <p:nvSpPr>
          <p:cNvPr id="5" name="Shape 2"/>
          <p:cNvSpPr/>
          <p:nvPr/>
        </p:nvSpPr>
        <p:spPr>
          <a:xfrm>
            <a:off x="777240" y="658368"/>
            <a:ext cx="2057400" cy="310896"/>
          </a:xfrm>
          <a:prstGeom prst="roundRect">
            <a:avLst/>
          </a:prstGeom>
          <a:solidFill>
            <a:srgbClr val="07080C">
              <a:alpha val="45000"/>
            </a:srgbClr>
          </a:solidFill>
          <a:ln w="8890">
            <a:solidFill>
              <a:srgbClr val="CDA25C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822960" y="748893"/>
            <a:ext cx="1837944" cy="182880"/>
          </a:xfrm>
          <a:prstGeom prst="rect">
            <a:avLst/>
          </a:prstGeom>
          <a:noFill/>
          <a:ln>
            <a:solid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DRONE CONTROL SYSTEM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9808" y="1225295"/>
            <a:ext cx="5303520" cy="1553723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0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OBSIDIAN</a:t>
            </a:r>
            <a:endParaRPr lang="en-US" sz="60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60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SHIELD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81228" y="2892350"/>
            <a:ext cx="2249424" cy="687203"/>
          </a:xfrm>
          <a:prstGeom prst="rect">
            <a:avLst/>
          </a:prstGeom>
          <a:noFill/>
          <a:ln w="9525">
            <a:noFill/>
          </a:ln>
        </p:spPr>
        <p:txBody>
          <a:bodyPr wrap="square" lIns="180000" tIns="180000" rIns="18288" bIns="108000" spcCol="0" rtlCol="0" anchor="t">
            <a:spAutoFit/>
          </a:bodyPr>
          <a:lstStyle/>
          <a:p>
            <a:pPr>
              <a:lnSpc>
                <a:spcPct val="92000"/>
              </a:lnSpc>
            </a:pPr>
            <a:r>
              <a:rPr lang="en-US" altLang="ko-KR" sz="14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</a:t>
            </a:r>
            <a:r>
              <a:rPr lang="ko-KR" altLang="en-US" sz="14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기반 실시간 용의자</a:t>
            </a:r>
            <a:endParaRPr lang="en-US" altLang="ko-KR" sz="1400" b="1" dirty="0">
              <a:solidFill>
                <a:srgbClr val="ECE2D2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>
              <a:lnSpc>
                <a:spcPct val="92000"/>
              </a:lnSpc>
            </a:pPr>
            <a:r>
              <a:rPr lang="ko-KR" altLang="en-US" sz="14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추적 및 드론 관제 시스템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4182945"/>
            <a:ext cx="5303520" cy="6260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08000" rIns="18288" bIns="9144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드론과 CCTV 영상을 AI가 분석해 용의자 · 실종자의 위치를 기록하고</a:t>
            </a:r>
            <a:endParaRPr lang="en-US" altLang="ko-KR" sz="1200" dirty="0"/>
          </a:p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예상 이동 경로를 관제 화면에서 추적하는 공공 안전 플랫폼</a:t>
            </a:r>
            <a:endParaRPr lang="en-US" altLang="ko-KR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4983480"/>
            <a:ext cx="2468880" cy="512064"/>
          </a:xfrm>
          <a:prstGeom prst="roundRect">
            <a:avLst/>
          </a:prstGeom>
          <a:solidFill>
            <a:srgbClr val="07080C">
              <a:alpha val="55000"/>
            </a:srgbClr>
          </a:solidFill>
          <a:ln w="8890">
            <a:solidFill>
              <a:srgbClr val="CDA25C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987552" y="5125286"/>
            <a:ext cx="2011680" cy="270899"/>
          </a:xfrm>
          <a:prstGeom prst="rect">
            <a:avLst/>
          </a:prstGeom>
          <a:noFill/>
          <a:ln>
            <a:noFill/>
          </a:ln>
        </p:spPr>
        <p:txBody>
          <a:bodyPr wrap="square" lIns="18288" tIns="36000" rIns="18288" bIns="3600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CDA25C"/>
                </a:solidFill>
                <a:latin typeface="+mn-ea"/>
                <a:cs typeface="Noto Sans CJK KR" pitchFamily="34" charset="-120"/>
              </a:rPr>
              <a:t>TEAM  3</a:t>
            </a:r>
            <a:r>
              <a:rPr lang="ko-KR" altLang="en-US" sz="1400" b="1" dirty="0">
                <a:solidFill>
                  <a:srgbClr val="CDA25C"/>
                </a:solidFill>
                <a:latin typeface="+mn-ea"/>
                <a:cs typeface="Noto Sans CJK KR" pitchFamily="34" charset="-120"/>
              </a:rPr>
              <a:t>조</a:t>
            </a:r>
            <a:r>
              <a:rPr lang="en-US" sz="1400" b="1" dirty="0">
                <a:solidFill>
                  <a:srgbClr val="CDA25C"/>
                </a:solidFill>
                <a:latin typeface="+mn-ea"/>
                <a:cs typeface="Noto Sans CJK KR" pitchFamily="34" charset="-120"/>
              </a:rPr>
              <a:t> 딱코</a:t>
            </a:r>
            <a:endParaRPr lang="en-US" sz="1400" dirty="0">
              <a:latin typeface="+mn-ea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9966960" y="6547104"/>
            <a:ext cx="1554480" cy="0"/>
          </a:xfrm>
          <a:prstGeom prst="line">
            <a:avLst/>
          </a:prstGeom>
          <a:noFill/>
          <a:ln w="8890">
            <a:solidFill>
              <a:srgbClr val="CDA25C">
                <a:alpha val="85000"/>
              </a:srgbClr>
            </a:solidFill>
            <a:prstDash val="solid"/>
          </a:ln>
        </p:spPr>
        <p:txBody>
          <a:bodyPr wrap="square" lIns="18288" tIns="9144" rIns="18288" bIns="9144" anchor="t">
            <a:normAutofit fontScale="25000" lnSpcReduction="20000"/>
          </a:bodyPr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438912"/>
            <a:ext cx="11018520" cy="16459"/>
          </a:xfrm>
          <a:prstGeom prst="rect">
            <a:avLst/>
          </a:prstGeom>
          <a:solidFill>
            <a:srgbClr val="B07E41"/>
          </a:solidFill>
          <a:ln>
            <a:solidFill>
              <a:srgbClr val="B07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6327648"/>
            <a:ext cx="11018520" cy="10972"/>
          </a:xfrm>
          <a:prstGeom prst="rect">
            <a:avLst/>
          </a:prstGeom>
          <a:solidFill>
            <a:srgbClr val="5C462F"/>
          </a:solidFill>
          <a:ln>
            <a:solidFill>
              <a:srgbClr val="5C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9720" y="6373368"/>
            <a:ext cx="22860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>
                <a:solidFill>
                  <a:srgbClr val="A69A8A"/>
                </a:solidFill>
              </a:defRPr>
            </a:pPr>
            <a:r>
              <a:t>DETECT · IDENTIFY · TRACK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939988"/>
            <a:ext cx="7132320" cy="303536"/>
          </a:xfrm>
          <a:prstGeom prst="rect">
            <a:avLst/>
          </a:prstGeom>
          <a:noFill/>
        </p:spPr>
        <p:txBody>
          <a:bodyPr wrap="square" lIns="18288" tIns="36000" rIns="18288" bIns="36000" anchor="t">
            <a:spAutoFit/>
          </a:bodyPr>
          <a:lstStyle/>
          <a:p>
            <a:pPr>
              <a:defRPr sz="1500">
                <a:solidFill>
                  <a:srgbClr val="CDA25C"/>
                </a:solidFill>
              </a:defRPr>
            </a:pPr>
            <a:r>
              <a:rPr lang="ko-KR" altLang="en-US" dirty="0">
                <a:solidFill>
                  <a:srgbClr val="A69A8A"/>
                </a:solidFill>
              </a:rPr>
              <a:t>드론을 이동형 관제로 활용하여 얼굴 식별과 이동 추적을 지원합니다</a:t>
            </a:r>
            <a:r>
              <a:rPr lang="en-US" altLang="ko-KR" dirty="0">
                <a:solidFill>
                  <a:srgbClr val="A69A8A"/>
                </a:solidFill>
              </a:rPr>
              <a:t>.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2B7511E-AAEE-42A0-9107-CA31F69DB155}"/>
              </a:ext>
            </a:extLst>
          </p:cNvPr>
          <p:cNvSpPr/>
          <p:nvPr/>
        </p:nvSpPr>
        <p:spPr>
          <a:xfrm>
            <a:off x="592865" y="6422744"/>
            <a:ext cx="1186854" cy="179224"/>
          </a:xfrm>
          <a:prstGeom prst="rect">
            <a:avLst/>
          </a:prstGeom>
          <a:noFill/>
          <a:ln>
            <a:noFill/>
          </a:ln>
        </p:spPr>
        <p:txBody>
          <a:bodyPr wrap="square" lIns="18288" tIns="36000" rIns="0" bIns="36000" rtlCol="0" anchor="t">
            <a:normAutofit lnSpcReduction="10000"/>
          </a:bodyPr>
          <a:lstStyle/>
          <a:p>
            <a:pPr marL="0" indent="0">
              <a:lnSpc>
                <a:spcPct val="92000"/>
              </a:lnSpc>
              <a:buNone/>
            </a:pPr>
            <a:r>
              <a:rPr lang="en-US" sz="80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OBSIDIAN SHIELD  /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solidFill>
              <a:srgbClr val="070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796998"/>
            <a:ext cx="4206240" cy="57246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 sz="3600" b="1">
                <a:solidFill>
                  <a:srgbClr val="ECE2D2"/>
                </a:solidFill>
              </a:defRPr>
            </a:pPr>
            <a:r>
              <a:rPr dirty="0"/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37040"/>
            <a:ext cx="4754880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 sz="1100">
                <a:solidFill>
                  <a:srgbClr val="CDA25C"/>
                </a:solidFill>
              </a:defRPr>
            </a:pPr>
            <a:r>
              <a:rPr sz="1400" dirty="0"/>
              <a:t>OBSIDIAN SHIELD PRESENTATION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63525" y="796998"/>
            <a:ext cx="45719" cy="5146601"/>
          </a:xfrm>
          <a:prstGeom prst="rect">
            <a:avLst/>
          </a:prstGeom>
          <a:solidFill>
            <a:srgbClr val="CDA25C"/>
          </a:solidFill>
          <a:ln>
            <a:solidFill>
              <a:srgbClr val="CDA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51560" y="1938528"/>
            <a:ext cx="4617720" cy="566928"/>
          </a:xfrm>
          <a:prstGeom prst="roundRect">
            <a:avLst/>
          </a:prstGeom>
          <a:solidFill>
            <a:srgbClr val="121216"/>
          </a:solidFill>
          <a:ln>
            <a:solidFill>
              <a:srgbClr val="5C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52728" y="2066544"/>
            <a:ext cx="411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 sz="1000" b="1">
                <a:solidFill>
                  <a:srgbClr val="CDA25C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11680"/>
            <a:ext cx="2057400" cy="210312"/>
          </a:xfrm>
          <a:prstGeom prst="rect">
            <a:avLst/>
          </a:prstGeom>
          <a:noFill/>
        </p:spPr>
        <p:txBody>
          <a:bodyPr wrap="square" lIns="18288" tIns="0" rIns="18288" bIns="9144" anchor="t">
            <a:spAutoFit/>
          </a:bodyPr>
          <a:lstStyle/>
          <a:p>
            <a:pPr>
              <a:defRPr sz="1300" b="1">
                <a:solidFill>
                  <a:srgbClr val="ECE2D2"/>
                </a:solidFill>
              </a:defRPr>
            </a:pPr>
            <a:r>
              <a:rPr dirty="0"/>
              <a:t>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240280"/>
            <a:ext cx="329184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rmAutofit/>
          </a:bodyPr>
          <a:lstStyle/>
          <a:p>
            <a:pPr>
              <a:defRPr sz="850">
                <a:solidFill>
                  <a:srgbClr val="A69A8A"/>
                </a:solidFill>
              </a:defRPr>
            </a:pPr>
            <a:r>
              <a:rPr lang="ko-KR" altLang="en-US" dirty="0"/>
              <a:t>드론을 이동형 관제로 활용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697480"/>
            <a:ext cx="4617720" cy="566928"/>
          </a:xfrm>
          <a:prstGeom prst="roundRect">
            <a:avLst/>
          </a:prstGeom>
          <a:solidFill>
            <a:srgbClr val="121216"/>
          </a:solidFill>
          <a:ln>
            <a:solidFill>
              <a:srgbClr val="5C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52728" y="2825496"/>
            <a:ext cx="411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 sz="1000" b="1">
                <a:solidFill>
                  <a:srgbClr val="CDA25C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770632"/>
            <a:ext cx="2057400" cy="210312"/>
          </a:xfrm>
          <a:prstGeom prst="rect">
            <a:avLst/>
          </a:prstGeom>
          <a:noFill/>
        </p:spPr>
        <p:txBody>
          <a:bodyPr wrap="square" lIns="18288" tIns="0" rIns="18288" bIns="9144" anchor="t">
            <a:spAutoFit/>
          </a:bodyPr>
          <a:lstStyle/>
          <a:p>
            <a:pPr>
              <a:defRPr sz="1300" b="1">
                <a:solidFill>
                  <a:srgbClr val="ECE2D2"/>
                </a:solidFill>
              </a:defRPr>
            </a:pPr>
            <a:r>
              <a:rPr dirty="0"/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999232"/>
            <a:ext cx="329184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rmAutofit/>
          </a:bodyPr>
          <a:lstStyle/>
          <a:p>
            <a:pPr>
              <a:defRPr sz="850">
                <a:solidFill>
                  <a:srgbClr val="A69A8A"/>
                </a:solidFill>
              </a:defRPr>
            </a:pPr>
            <a:r>
              <a:rPr lang="en-US" altLang="ko-KR" dirty="0"/>
              <a:t>CCTV </a:t>
            </a:r>
            <a:r>
              <a:rPr lang="ko-KR" altLang="en-US" dirty="0"/>
              <a:t>사각지대와 추적 단절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456432"/>
            <a:ext cx="4617720" cy="566928"/>
          </a:xfrm>
          <a:prstGeom prst="roundRect">
            <a:avLst/>
          </a:prstGeom>
          <a:solidFill>
            <a:srgbClr val="121216"/>
          </a:solidFill>
          <a:ln>
            <a:solidFill>
              <a:srgbClr val="5C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52728" y="3584448"/>
            <a:ext cx="411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 sz="1000" b="1">
                <a:solidFill>
                  <a:srgbClr val="CDA25C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529584"/>
            <a:ext cx="2057400" cy="210312"/>
          </a:xfrm>
          <a:prstGeom prst="rect">
            <a:avLst/>
          </a:prstGeom>
          <a:noFill/>
        </p:spPr>
        <p:txBody>
          <a:bodyPr wrap="square" lIns="18288" tIns="0" rIns="18288" bIns="9144" anchor="t">
            <a:spAutoFit/>
          </a:bodyPr>
          <a:lstStyle/>
          <a:p>
            <a:pPr>
              <a:defRPr sz="1300" b="1">
                <a:solidFill>
                  <a:srgbClr val="ECE2D2"/>
                </a:solidFill>
              </a:defRPr>
            </a:pPr>
            <a:r>
              <a:rPr dirty="0"/>
              <a:t>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758184"/>
            <a:ext cx="329184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rmAutofit/>
          </a:bodyPr>
          <a:lstStyle/>
          <a:p>
            <a:pPr>
              <a:defRPr sz="850">
                <a:solidFill>
                  <a:srgbClr val="A69A8A"/>
                </a:solidFill>
              </a:defRPr>
            </a:pPr>
            <a:r>
              <a:rPr lang="ko-KR" altLang="en-US" dirty="0"/>
              <a:t>얼굴 분석 </a:t>
            </a:r>
            <a:r>
              <a:rPr lang="en-US" altLang="ko-KR" dirty="0"/>
              <a:t>· DB </a:t>
            </a:r>
            <a:r>
              <a:rPr lang="ko-KR" altLang="en-US" dirty="0"/>
              <a:t>비교 </a:t>
            </a:r>
            <a:r>
              <a:rPr lang="en-US" altLang="ko-KR" dirty="0"/>
              <a:t>· </a:t>
            </a:r>
            <a:r>
              <a:rPr lang="ko-KR" altLang="en-US" dirty="0"/>
              <a:t>경로 예측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215383"/>
            <a:ext cx="4617720" cy="566928"/>
          </a:xfrm>
          <a:prstGeom prst="roundRect">
            <a:avLst/>
          </a:prstGeom>
          <a:solidFill>
            <a:srgbClr val="121216"/>
          </a:solidFill>
          <a:ln>
            <a:solidFill>
              <a:srgbClr val="5C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52728" y="4343399"/>
            <a:ext cx="411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 sz="1000" b="1">
                <a:solidFill>
                  <a:srgbClr val="CDA25C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288536"/>
            <a:ext cx="2057400" cy="210312"/>
          </a:xfrm>
          <a:prstGeom prst="rect">
            <a:avLst/>
          </a:prstGeom>
          <a:noFill/>
        </p:spPr>
        <p:txBody>
          <a:bodyPr wrap="square" lIns="18288" tIns="0" rIns="18288" bIns="9144" anchor="t">
            <a:spAutoFit/>
          </a:bodyPr>
          <a:lstStyle/>
          <a:p>
            <a:pPr>
              <a:defRPr sz="1300" b="1">
                <a:solidFill>
                  <a:srgbClr val="ECE2D2"/>
                </a:solidFill>
              </a:defRPr>
            </a:pPr>
            <a:r>
              <a:rPr dirty="0"/>
              <a:t>CORE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517136"/>
            <a:ext cx="329184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rmAutofit/>
          </a:bodyPr>
          <a:lstStyle/>
          <a:p>
            <a:pPr>
              <a:defRPr sz="850">
                <a:solidFill>
                  <a:srgbClr val="A69A8A"/>
                </a:solidFill>
              </a:defRPr>
            </a:pPr>
            <a:r>
              <a:rPr lang="ko-KR" altLang="en-US" dirty="0"/>
              <a:t>탐지부터 기록까지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974336"/>
            <a:ext cx="4617720" cy="566928"/>
          </a:xfrm>
          <a:prstGeom prst="roundRect">
            <a:avLst/>
          </a:prstGeom>
          <a:solidFill>
            <a:srgbClr val="121216"/>
          </a:solidFill>
          <a:ln>
            <a:solidFill>
              <a:srgbClr val="5C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52728" y="5102351"/>
            <a:ext cx="411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 sz="1000" b="1">
                <a:solidFill>
                  <a:srgbClr val="CDA25C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047488"/>
            <a:ext cx="2057400" cy="210312"/>
          </a:xfrm>
          <a:prstGeom prst="rect">
            <a:avLst/>
          </a:prstGeom>
          <a:noFill/>
        </p:spPr>
        <p:txBody>
          <a:bodyPr wrap="square" lIns="18288" tIns="0" rIns="18288" bIns="9144" anchor="t">
            <a:spAutoFit/>
          </a:bodyPr>
          <a:lstStyle/>
          <a:p>
            <a:pPr>
              <a:defRPr sz="1300" b="1">
                <a:solidFill>
                  <a:srgbClr val="ECE2D2"/>
                </a:solidFill>
              </a:defRPr>
            </a:pPr>
            <a:r>
              <a:rPr dirty="0"/>
              <a:t>CONTROL CENTER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276088"/>
            <a:ext cx="329184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rmAutofit/>
          </a:bodyPr>
          <a:lstStyle/>
          <a:p>
            <a:pPr>
              <a:defRPr sz="850">
                <a:solidFill>
                  <a:srgbClr val="A69A8A"/>
                </a:solidFill>
              </a:defRPr>
            </a:pPr>
            <a:r>
              <a:rPr lang="ko-KR" altLang="en-US" dirty="0"/>
              <a:t>관제 대시보드 구조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79" y="1938528"/>
            <a:ext cx="4617720" cy="566928"/>
          </a:xfrm>
          <a:prstGeom prst="roundRect">
            <a:avLst/>
          </a:prstGeom>
          <a:solidFill>
            <a:srgbClr val="121216"/>
          </a:solidFill>
          <a:ln>
            <a:solidFill>
              <a:srgbClr val="5C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56247" y="2066544"/>
            <a:ext cx="411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 sz="1000" b="1">
                <a:solidFill>
                  <a:srgbClr val="CDA25C"/>
                </a:solidFill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2011680"/>
            <a:ext cx="2057400" cy="210312"/>
          </a:xfrm>
          <a:prstGeom prst="rect">
            <a:avLst/>
          </a:prstGeom>
          <a:noFill/>
        </p:spPr>
        <p:txBody>
          <a:bodyPr wrap="square" lIns="18288" tIns="0" rIns="18288" bIns="9144" anchor="t">
            <a:spAutoFit/>
          </a:bodyPr>
          <a:lstStyle/>
          <a:p>
            <a:pPr>
              <a:defRPr sz="1300" b="1">
                <a:solidFill>
                  <a:srgbClr val="ECE2D2"/>
                </a:solidFill>
              </a:defRPr>
            </a:pPr>
            <a:r>
              <a:rPr dirty="0"/>
              <a:t>BENCHMARK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79" y="2240280"/>
            <a:ext cx="329184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rmAutofit/>
          </a:bodyPr>
          <a:lstStyle/>
          <a:p>
            <a:pPr>
              <a:defRPr sz="850">
                <a:solidFill>
                  <a:srgbClr val="A69A8A"/>
                </a:solidFill>
              </a:defRPr>
            </a:pPr>
            <a:r>
              <a:rPr lang="ko-KR" altLang="en-US" dirty="0"/>
              <a:t>유사 서비스 비교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79" y="2697480"/>
            <a:ext cx="4617720" cy="566928"/>
          </a:xfrm>
          <a:prstGeom prst="roundRect">
            <a:avLst/>
          </a:prstGeom>
          <a:solidFill>
            <a:srgbClr val="121216"/>
          </a:solidFill>
          <a:ln>
            <a:solidFill>
              <a:srgbClr val="5C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56247" y="2825496"/>
            <a:ext cx="411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 sz="1000" b="1">
                <a:solidFill>
                  <a:srgbClr val="CDA25C"/>
                </a:solidFill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79" y="2770632"/>
            <a:ext cx="2057400" cy="210312"/>
          </a:xfrm>
          <a:prstGeom prst="rect">
            <a:avLst/>
          </a:prstGeom>
          <a:noFill/>
        </p:spPr>
        <p:txBody>
          <a:bodyPr wrap="square" lIns="18288" tIns="0" rIns="18288" bIns="9144" anchor="t">
            <a:spAutoFit/>
          </a:bodyPr>
          <a:lstStyle/>
          <a:p>
            <a:pPr>
              <a:defRPr sz="1300" b="1">
                <a:solidFill>
                  <a:srgbClr val="ECE2D2"/>
                </a:solidFill>
              </a:defRPr>
            </a:pPr>
            <a:r>
              <a:rPr dirty="0"/>
              <a:t>WIREFRAME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79" y="2999232"/>
            <a:ext cx="329184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rmAutofit/>
          </a:bodyPr>
          <a:lstStyle/>
          <a:p>
            <a:pPr>
              <a:defRPr sz="850">
                <a:solidFill>
                  <a:srgbClr val="A69A8A"/>
                </a:solidFill>
              </a:defRPr>
            </a:pPr>
            <a:r>
              <a:rPr lang="ko-KR" altLang="en-US" dirty="0"/>
              <a:t>화면 설계 방향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79" y="3456432"/>
            <a:ext cx="4617720" cy="566928"/>
          </a:xfrm>
          <a:prstGeom prst="roundRect">
            <a:avLst/>
          </a:prstGeom>
          <a:solidFill>
            <a:srgbClr val="121216"/>
          </a:solidFill>
          <a:ln>
            <a:solidFill>
              <a:srgbClr val="5C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56247" y="3584448"/>
            <a:ext cx="411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 sz="1000" b="1">
                <a:solidFill>
                  <a:srgbClr val="CDA25C"/>
                </a:solidFill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79" y="3529584"/>
            <a:ext cx="2057400" cy="210312"/>
          </a:xfrm>
          <a:prstGeom prst="rect">
            <a:avLst/>
          </a:prstGeom>
          <a:noFill/>
        </p:spPr>
        <p:txBody>
          <a:bodyPr wrap="square" lIns="18288" tIns="0" rIns="18288" bIns="9144" anchor="t">
            <a:spAutoFit/>
          </a:bodyPr>
          <a:lstStyle/>
          <a:p>
            <a:pPr>
              <a:defRPr sz="1300" b="1">
                <a:solidFill>
                  <a:srgbClr val="ECE2D2"/>
                </a:solidFill>
              </a:defRPr>
            </a:pPr>
            <a:r>
              <a:rPr dirty="0"/>
              <a:t>BUILD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79" y="3758184"/>
            <a:ext cx="329184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rmAutofit/>
          </a:bodyPr>
          <a:lstStyle/>
          <a:p>
            <a:pPr>
              <a:defRPr sz="850">
                <a:solidFill>
                  <a:srgbClr val="A69A8A"/>
                </a:solidFill>
              </a:defRPr>
            </a:pPr>
            <a:r>
              <a:rPr lang="ko-KR" altLang="en-US" dirty="0"/>
              <a:t>구현 흐름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79" y="4215383"/>
            <a:ext cx="4617720" cy="566928"/>
          </a:xfrm>
          <a:prstGeom prst="roundRect">
            <a:avLst/>
          </a:prstGeom>
          <a:solidFill>
            <a:srgbClr val="121216"/>
          </a:solidFill>
          <a:ln>
            <a:solidFill>
              <a:srgbClr val="5C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56247" y="4343399"/>
            <a:ext cx="411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 sz="1000" b="1">
                <a:solidFill>
                  <a:srgbClr val="CDA25C"/>
                </a:solidFill>
              </a:defRPr>
            </a:pPr>
            <a: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79" y="4288536"/>
            <a:ext cx="2057400" cy="21852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 sz="1300" b="1">
                <a:solidFill>
                  <a:srgbClr val="ECE2D2"/>
                </a:solidFill>
              </a:defRPr>
            </a:pPr>
            <a:r>
              <a:rPr dirty="0"/>
              <a:t>TEAM</a:t>
            </a:r>
            <a:r>
              <a:rPr lang="en-US" altLang="ko-KR" dirty="0"/>
              <a:t>  3</a:t>
            </a:r>
            <a:r>
              <a:rPr lang="ko-KR" altLang="en-US" dirty="0"/>
              <a:t>조</a:t>
            </a:r>
            <a:endParaRPr dirty="0"/>
          </a:p>
        </p:txBody>
      </p:sp>
      <p:sp>
        <p:nvSpPr>
          <p:cNvPr id="41" name="TextBox 40"/>
          <p:cNvSpPr txBox="1"/>
          <p:nvPr/>
        </p:nvSpPr>
        <p:spPr>
          <a:xfrm>
            <a:off x="7040879" y="4517136"/>
            <a:ext cx="329184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rmAutofit/>
          </a:bodyPr>
          <a:lstStyle/>
          <a:p>
            <a:pPr>
              <a:defRPr sz="850">
                <a:solidFill>
                  <a:srgbClr val="A69A8A"/>
                </a:solidFill>
              </a:defRPr>
            </a:pPr>
            <a:r>
              <a:rPr lang="ko-KR" altLang="en-US" dirty="0"/>
              <a:t>팀 소개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39" y="6234578"/>
            <a:ext cx="3566160" cy="20313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 sz="1100">
                <a:solidFill>
                  <a:srgbClr val="CDA25C"/>
                </a:solidFill>
              </a:defRPr>
            </a:pPr>
            <a:r>
              <a:rPr lang="en-US" altLang="ko-KR" sz="1200" dirty="0"/>
              <a:t>We do not chase. We track, record, and protect.</a:t>
            </a:r>
            <a:endParaRPr sz="1200" dirty="0"/>
          </a:p>
        </p:txBody>
      </p:sp>
      <p:sp>
        <p:nvSpPr>
          <p:cNvPr id="43" name="Rounded Rectangle 37">
            <a:extLst>
              <a:ext uri="{FF2B5EF4-FFF2-40B4-BE49-F238E27FC236}">
                <a16:creationId xmlns:a16="http://schemas.microsoft.com/office/drawing/2014/main" id="{8D1501FB-1D0D-4B74-B324-CB4A90FA51E5}"/>
              </a:ext>
            </a:extLst>
          </p:cNvPr>
          <p:cNvSpPr/>
          <p:nvPr/>
        </p:nvSpPr>
        <p:spPr>
          <a:xfrm>
            <a:off x="6355079" y="4974334"/>
            <a:ext cx="4617720" cy="566928"/>
          </a:xfrm>
          <a:prstGeom prst="roundRect">
            <a:avLst/>
          </a:prstGeom>
          <a:solidFill>
            <a:srgbClr val="121216"/>
          </a:solidFill>
          <a:ln>
            <a:solidFill>
              <a:srgbClr val="5C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4A3969-0772-4546-87CC-7E001E31AC31}"/>
              </a:ext>
            </a:extLst>
          </p:cNvPr>
          <p:cNvSpPr txBox="1"/>
          <p:nvPr/>
        </p:nvSpPr>
        <p:spPr>
          <a:xfrm>
            <a:off x="6556247" y="5102350"/>
            <a:ext cx="4114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 sz="1000" b="1">
                <a:solidFill>
                  <a:srgbClr val="CDA25C"/>
                </a:solidFill>
              </a:defRPr>
            </a:pPr>
            <a:r>
              <a:t>09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8ADBA0-5564-422E-91D5-8006E3FF9705}"/>
              </a:ext>
            </a:extLst>
          </p:cNvPr>
          <p:cNvSpPr txBox="1"/>
          <p:nvPr/>
        </p:nvSpPr>
        <p:spPr>
          <a:xfrm>
            <a:off x="7040879" y="5047487"/>
            <a:ext cx="2057400" cy="21852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 sz="1300" b="1">
                <a:solidFill>
                  <a:srgbClr val="ECE2D2"/>
                </a:solidFill>
              </a:defRPr>
            </a:pPr>
            <a:r>
              <a:rPr lang="en-US" dirty="0"/>
              <a:t>QnA</a:t>
            </a:r>
            <a:endParaRPr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BCDE1DF-B570-4A37-A3A6-77C04E4664DC}"/>
              </a:ext>
            </a:extLst>
          </p:cNvPr>
          <p:cNvSpPr txBox="1"/>
          <p:nvPr/>
        </p:nvSpPr>
        <p:spPr>
          <a:xfrm>
            <a:off x="7040879" y="5276087"/>
            <a:ext cx="329184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rmAutofit/>
          </a:bodyPr>
          <a:lstStyle/>
          <a:p>
            <a:pPr>
              <a:defRPr sz="850">
                <a:solidFill>
                  <a:srgbClr val="A69A8A"/>
                </a:solidFill>
              </a:defRPr>
            </a:pPr>
            <a:r>
              <a:rPr lang="ko-KR" altLang="en-US" dirty="0"/>
              <a:t>질문 타임</a:t>
            </a:r>
            <a:r>
              <a:rPr lang="en-US" altLang="ko-KR" dirty="0"/>
              <a:t>!!!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 w="8890">
            <a:solidFill>
              <a:srgbClr val="5C462F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pic>
        <p:nvPicPr>
          <p:cNvPr id="3" name="Image 0" descr="/mnt/data/a_wide_cinematic_hyper_realistic_control_room_co_batch_4.png"/>
          <p:cNvPicPr>
            <a:picLocks noChangeAspect="1"/>
          </p:cNvPicPr>
          <p:nvPr/>
        </p:nvPicPr>
        <p:blipFill>
          <a:blip r:embed="rId3"/>
          <a:srcRect r="-5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>
              <a:alpha val="86000"/>
            </a:srgbClr>
          </a:solidFill>
          <a:ln w="8890">
            <a:solidFill>
              <a:srgbClr val="5C462F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658368" y="658368"/>
            <a:ext cx="960120" cy="310896"/>
          </a:xfrm>
          <a:prstGeom prst="roundRect">
            <a:avLst/>
          </a:prstGeom>
          <a:solidFill>
            <a:srgbClr val="121216">
              <a:alpha val="45000"/>
            </a:srgbClr>
          </a:solidFill>
          <a:ln w="8890">
            <a:solidFill>
              <a:srgbClr val="CDA25C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658368" y="1088135"/>
            <a:ext cx="5394960" cy="1472183"/>
          </a:xfrm>
          <a:prstGeom prst="rect">
            <a:avLst/>
          </a:prstGeom>
          <a:noFill/>
          <a:ln>
            <a:solidFill/>
          </a:ln>
        </p:spPr>
        <p:txBody>
          <a:bodyPr wrap="square" lIns="18288" tIns="108000" rIns="18288" bIns="9144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추적은</a:t>
            </a:r>
            <a:endParaRPr lang="en-US" sz="3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끊기면 안 됩니다.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58368" y="2841955"/>
            <a:ext cx="53949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고정 CCTV 중심의 관제에서 벗어나, 드론을 투입해 사각지대를 보완하고</a:t>
            </a:r>
            <a:endParaRPr lang="en-US" sz="11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실시간 기록 · 경로 예측·상황 판단을 하나의 화면으로 연결합니다.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8368" y="46177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" y="49560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6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탐지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8368" y="5285232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80" dirty="0" err="1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CCTV·드론</a:t>
            </a:r>
            <a:r>
              <a:rPr lang="en-US" sz="88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영상 분석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2487168" y="46177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487168" y="49560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6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추적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487168" y="5285232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8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위치 기록 / 경로 예측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4315968" y="46177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315968" y="49560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6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관제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315968" y="5285232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8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 알림 / 로그 저장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9966960" y="6547104"/>
            <a:ext cx="1554480" cy="0"/>
          </a:xfrm>
          <a:prstGeom prst="line">
            <a:avLst/>
          </a:prstGeom>
          <a:noFill/>
          <a:ln w="8890">
            <a:solidFill>
              <a:srgbClr val="CDA25C">
                <a:alpha val="85000"/>
              </a:srgbClr>
            </a:solidFill>
            <a:prstDash val="solid"/>
          </a:ln>
        </p:spPr>
        <p:txBody>
          <a:bodyPr wrap="square" lIns="18288" tIns="9144" rIns="18288" bIns="9144" anchor="t">
            <a:normAutofit fontScale="25000" lnSpcReduction="20000"/>
          </a:bodyPr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438912"/>
            <a:ext cx="11018520" cy="16459"/>
          </a:xfrm>
          <a:prstGeom prst="rect">
            <a:avLst/>
          </a:prstGeom>
          <a:solidFill>
            <a:srgbClr val="B07E41"/>
          </a:solidFill>
          <a:ln>
            <a:solidFill>
              <a:srgbClr val="B07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6327648"/>
            <a:ext cx="11018520" cy="10972"/>
          </a:xfrm>
          <a:prstGeom prst="rect">
            <a:avLst/>
          </a:prstGeom>
          <a:solidFill>
            <a:srgbClr val="5C462F"/>
          </a:solidFill>
          <a:ln>
            <a:solidFill>
              <a:srgbClr val="5C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66960" y="6373368"/>
            <a:ext cx="1508760" cy="14157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>
                <a:solidFill>
                  <a:srgbClr val="A69A8A"/>
                </a:solidFill>
              </a:defRPr>
            </a:pPr>
            <a:r>
              <a:rPr dirty="0"/>
              <a:t>DETECT · IDENTIFY · TRACK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870448"/>
            <a:ext cx="5852160" cy="310896"/>
          </a:xfrm>
          <a:prstGeom prst="roundRect">
            <a:avLst/>
          </a:prstGeom>
          <a:solidFill>
            <a:srgbClr val="191612"/>
          </a:solidFill>
          <a:ln>
            <a:solidFill>
              <a:srgbClr val="B07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8315" y="5952370"/>
            <a:ext cx="2200159" cy="15696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 sz="900">
                <a:solidFill>
                  <a:srgbClr val="ECE2D2"/>
                </a:solidFill>
              </a:defRPr>
            </a:pPr>
            <a:r>
              <a:rPr lang="en-US" altLang="ko-KR" dirty="0"/>
              <a:t>MISSION · </a:t>
            </a:r>
            <a:r>
              <a:rPr lang="ko-KR" altLang="en-US" dirty="0"/>
              <a:t>이동형 관제로 추적 공백 보완</a:t>
            </a:r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E12F16DE-3B49-420C-A4F9-B4FD9ACEDF38}"/>
              </a:ext>
            </a:extLst>
          </p:cNvPr>
          <p:cNvSpPr/>
          <p:nvPr/>
        </p:nvSpPr>
        <p:spPr>
          <a:xfrm>
            <a:off x="592865" y="6422744"/>
            <a:ext cx="1186854" cy="179224"/>
          </a:xfrm>
          <a:prstGeom prst="rect">
            <a:avLst/>
          </a:prstGeom>
          <a:noFill/>
          <a:ln>
            <a:noFill/>
          </a:ln>
        </p:spPr>
        <p:txBody>
          <a:bodyPr wrap="square" lIns="18288" tIns="36000" rIns="0" bIns="36000" rtlCol="0" anchor="t">
            <a:normAutofit lnSpcReduction="10000"/>
          </a:bodyPr>
          <a:lstStyle/>
          <a:p>
            <a:pPr marL="0" indent="0">
              <a:lnSpc>
                <a:spcPct val="92000"/>
              </a:lnSpc>
              <a:buNone/>
            </a:pPr>
            <a:r>
              <a:rPr lang="en-US" sz="80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OBSIDIAN SHIELD  /  02</a:t>
            </a:r>
            <a:endParaRPr lang="en-US" sz="80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5971DB2E-DE83-4929-BF05-DA2D360D9DA1}"/>
              </a:ext>
            </a:extLst>
          </p:cNvPr>
          <p:cNvSpPr/>
          <p:nvPr/>
        </p:nvSpPr>
        <p:spPr>
          <a:xfrm>
            <a:off x="964692" y="726948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36000" rIns="18288" bIns="9144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 w="8890">
            <a:solidFill>
              <a:srgbClr val="5C462F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pic>
        <p:nvPicPr>
          <p:cNvPr id="3" name="Image 0" descr="/mnt/data/a_cinematic_moody_nighttime_urban_street_scene_w_batch_2.png"/>
          <p:cNvPicPr>
            <a:picLocks noChangeAspect="1"/>
          </p:cNvPicPr>
          <p:nvPr/>
        </p:nvPicPr>
        <p:blipFill>
          <a:blip r:embed="rId3"/>
          <a:srcRect r="-5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>
              <a:alpha val="88000"/>
            </a:srgbClr>
          </a:solidFill>
          <a:ln w="8890">
            <a:solidFill>
              <a:srgbClr val="5C462F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640080" y="566928"/>
            <a:ext cx="566928" cy="310896"/>
          </a:xfrm>
          <a:prstGeom prst="roundRect">
            <a:avLst/>
          </a:prstGeom>
          <a:solidFill>
            <a:srgbClr val="121216">
              <a:alpha val="45000"/>
            </a:srgbClr>
          </a:solidFill>
          <a:ln w="8890">
            <a:solidFill>
              <a:srgbClr val="CDA25C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749808" y="633026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36000" rIns="18288" bIns="9144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314870" y="622706"/>
            <a:ext cx="755406" cy="246888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PROBLEM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285646"/>
            <a:ext cx="5349240" cy="1658722"/>
          </a:xfrm>
          <a:prstGeom prst="rect">
            <a:avLst/>
          </a:prstGeom>
          <a:noFill/>
          <a:ln>
            <a:noFill/>
          </a:ln>
        </p:spPr>
        <p:txBody>
          <a:bodyPr wrap="square" lIns="18288" tIns="72000" rIns="18288" bIns="72000" rtlCol="0" anchor="t">
            <a:no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관제는</a:t>
            </a:r>
            <a:endParaRPr lang="en-US" sz="3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“보이는 곳”까지만</a:t>
            </a:r>
            <a:endParaRPr lang="en-US" sz="3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추적합니다.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804672" y="3822192"/>
            <a:ext cx="3291840" cy="0"/>
          </a:xfrm>
          <a:prstGeom prst="line">
            <a:avLst/>
          </a:prstGeom>
          <a:noFill/>
          <a:ln w="15240">
            <a:solidFill>
              <a:srgbClr val="FF3B4E">
                <a:alpha val="90000"/>
              </a:srgbClr>
            </a:solidFill>
            <a:prstDash val="solid"/>
          </a:ln>
        </p:spPr>
        <p:txBody>
          <a:bodyPr wrap="square" lIns="18288" tIns="9144" rIns="18288" bIns="9144" anchor="t">
            <a:normAutofit fontScale="25000" lnSpcReduction="20000"/>
          </a:bodyPr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22960" y="393192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FF3B4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사각지대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965960" y="393192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2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대상이 CCTV 범위를 벗어나면 추적 단절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804672" y="4389120"/>
            <a:ext cx="3291840" cy="0"/>
          </a:xfrm>
          <a:prstGeom prst="line">
            <a:avLst/>
          </a:prstGeom>
          <a:noFill/>
          <a:ln w="15240">
            <a:solidFill>
              <a:srgbClr val="CDA25C">
                <a:alpha val="90000"/>
              </a:srgbClr>
            </a:solidFill>
            <a:prstDash val="solid"/>
          </a:ln>
        </p:spPr>
        <p:txBody>
          <a:bodyPr wrap="square" lIns="18288" tIns="9144" rIns="18288" bIns="9144" anchor="t">
            <a:normAutofit fontScale="25000" lnSpcReduction="20000"/>
          </a:bodyPr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22960" y="449884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시설 중심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965960" y="4498848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2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회사·사유지 보안 목적에 집중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804672" y="4956048"/>
            <a:ext cx="3291840" cy="0"/>
          </a:xfrm>
          <a:prstGeom prst="line">
            <a:avLst/>
          </a:prstGeom>
          <a:noFill/>
          <a:ln w="15240">
            <a:solidFill>
              <a:srgbClr val="CDA25C">
                <a:alpha val="90000"/>
              </a:srgbClr>
            </a:solidFill>
            <a:prstDash val="solid"/>
          </a:ln>
        </p:spPr>
        <p:txBody>
          <a:bodyPr wrap="square" lIns="18288" tIns="9144" rIns="18288" bIns="9144" anchor="t">
            <a:normAutofit fontScale="25000" lnSpcReduction="20000"/>
          </a:bodyPr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822960" y="5065776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공공성 부족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965960" y="5065776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2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실종자 · </a:t>
            </a:r>
            <a:r>
              <a:rPr lang="ko-KR" altLang="en-US" sz="92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용의자</a:t>
            </a:r>
            <a:r>
              <a:rPr lang="en-US" sz="92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추적 연계가 약함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8267856" y="4937760"/>
            <a:ext cx="2057400" cy="310896"/>
          </a:xfrm>
          <a:prstGeom prst="roundRect">
            <a:avLst/>
          </a:prstGeom>
          <a:solidFill>
            <a:srgbClr val="121216">
              <a:alpha val="45000"/>
            </a:srgbClr>
          </a:solidFill>
          <a:ln w="8890">
            <a:solidFill>
              <a:srgbClr val="FF3B4E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8377584" y="5006340"/>
            <a:ext cx="1837944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36000" rIns="18288" bIns="9144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ko-KR" altLang="en-US" sz="900" b="1" u="sng" dirty="0">
                <a:solidFill>
                  <a:srgbClr val="FF3B4E"/>
                </a:solidFill>
                <a:latin typeface="Noto Sans CJK KR" pitchFamily="34" charset="0"/>
              </a:rPr>
              <a:t>사 각 지 대</a:t>
            </a:r>
            <a:endParaRPr lang="en-US" sz="900" u="sng" dirty="0"/>
          </a:p>
        </p:txBody>
      </p:sp>
      <p:sp>
        <p:nvSpPr>
          <p:cNvPr id="20" name="Text 17"/>
          <p:cNvSpPr/>
          <p:nvPr/>
        </p:nvSpPr>
        <p:spPr>
          <a:xfrm>
            <a:off x="592865" y="6422744"/>
            <a:ext cx="1186854" cy="179224"/>
          </a:xfrm>
          <a:prstGeom prst="rect">
            <a:avLst/>
          </a:prstGeom>
          <a:noFill/>
          <a:ln>
            <a:noFill/>
          </a:ln>
        </p:spPr>
        <p:txBody>
          <a:bodyPr wrap="square" lIns="18288" tIns="36000" rIns="0" bIns="36000" rtlCol="0" anchor="t">
            <a:normAutofit lnSpcReduction="10000"/>
          </a:bodyPr>
          <a:lstStyle/>
          <a:p>
            <a:pPr marL="0" indent="0">
              <a:lnSpc>
                <a:spcPct val="92000"/>
              </a:lnSpc>
              <a:buNone/>
            </a:pPr>
            <a:r>
              <a:rPr lang="en-US" sz="80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OBSIDIAN SHIELD  /  03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9966960" y="6547104"/>
            <a:ext cx="1554480" cy="0"/>
          </a:xfrm>
          <a:prstGeom prst="line">
            <a:avLst/>
          </a:prstGeom>
          <a:noFill/>
          <a:ln w="8890">
            <a:solidFill>
              <a:srgbClr val="CDA25C">
                <a:alpha val="85000"/>
              </a:srgbClr>
            </a:solidFill>
            <a:prstDash val="solid"/>
          </a:ln>
        </p:spPr>
        <p:txBody>
          <a:bodyPr wrap="square" lIns="18288" tIns="9144" rIns="18288" bIns="9144" anchor="t">
            <a:normAutofit fontScale="25000" lnSpcReduction="20000"/>
          </a:bodyPr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438912"/>
            <a:ext cx="11018520" cy="16459"/>
          </a:xfrm>
          <a:prstGeom prst="rect">
            <a:avLst/>
          </a:prstGeom>
          <a:solidFill>
            <a:srgbClr val="B07E41"/>
          </a:solidFill>
          <a:ln>
            <a:solidFill>
              <a:srgbClr val="B07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6327648"/>
            <a:ext cx="11018520" cy="10972"/>
          </a:xfrm>
          <a:prstGeom prst="rect">
            <a:avLst/>
          </a:prstGeom>
          <a:solidFill>
            <a:srgbClr val="5C462F"/>
          </a:solidFill>
          <a:ln>
            <a:solidFill>
              <a:srgbClr val="5C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2960" y="5870448"/>
            <a:ext cx="5852160" cy="310896"/>
          </a:xfrm>
          <a:prstGeom prst="roundRect">
            <a:avLst/>
          </a:prstGeom>
          <a:solidFill>
            <a:srgbClr val="191612"/>
          </a:solidFill>
          <a:ln>
            <a:solidFill>
              <a:srgbClr val="B07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0897" y="5962448"/>
            <a:ext cx="1690335" cy="145743"/>
          </a:xfrm>
          <a:prstGeom prst="rect">
            <a:avLst/>
          </a:prstGeom>
          <a:noFill/>
        </p:spPr>
        <p:txBody>
          <a:bodyPr wrap="square" lIns="18288" tIns="9144" rIns="18288" bIns="9144" anchor="t">
            <a:normAutofit lnSpcReduction="10000"/>
          </a:bodyPr>
          <a:lstStyle/>
          <a:p>
            <a:pPr>
              <a:defRPr sz="900">
                <a:solidFill>
                  <a:srgbClr val="ECE2D2"/>
                </a:solidFill>
              </a:defRPr>
            </a:pPr>
            <a:r>
              <a:rPr lang="en-US" altLang="ko-KR" dirty="0"/>
              <a:t>PROBLEM · </a:t>
            </a:r>
            <a:r>
              <a:rPr lang="ko-KR" altLang="en-US" dirty="0"/>
              <a:t> 고정 관제의 한계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D49C097-47A4-4E70-8ABA-4C3D2EBCBB32}"/>
              </a:ext>
            </a:extLst>
          </p:cNvPr>
          <p:cNvSpPr/>
          <p:nvPr/>
        </p:nvSpPr>
        <p:spPr>
          <a:xfrm>
            <a:off x="10126507" y="6345375"/>
            <a:ext cx="139493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69A8A"/>
                </a:solidFill>
              </a:defRPr>
            </a:pPr>
            <a:r>
              <a:rPr lang="en-US" altLang="ko-KR" dirty="0"/>
              <a:t>DETECT · IDENTIFY · TRACK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 w="8890">
            <a:solidFill>
              <a:srgbClr val="5C462F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pic>
        <p:nvPicPr>
          <p:cNvPr id="3" name="Image 0" descr="/mnt/data/a_wide_futuristic_high_tech_digital_concept_scene_batch_3.png"/>
          <p:cNvPicPr>
            <a:picLocks noChangeAspect="1"/>
          </p:cNvPicPr>
          <p:nvPr/>
        </p:nvPicPr>
        <p:blipFill>
          <a:blip r:embed="rId3"/>
          <a:srcRect r="-5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>
              <a:alpha val="86000"/>
            </a:srgbClr>
          </a:solidFill>
          <a:ln w="8890">
            <a:solidFill>
              <a:srgbClr val="5C462F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640080" y="613394"/>
            <a:ext cx="566928" cy="310896"/>
          </a:xfrm>
          <a:prstGeom prst="roundRect">
            <a:avLst/>
          </a:prstGeom>
          <a:solidFill>
            <a:srgbClr val="121216">
              <a:alpha val="45000"/>
            </a:srgbClr>
          </a:solidFill>
          <a:ln w="8890">
            <a:solidFill>
              <a:srgbClr val="CDA25C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353312" y="566928"/>
            <a:ext cx="1581912" cy="414857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SOLUTION STRUCTURE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" y="1143000"/>
            <a:ext cx="630936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5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드론과 AI 서버,</a:t>
            </a:r>
            <a:endParaRPr lang="en-US" sz="29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25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관제센터를 하나의 흐름으로 연결</a:t>
            </a:r>
            <a:endParaRPr lang="en-US" sz="2900" dirty="0"/>
          </a:p>
        </p:txBody>
      </p:sp>
      <p:sp>
        <p:nvSpPr>
          <p:cNvPr id="9" name="Shape 6"/>
          <p:cNvSpPr/>
          <p:nvPr/>
        </p:nvSpPr>
        <p:spPr>
          <a:xfrm>
            <a:off x="868680" y="4681728"/>
            <a:ext cx="2212848" cy="822960"/>
          </a:xfrm>
          <a:prstGeom prst="roundRect">
            <a:avLst/>
          </a:prstGeom>
          <a:solidFill>
            <a:srgbClr val="121216">
              <a:alpha val="55000"/>
            </a:srgbClr>
          </a:solidFill>
          <a:ln w="8890">
            <a:solidFill>
              <a:srgbClr val="CDA25C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014984" y="4828032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DRONE / CCTV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14984" y="512978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en-US" altLang="ko-KR" sz="10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영상 수집</a:t>
            </a:r>
            <a:endParaRPr lang="en-US" alt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3136392" y="5093208"/>
            <a:ext cx="475488" cy="0"/>
          </a:xfrm>
          <a:prstGeom prst="line">
            <a:avLst/>
          </a:prstGeom>
          <a:noFill/>
          <a:ln w="15240">
            <a:solidFill>
              <a:srgbClr val="CDA25C"/>
            </a:solidFill>
            <a:prstDash val="solid"/>
            <a:headEnd type="none"/>
            <a:tailEnd type="triangle"/>
          </a:ln>
        </p:spPr>
        <p:txBody>
          <a:bodyPr wrap="square" lIns="18288" tIns="9144" rIns="18288" bIns="9144" anchor="t">
            <a:normAutofit fontScale="25000" lnSpcReduction="20000"/>
          </a:bodyPr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3657600" y="4681728"/>
            <a:ext cx="2212848" cy="822960"/>
          </a:xfrm>
          <a:prstGeom prst="roundRect">
            <a:avLst/>
          </a:prstGeom>
          <a:solidFill>
            <a:srgbClr val="121216">
              <a:alpha val="55000"/>
            </a:srgbClr>
          </a:solidFill>
          <a:ln w="8890">
            <a:solidFill>
              <a:srgbClr val="CDA25C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3803904" y="4828032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SERVER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803904" y="512978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en-US" altLang="ko-KR" sz="10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객체 탐지 · 재식별</a:t>
            </a:r>
            <a:endParaRPr lang="en-US" alt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925312" y="5093208"/>
            <a:ext cx="475488" cy="0"/>
          </a:xfrm>
          <a:prstGeom prst="line">
            <a:avLst/>
          </a:prstGeom>
          <a:noFill/>
          <a:ln w="15240">
            <a:solidFill>
              <a:srgbClr val="CDA25C"/>
            </a:solidFill>
            <a:prstDash val="solid"/>
            <a:headEnd type="none"/>
            <a:tailEnd type="triangle"/>
          </a:ln>
        </p:spPr>
        <p:txBody>
          <a:bodyPr wrap="square" lIns="18288" tIns="9144" rIns="18288" bIns="9144" anchor="t">
            <a:normAutofit fontScale="25000" lnSpcReduction="20000"/>
          </a:bodyPr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6446520" y="4681728"/>
            <a:ext cx="2212848" cy="822960"/>
          </a:xfrm>
          <a:prstGeom prst="roundRect">
            <a:avLst/>
          </a:prstGeom>
          <a:solidFill>
            <a:srgbClr val="121216">
              <a:alpha val="55000"/>
            </a:srgbClr>
          </a:solidFill>
          <a:ln w="8890">
            <a:solidFill>
              <a:srgbClr val="CDA25C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592824" y="4828032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 CENTER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592824" y="512978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en-US" altLang="ko-KR" sz="10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 추적 · 경보</a:t>
            </a:r>
            <a:endParaRPr lang="en-US" altLang="ko-KR" sz="1000" dirty="0"/>
          </a:p>
        </p:txBody>
      </p:sp>
      <p:sp>
        <p:nvSpPr>
          <p:cNvPr id="20" name="Shape 17"/>
          <p:cNvSpPr/>
          <p:nvPr/>
        </p:nvSpPr>
        <p:spPr>
          <a:xfrm>
            <a:off x="8714232" y="5093208"/>
            <a:ext cx="475488" cy="0"/>
          </a:xfrm>
          <a:prstGeom prst="line">
            <a:avLst/>
          </a:prstGeom>
          <a:noFill/>
          <a:ln w="15240">
            <a:solidFill>
              <a:srgbClr val="CDA25C"/>
            </a:solidFill>
            <a:prstDash val="solid"/>
            <a:headEnd type="none"/>
            <a:tailEnd type="triangle"/>
          </a:ln>
        </p:spPr>
        <p:txBody>
          <a:bodyPr wrap="square" lIns="18288" tIns="9144" rIns="18288" bIns="9144" anchor="t">
            <a:normAutofit fontScale="25000" lnSpcReduction="20000"/>
          </a:bodyPr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9235440" y="4681728"/>
            <a:ext cx="2212848" cy="822960"/>
          </a:xfrm>
          <a:prstGeom prst="roundRect">
            <a:avLst/>
          </a:prstGeom>
          <a:solidFill>
            <a:srgbClr val="121216">
              <a:alpha val="55000"/>
            </a:srgbClr>
          </a:solidFill>
          <a:ln w="8890">
            <a:solidFill>
              <a:srgbClr val="CDA25C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9381744" y="4828032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DATABASE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381744" y="5129784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algn="ctr">
              <a:lnSpc>
                <a:spcPct val="92000"/>
              </a:lnSpc>
            </a:pPr>
            <a:r>
              <a:rPr lang="en-US" altLang="ko-KR" sz="10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등장 위치 · 로그 저장 </a:t>
            </a:r>
            <a:endParaRPr lang="en-US" altLang="ko-KR" sz="1000" dirty="0"/>
          </a:p>
        </p:txBody>
      </p:sp>
      <p:sp>
        <p:nvSpPr>
          <p:cNvPr id="25" name="Shape 22"/>
          <p:cNvSpPr/>
          <p:nvPr/>
        </p:nvSpPr>
        <p:spPr>
          <a:xfrm>
            <a:off x="9966960" y="6547104"/>
            <a:ext cx="1554480" cy="0"/>
          </a:xfrm>
          <a:prstGeom prst="line">
            <a:avLst/>
          </a:prstGeom>
          <a:noFill/>
          <a:ln w="8890">
            <a:solidFill>
              <a:srgbClr val="CDA25C">
                <a:alpha val="85000"/>
              </a:srgbClr>
            </a:solidFill>
            <a:prstDash val="solid"/>
          </a:ln>
        </p:spPr>
        <p:txBody>
          <a:bodyPr wrap="square" lIns="18288" tIns="9144" rIns="18288" bIns="9144" anchor="t">
            <a:normAutofit fontScale="25000" lnSpcReduction="20000"/>
          </a:bodyPr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438912"/>
            <a:ext cx="11018520" cy="16459"/>
          </a:xfrm>
          <a:prstGeom prst="rect">
            <a:avLst/>
          </a:prstGeom>
          <a:solidFill>
            <a:srgbClr val="B07E41"/>
          </a:solidFill>
          <a:ln>
            <a:solidFill>
              <a:srgbClr val="B07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4360" y="6327648"/>
            <a:ext cx="11018520" cy="10972"/>
          </a:xfrm>
          <a:prstGeom prst="rect">
            <a:avLst/>
          </a:prstGeom>
          <a:solidFill>
            <a:srgbClr val="5C462F"/>
          </a:solidFill>
          <a:ln>
            <a:solidFill>
              <a:srgbClr val="5C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22960" y="5870448"/>
            <a:ext cx="5852160" cy="310896"/>
          </a:xfrm>
          <a:prstGeom prst="roundRect">
            <a:avLst/>
          </a:prstGeom>
          <a:solidFill>
            <a:srgbClr val="191612"/>
          </a:solidFill>
          <a:ln>
            <a:solidFill>
              <a:srgbClr val="B07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8221" y="5953493"/>
            <a:ext cx="2670048" cy="15696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 sz="900">
                <a:solidFill>
                  <a:srgbClr val="ECE2D2"/>
                </a:solidFill>
              </a:defRPr>
            </a:pPr>
            <a:r>
              <a:rPr dirty="0"/>
              <a:t>FLOW · DRONE → FACE AI → DB MATCH → ROUTE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DBD648-3377-4F2A-B85F-7089DDE44E8B}"/>
              </a:ext>
            </a:extLst>
          </p:cNvPr>
          <p:cNvSpPr/>
          <p:nvPr/>
        </p:nvSpPr>
        <p:spPr>
          <a:xfrm>
            <a:off x="10126507" y="6338620"/>
            <a:ext cx="139493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69A8A"/>
                </a:solidFill>
              </a:defRPr>
            </a:pPr>
            <a:r>
              <a:rPr lang="en-US" altLang="ko-KR" dirty="0"/>
              <a:t>DETECT · IDENTIFY · TRACK</a:t>
            </a:r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34AC07DA-2E50-47D5-95A7-415BD7B0E6B4}"/>
              </a:ext>
            </a:extLst>
          </p:cNvPr>
          <p:cNvSpPr/>
          <p:nvPr/>
        </p:nvSpPr>
        <p:spPr>
          <a:xfrm>
            <a:off x="749808" y="678457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36000" rIns="18288" bIns="9144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B6FE797C-CFE7-4BE5-AE05-D5A127D3C273}"/>
              </a:ext>
            </a:extLst>
          </p:cNvPr>
          <p:cNvSpPr/>
          <p:nvPr/>
        </p:nvSpPr>
        <p:spPr>
          <a:xfrm>
            <a:off x="592865" y="6422744"/>
            <a:ext cx="1186854" cy="179224"/>
          </a:xfrm>
          <a:prstGeom prst="rect">
            <a:avLst/>
          </a:prstGeom>
          <a:noFill/>
          <a:ln>
            <a:noFill/>
          </a:ln>
        </p:spPr>
        <p:txBody>
          <a:bodyPr wrap="square" lIns="18288" tIns="36000" rIns="0" bIns="36000" rtlCol="0" anchor="t">
            <a:normAutofit lnSpcReduction="10000"/>
          </a:bodyPr>
          <a:lstStyle/>
          <a:p>
            <a:pPr marL="0" indent="0">
              <a:lnSpc>
                <a:spcPct val="92000"/>
              </a:lnSpc>
              <a:buNone/>
            </a:pPr>
            <a:r>
              <a:rPr lang="en-US" sz="80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OBSIDIAN SHIELD  /  04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 w="8890">
            <a:solidFill>
              <a:srgbClr val="5C462F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pic>
        <p:nvPicPr>
          <p:cNvPr id="3" name="Image 0" descr="/mnt/data/a_cinematic_high_tech_surveillance_drone_reconn_batch_1.png"/>
          <p:cNvPicPr>
            <a:picLocks noChangeAspect="1"/>
          </p:cNvPicPr>
          <p:nvPr/>
        </p:nvPicPr>
        <p:blipFill>
          <a:blip r:embed="rId3"/>
          <a:srcRect l="10000" r="-1005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>
              <a:alpha val="76000"/>
            </a:srgbClr>
          </a:solidFill>
          <a:ln w="8890">
            <a:solidFill>
              <a:srgbClr val="5C462F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640080" y="566928"/>
            <a:ext cx="566928" cy="310896"/>
          </a:xfrm>
          <a:prstGeom prst="roundRect">
            <a:avLst/>
          </a:prstGeom>
          <a:solidFill>
            <a:srgbClr val="121216">
              <a:alpha val="45000"/>
            </a:srgbClr>
          </a:solidFill>
          <a:ln w="8890">
            <a:solidFill>
              <a:srgbClr val="CDA25C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371600" y="624966"/>
            <a:ext cx="1343235" cy="188385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CORE FEATURES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1205990"/>
            <a:ext cx="5943600" cy="1015663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탐지에서 기록까지</a:t>
            </a:r>
            <a:endParaRPr lang="en-US" sz="3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화면에서 끝나는 관제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973185" y="3108025"/>
            <a:ext cx="411480" cy="21666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71600" y="3118104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실시간 객체 탐지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71600" y="3474720"/>
            <a:ext cx="3474720" cy="164148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altLang="ko-KR" sz="90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드론 · CCTV 영상 속 인물/</a:t>
            </a:r>
            <a:r>
              <a:rPr lang="ko-KR" altLang="en-US" sz="90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용의자</a:t>
            </a:r>
            <a:r>
              <a:rPr lang="en-US" altLang="ko-KR" sz="90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후보 식별</a:t>
            </a:r>
            <a:endParaRPr lang="en-US" altLang="ko-KR" sz="900" dirty="0"/>
          </a:p>
        </p:txBody>
      </p:sp>
      <p:sp>
        <p:nvSpPr>
          <p:cNvPr id="13" name="Text 10"/>
          <p:cNvSpPr/>
          <p:nvPr/>
        </p:nvSpPr>
        <p:spPr>
          <a:xfrm>
            <a:off x="6446520" y="3118104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재식별 Re-ID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46520" y="3474720"/>
            <a:ext cx="3474720" cy="17357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altLang="ko-KR" sz="90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얼굴이 안 보여도 복장 · 형태로 동일 대상 </a:t>
            </a:r>
            <a:r>
              <a:rPr lang="en-US" altLang="ko-KR" sz="900" dirty="0" err="1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추정</a:t>
            </a:r>
            <a:endParaRPr lang="en-US" altLang="ko-KR" sz="900" dirty="0"/>
          </a:p>
        </p:txBody>
      </p:sp>
      <p:sp>
        <p:nvSpPr>
          <p:cNvPr id="15" name="Text 12"/>
          <p:cNvSpPr/>
          <p:nvPr/>
        </p:nvSpPr>
        <p:spPr>
          <a:xfrm>
            <a:off x="973185" y="4159585"/>
            <a:ext cx="411480" cy="21666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71600" y="4169664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경로 예측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71600" y="4526280"/>
            <a:ext cx="3474720" cy="164148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altLang="ko-KR" sz="90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최근 위치 기반 예상 이동 방향 표시</a:t>
            </a:r>
            <a:endParaRPr lang="en-US" altLang="ko-KR" sz="900" dirty="0"/>
          </a:p>
        </p:txBody>
      </p:sp>
      <p:sp>
        <p:nvSpPr>
          <p:cNvPr id="19" name="Text 16"/>
          <p:cNvSpPr/>
          <p:nvPr/>
        </p:nvSpPr>
        <p:spPr>
          <a:xfrm>
            <a:off x="6446520" y="4169664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5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이벤트 기록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46520" y="4526280"/>
            <a:ext cx="3474720" cy="17357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altLang="ko-KR" sz="90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 · 장소 · 상태를 거래내역처럼 저장</a:t>
            </a:r>
            <a:endParaRPr lang="en-US" altLang="ko-KR" sz="900" dirty="0"/>
          </a:p>
        </p:txBody>
      </p:sp>
      <p:sp>
        <p:nvSpPr>
          <p:cNvPr id="22" name="Shape 19"/>
          <p:cNvSpPr/>
          <p:nvPr/>
        </p:nvSpPr>
        <p:spPr>
          <a:xfrm>
            <a:off x="9966960" y="6547104"/>
            <a:ext cx="1554480" cy="0"/>
          </a:xfrm>
          <a:prstGeom prst="line">
            <a:avLst/>
          </a:prstGeom>
          <a:noFill/>
          <a:ln w="8890">
            <a:solidFill>
              <a:srgbClr val="CDA25C">
                <a:alpha val="85000"/>
              </a:srgbClr>
            </a:solidFill>
            <a:prstDash val="solid"/>
          </a:ln>
        </p:spPr>
        <p:txBody>
          <a:bodyPr wrap="square" lIns="18288" tIns="9144" rIns="18288" bIns="9144" anchor="t">
            <a:normAutofit fontScale="25000" lnSpcReduction="20000"/>
          </a:bodyPr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438912"/>
            <a:ext cx="11018520" cy="16459"/>
          </a:xfrm>
          <a:prstGeom prst="rect">
            <a:avLst/>
          </a:prstGeom>
          <a:solidFill>
            <a:srgbClr val="B07E41"/>
          </a:solidFill>
          <a:ln>
            <a:solidFill>
              <a:srgbClr val="B07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6327648"/>
            <a:ext cx="11018520" cy="10972"/>
          </a:xfrm>
          <a:prstGeom prst="rect">
            <a:avLst/>
          </a:prstGeom>
          <a:solidFill>
            <a:srgbClr val="5C462F"/>
          </a:solidFill>
          <a:ln>
            <a:solidFill>
              <a:srgbClr val="5C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2960" y="5870448"/>
            <a:ext cx="5852160" cy="310896"/>
          </a:xfrm>
          <a:prstGeom prst="roundRect">
            <a:avLst/>
          </a:prstGeom>
          <a:solidFill>
            <a:srgbClr val="191612"/>
          </a:solidFill>
          <a:ln>
            <a:solidFill>
              <a:srgbClr val="B07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8889" y="5953118"/>
            <a:ext cx="2782015" cy="15696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 sz="900">
                <a:solidFill>
                  <a:srgbClr val="ECE2D2"/>
                </a:solidFill>
              </a:defRPr>
            </a:pPr>
            <a:r>
              <a:rPr dirty="0"/>
              <a:t>FEATURE</a:t>
            </a:r>
            <a:r>
              <a:rPr lang="en-US" altLang="ko-KR" dirty="0"/>
              <a:t> </a:t>
            </a:r>
            <a:r>
              <a:rPr dirty="0"/>
              <a:t> · </a:t>
            </a:r>
            <a:r>
              <a:rPr lang="en-US" altLang="ko-KR" dirty="0"/>
              <a:t> </a:t>
            </a:r>
            <a:r>
              <a:rPr lang="ko-KR" altLang="en-US" dirty="0"/>
              <a:t>얼굴</a:t>
            </a:r>
            <a:r>
              <a:rPr dirty="0"/>
              <a:t> 식별 /</a:t>
            </a:r>
            <a:r>
              <a:rPr lang="ko-KR" altLang="en-US" dirty="0"/>
              <a:t> 재식별 </a:t>
            </a:r>
            <a:r>
              <a:rPr lang="en-US" altLang="ko-KR" dirty="0"/>
              <a:t>/ </a:t>
            </a:r>
            <a:r>
              <a:rPr lang="ko-KR" altLang="en-US" dirty="0"/>
              <a:t>경로 예측 </a:t>
            </a:r>
            <a:r>
              <a:rPr lang="en-US" altLang="ko-KR" dirty="0"/>
              <a:t>/ </a:t>
            </a:r>
            <a:r>
              <a:rPr lang="ko-KR" altLang="en-US" dirty="0"/>
              <a:t>기록</a:t>
            </a:r>
            <a:endParaRPr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F2B9793A-AC8D-4847-BB23-CA4E33F449AA}"/>
              </a:ext>
            </a:extLst>
          </p:cNvPr>
          <p:cNvSpPr/>
          <p:nvPr/>
        </p:nvSpPr>
        <p:spPr>
          <a:xfrm>
            <a:off x="6024468" y="3119705"/>
            <a:ext cx="411480" cy="21666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40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28C44B54-2994-4833-BE2B-867322666300}"/>
              </a:ext>
            </a:extLst>
          </p:cNvPr>
          <p:cNvSpPr/>
          <p:nvPr/>
        </p:nvSpPr>
        <p:spPr>
          <a:xfrm>
            <a:off x="6024468" y="4171265"/>
            <a:ext cx="411480" cy="21666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8C514B-0C4E-439C-80A9-F5CBF616583E}"/>
              </a:ext>
            </a:extLst>
          </p:cNvPr>
          <p:cNvSpPr/>
          <p:nvPr/>
        </p:nvSpPr>
        <p:spPr>
          <a:xfrm>
            <a:off x="10126507" y="6343958"/>
            <a:ext cx="139493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69A8A"/>
                </a:solidFill>
              </a:defRPr>
            </a:pPr>
            <a:r>
              <a:rPr lang="en-US" altLang="ko-KR" dirty="0"/>
              <a:t>DETECT · IDENTIFY · TRACK</a:t>
            </a: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D65E667E-9A2F-4FD3-92AA-86ABA61CDA54}"/>
              </a:ext>
            </a:extLst>
          </p:cNvPr>
          <p:cNvSpPr/>
          <p:nvPr/>
        </p:nvSpPr>
        <p:spPr>
          <a:xfrm>
            <a:off x="749808" y="633026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36000" rIns="18288" bIns="9144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4295F1BC-8388-49C7-9EFB-C86D5C8B97FE}"/>
              </a:ext>
            </a:extLst>
          </p:cNvPr>
          <p:cNvSpPr/>
          <p:nvPr/>
        </p:nvSpPr>
        <p:spPr>
          <a:xfrm>
            <a:off x="592865" y="6422744"/>
            <a:ext cx="1186854" cy="179224"/>
          </a:xfrm>
          <a:prstGeom prst="rect">
            <a:avLst/>
          </a:prstGeom>
          <a:noFill/>
          <a:ln>
            <a:noFill/>
          </a:ln>
        </p:spPr>
        <p:txBody>
          <a:bodyPr wrap="square" lIns="18288" tIns="36000" rIns="0" bIns="36000" rtlCol="0" anchor="t">
            <a:normAutofit lnSpcReduction="10000"/>
          </a:bodyPr>
          <a:lstStyle/>
          <a:p>
            <a:pPr marL="0" indent="0">
              <a:lnSpc>
                <a:spcPct val="92000"/>
              </a:lnSpc>
              <a:buNone/>
            </a:pPr>
            <a:r>
              <a:rPr lang="en-US" sz="80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OBSIDIAN SHIELD  /  05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 w="8890">
            <a:solidFill>
              <a:srgbClr val="5C462F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pic>
        <p:nvPicPr>
          <p:cNvPr id="3" name="Image 0" descr="/mnt/data/a_wide_cinematic_hyper_realistic_control_room_co_batch_4.png"/>
          <p:cNvPicPr>
            <a:picLocks noChangeAspect="1"/>
          </p:cNvPicPr>
          <p:nvPr/>
        </p:nvPicPr>
        <p:blipFill>
          <a:blip r:embed="rId3"/>
          <a:srcRect r="-5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>
              <a:alpha val="82000"/>
            </a:srgbClr>
          </a:solidFill>
          <a:ln w="8890">
            <a:solidFill>
              <a:srgbClr val="5C462F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658368" y="658368"/>
            <a:ext cx="1508760" cy="310896"/>
          </a:xfrm>
          <a:prstGeom prst="roundRect">
            <a:avLst/>
          </a:prstGeom>
          <a:solidFill>
            <a:srgbClr val="121216">
              <a:alpha val="45000"/>
            </a:srgbClr>
          </a:solidFill>
          <a:ln w="8890">
            <a:solidFill>
              <a:srgbClr val="CDA25C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763057" y="750743"/>
            <a:ext cx="1289304" cy="14587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 CENTER UI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9808" y="1143000"/>
            <a:ext cx="5852160" cy="123444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5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관제자는 화면을</a:t>
            </a:r>
            <a:endParaRPr lang="en-US" sz="29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25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보는 사람이 아니라</a:t>
            </a:r>
            <a:endParaRPr lang="en-US" sz="29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25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판단하는 사람이어야 합니다.</a:t>
            </a:r>
            <a:endParaRPr lang="en-US" sz="2900" dirty="0"/>
          </a:p>
        </p:txBody>
      </p:sp>
      <p:sp>
        <p:nvSpPr>
          <p:cNvPr id="8" name="Shape 5"/>
          <p:cNvSpPr/>
          <p:nvPr/>
        </p:nvSpPr>
        <p:spPr>
          <a:xfrm>
            <a:off x="6195060" y="2377440"/>
            <a:ext cx="960120" cy="310896"/>
          </a:xfrm>
          <a:prstGeom prst="roundRect">
            <a:avLst/>
          </a:prstGeom>
          <a:solidFill>
            <a:srgbClr val="121216">
              <a:alpha val="45000"/>
            </a:srgbClr>
          </a:solidFill>
          <a:ln w="8890">
            <a:solidFill>
              <a:srgbClr val="CDA25C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304788" y="2460864"/>
            <a:ext cx="740664" cy="14587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lang="en-US" altLang="ko-KR" sz="9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실시간 지도</a:t>
            </a:r>
            <a:endParaRPr lang="en-US" altLang="ko-KR" sz="900" dirty="0"/>
          </a:p>
        </p:txBody>
      </p:sp>
      <p:sp>
        <p:nvSpPr>
          <p:cNvPr id="10" name="Shape 7"/>
          <p:cNvSpPr/>
          <p:nvPr/>
        </p:nvSpPr>
        <p:spPr>
          <a:xfrm>
            <a:off x="9436608" y="2367605"/>
            <a:ext cx="960120" cy="310896"/>
          </a:xfrm>
          <a:prstGeom prst="roundRect">
            <a:avLst/>
          </a:prstGeom>
          <a:solidFill>
            <a:srgbClr val="121216">
              <a:alpha val="45000"/>
            </a:srgbClr>
          </a:solidFill>
          <a:ln w="8890">
            <a:solidFill>
              <a:srgbClr val="CDA25C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9546336" y="2460959"/>
            <a:ext cx="740664" cy="14587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lang="en-US" altLang="ko-KR" sz="9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드론 피드</a:t>
            </a:r>
            <a:endParaRPr lang="en-US" altLang="ko-KR" sz="900" dirty="0"/>
          </a:p>
        </p:txBody>
      </p:sp>
      <p:sp>
        <p:nvSpPr>
          <p:cNvPr id="12" name="Shape 9"/>
          <p:cNvSpPr/>
          <p:nvPr/>
        </p:nvSpPr>
        <p:spPr>
          <a:xfrm>
            <a:off x="6675120" y="4580734"/>
            <a:ext cx="960120" cy="310896"/>
          </a:xfrm>
          <a:prstGeom prst="roundRect">
            <a:avLst/>
          </a:prstGeom>
          <a:solidFill>
            <a:srgbClr val="121216">
              <a:alpha val="45000"/>
            </a:srgbClr>
          </a:solidFill>
          <a:ln w="8890">
            <a:solidFill>
              <a:srgbClr val="CDA25C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784848" y="4663245"/>
            <a:ext cx="740664" cy="14587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lang="en-US" altLang="ko-KR" sz="900" b="1" dirty="0" err="1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</a:t>
            </a:r>
            <a:r>
              <a:rPr lang="en-US" altLang="ko-KR" sz="9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알림</a:t>
            </a:r>
            <a:endParaRPr lang="en-US" altLang="ko-KR" sz="900" dirty="0"/>
          </a:p>
        </p:txBody>
      </p:sp>
      <p:sp>
        <p:nvSpPr>
          <p:cNvPr id="14" name="Shape 11"/>
          <p:cNvSpPr/>
          <p:nvPr/>
        </p:nvSpPr>
        <p:spPr>
          <a:xfrm>
            <a:off x="8476488" y="4270846"/>
            <a:ext cx="960120" cy="310896"/>
          </a:xfrm>
          <a:prstGeom prst="roundRect">
            <a:avLst/>
          </a:prstGeom>
          <a:solidFill>
            <a:srgbClr val="121216">
              <a:alpha val="45000"/>
            </a:srgbClr>
          </a:solidFill>
          <a:ln w="8890">
            <a:solidFill>
              <a:srgbClr val="CDA25C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8586216" y="4363221"/>
            <a:ext cx="740664" cy="14587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lang="en-US" altLang="ko-KR" sz="9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로그 기록</a:t>
            </a:r>
            <a:endParaRPr lang="en-US" altLang="ko-KR" sz="900" dirty="0"/>
          </a:p>
        </p:txBody>
      </p:sp>
      <p:sp>
        <p:nvSpPr>
          <p:cNvPr id="16" name="Text 13"/>
          <p:cNvSpPr/>
          <p:nvPr/>
        </p:nvSpPr>
        <p:spPr>
          <a:xfrm>
            <a:off x="822960" y="5257800"/>
            <a:ext cx="5486400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 / 영상 / 대상정보 / 알림 / 기록을 분리하지 않고</a:t>
            </a:r>
            <a:endParaRPr lang="en-US" sz="108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하나의 관제 흐름으로 배치합니다.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9966960" y="6547104"/>
            <a:ext cx="1554480" cy="0"/>
          </a:xfrm>
          <a:prstGeom prst="line">
            <a:avLst/>
          </a:prstGeom>
          <a:noFill/>
          <a:ln w="8890">
            <a:solidFill>
              <a:srgbClr val="CDA25C">
                <a:alpha val="85000"/>
              </a:srgbClr>
            </a:solidFill>
            <a:prstDash val="solid"/>
          </a:ln>
        </p:spPr>
        <p:txBody>
          <a:bodyPr wrap="square" lIns="18288" tIns="9144" rIns="18288" bIns="9144" anchor="t">
            <a:normAutofit fontScale="25000" lnSpcReduction="20000"/>
          </a:bodyPr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" y="438912"/>
            <a:ext cx="11018520" cy="16459"/>
          </a:xfrm>
          <a:prstGeom prst="rect">
            <a:avLst/>
          </a:prstGeom>
          <a:solidFill>
            <a:srgbClr val="B07E41"/>
          </a:solidFill>
          <a:ln>
            <a:solidFill>
              <a:srgbClr val="B07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6327648"/>
            <a:ext cx="11018520" cy="10972"/>
          </a:xfrm>
          <a:prstGeom prst="rect">
            <a:avLst/>
          </a:prstGeom>
          <a:solidFill>
            <a:srgbClr val="5C462F"/>
          </a:solidFill>
          <a:ln>
            <a:solidFill>
              <a:srgbClr val="5C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2960" y="5870448"/>
            <a:ext cx="5852160" cy="310896"/>
          </a:xfrm>
          <a:prstGeom prst="roundRect">
            <a:avLst/>
          </a:prstGeom>
          <a:solidFill>
            <a:srgbClr val="191612"/>
          </a:solidFill>
          <a:ln>
            <a:solidFill>
              <a:srgbClr val="B07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5962449"/>
            <a:ext cx="1373093" cy="1371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rmAutofit fontScale="92500" lnSpcReduction="10000"/>
          </a:bodyPr>
          <a:lstStyle/>
          <a:p>
            <a:pPr>
              <a:defRPr sz="900">
                <a:solidFill>
                  <a:srgbClr val="ECE2D2"/>
                </a:solidFill>
              </a:defRPr>
            </a:pPr>
            <a:r>
              <a:rPr lang="en-US" altLang="ko-KR" dirty="0"/>
              <a:t>CONTROL · </a:t>
            </a:r>
            <a:r>
              <a:rPr lang="ko-KR" altLang="en-US" dirty="0"/>
              <a:t>실시간 판단 화면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00BD7CF-1F24-4E45-A2A5-99CAFF18CCAC}"/>
              </a:ext>
            </a:extLst>
          </p:cNvPr>
          <p:cNvSpPr/>
          <p:nvPr/>
        </p:nvSpPr>
        <p:spPr>
          <a:xfrm>
            <a:off x="10126507" y="6335140"/>
            <a:ext cx="139493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69A8A"/>
                </a:solidFill>
              </a:defRPr>
            </a:pPr>
            <a:r>
              <a:rPr lang="en-US" altLang="ko-KR" dirty="0"/>
              <a:t>DETECT · IDENTIFY · TRACK</a:t>
            </a:r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C955357C-08C0-4895-9B9B-5B23EB76CE6A}"/>
              </a:ext>
            </a:extLst>
          </p:cNvPr>
          <p:cNvSpPr/>
          <p:nvPr/>
        </p:nvSpPr>
        <p:spPr>
          <a:xfrm>
            <a:off x="592865" y="6422744"/>
            <a:ext cx="1186854" cy="179224"/>
          </a:xfrm>
          <a:prstGeom prst="rect">
            <a:avLst/>
          </a:prstGeom>
          <a:noFill/>
          <a:ln>
            <a:noFill/>
          </a:ln>
        </p:spPr>
        <p:txBody>
          <a:bodyPr wrap="square" lIns="18288" tIns="36000" rIns="0" bIns="36000" rtlCol="0" anchor="t">
            <a:normAutofit lnSpcReduction="10000"/>
          </a:bodyPr>
          <a:lstStyle/>
          <a:p>
            <a:pPr marL="0" indent="0">
              <a:lnSpc>
                <a:spcPct val="92000"/>
              </a:lnSpc>
              <a:buNone/>
            </a:pPr>
            <a:r>
              <a:rPr lang="en-US" sz="80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OBSIDIAN SHIELD  /  06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 w="8890">
            <a:solidFill>
              <a:srgbClr val="5C462F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pic>
        <p:nvPicPr>
          <p:cNvPr id="3" name="Image 0" descr="/mnt/data/a_wide_futuristic_high_tech_digital_concept_scene_batch_3.png"/>
          <p:cNvPicPr>
            <a:picLocks noChangeAspect="1"/>
          </p:cNvPicPr>
          <p:nvPr/>
        </p:nvPicPr>
        <p:blipFill>
          <a:blip r:embed="rId3"/>
          <a:srcRect l="20000" r="-2005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>
              <a:alpha val="68000"/>
            </a:srgbClr>
          </a:solidFill>
          <a:ln w="8890">
            <a:solidFill>
              <a:srgbClr val="5C462F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640080" y="566928"/>
            <a:ext cx="566928" cy="310896"/>
          </a:xfrm>
          <a:prstGeom prst="roundRect">
            <a:avLst/>
          </a:prstGeom>
          <a:solidFill>
            <a:srgbClr val="121216">
              <a:alpha val="45000"/>
            </a:srgbClr>
          </a:solidFill>
          <a:ln w="8890">
            <a:solidFill>
              <a:srgbClr val="CDA25C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267775" y="628183"/>
            <a:ext cx="978408" cy="188385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BENCHMARK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1133475"/>
            <a:ext cx="4620768" cy="1348061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32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벤치마킹은 따라하기가</a:t>
            </a:r>
          </a:p>
          <a:p>
            <a:pPr>
              <a:lnSpc>
                <a:spcPct val="90000"/>
              </a:lnSpc>
            </a:pPr>
            <a:r>
              <a:rPr lang="en-US" altLang="ko-KR" sz="32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아니라</a:t>
            </a:r>
            <a:endParaRPr lang="en-US" altLang="ko-KR" sz="3200" dirty="0"/>
          </a:p>
          <a:p>
            <a:pPr>
              <a:lnSpc>
                <a:spcPct val="90000"/>
              </a:lnSpc>
            </a:pPr>
            <a:r>
              <a:rPr lang="en-US" altLang="ko-KR" sz="32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차이를 찾는 과정입니다.</a:t>
            </a:r>
            <a:endParaRPr lang="en-US" altLang="ko-KR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2788920"/>
            <a:ext cx="798195" cy="315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>
              <a:lnSpc>
                <a:spcPct val="92000"/>
              </a:lnSpc>
            </a:pPr>
            <a:r>
              <a:rPr lang="en-US" altLang="ko-KR" sz="11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INTELLIVIX</a:t>
            </a:r>
          </a:p>
          <a:p>
            <a:pPr>
              <a:lnSpc>
                <a:spcPct val="92000"/>
              </a:lnSpc>
            </a:pPr>
            <a:r>
              <a:rPr lang="ko-KR" altLang="en-US" sz="1000" dirty="0">
                <a:solidFill>
                  <a:srgbClr val="FFC000"/>
                </a:solidFill>
              </a:rPr>
              <a:t>인텔리빅스</a:t>
            </a:r>
            <a:endParaRPr lang="en-US" altLang="ko-KR" sz="1000" dirty="0">
              <a:solidFill>
                <a:srgbClr val="FFC00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2011680" y="2819409"/>
            <a:ext cx="4023360" cy="245003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600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CCTV · 드론 연계, 군 부대/해안 경계에 강점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12280" y="2868160"/>
            <a:ext cx="2512695" cy="152991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5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 시민 안전 서비스로 직접 쓰기 어려움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22960" y="3264408"/>
            <a:ext cx="10424160" cy="0"/>
          </a:xfrm>
          <a:prstGeom prst="line">
            <a:avLst/>
          </a:prstGeom>
          <a:noFill/>
          <a:ln w="8255">
            <a:solidFill>
              <a:srgbClr val="253044"/>
            </a:solidFill>
            <a:prstDash val="solid"/>
          </a:ln>
        </p:spPr>
        <p:txBody>
          <a:bodyPr wrap="square" lIns="18288" tIns="9144" rIns="18288" bIns="9144" anchor="t">
            <a:spAutoFit/>
          </a:bodyPr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68679" y="3631311"/>
            <a:ext cx="798195" cy="457369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>
              <a:lnSpc>
                <a:spcPct val="92000"/>
              </a:lnSpc>
            </a:pPr>
            <a:r>
              <a:rPr lang="en-US" altLang="ko-KR" sz="11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ANDURIL</a:t>
            </a:r>
          </a:p>
          <a:p>
            <a:pPr>
              <a:lnSpc>
                <a:spcPct val="92000"/>
              </a:lnSpc>
            </a:pPr>
            <a:r>
              <a:rPr lang="ko-KR" altLang="en-US" sz="1000" dirty="0">
                <a:solidFill>
                  <a:srgbClr val="FFC000"/>
                </a:solidFill>
              </a:rPr>
              <a:t>안두릴 인더스트리</a:t>
            </a:r>
            <a:endParaRPr lang="en-US" altLang="ko-KR" sz="1000" dirty="0">
              <a:solidFill>
                <a:srgbClr val="FFC000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2011680" y="3733809"/>
            <a:ext cx="4023360" cy="245003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600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센서 · 드론 · CCTV 네트워크 통합 추적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12280" y="3730170"/>
            <a:ext cx="1855470" cy="152991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5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자율 시스템 안정성 이슈가 보도됨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22960" y="4105656"/>
            <a:ext cx="10424160" cy="0"/>
          </a:xfrm>
          <a:prstGeom prst="line">
            <a:avLst/>
          </a:prstGeom>
          <a:noFill/>
          <a:ln w="8255">
            <a:solidFill>
              <a:srgbClr val="253044"/>
            </a:solidFill>
            <a:prstDash val="solid"/>
          </a:ln>
        </p:spPr>
        <p:txBody>
          <a:bodyPr wrap="square" lIns="18288" tIns="9144" rIns="18288" bIns="9144" anchor="t">
            <a:spAutoFit/>
          </a:bodyPr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868678" y="4471416"/>
            <a:ext cx="798195" cy="31579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>
              <a:lnSpc>
                <a:spcPct val="92000"/>
              </a:lnSpc>
            </a:pPr>
            <a:r>
              <a:rPr lang="en-US" altLang="ko-KR" sz="11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BRIEFCAM</a:t>
            </a:r>
            <a:br>
              <a:rPr lang="ko-KR" altLang="en-US" sz="1100" dirty="0"/>
            </a:br>
            <a:r>
              <a:rPr lang="ko-KR" altLang="en-US" sz="1000" dirty="0">
                <a:solidFill>
                  <a:srgbClr val="FFC000"/>
                </a:solidFill>
              </a:rPr>
              <a:t>브리프캠</a:t>
            </a:r>
            <a:endParaRPr lang="en-US" altLang="ko-KR" sz="1000" dirty="0">
              <a:solidFill>
                <a:srgbClr val="FFC00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2011680" y="4501905"/>
            <a:ext cx="4023360" cy="245003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600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영상 분석 기반 스마트 관제 대표 사례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812280" y="4501905"/>
            <a:ext cx="2377440" cy="152991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5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고정형 CCTV 환경 중심이라 사각지대 한계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22960" y="4946904"/>
            <a:ext cx="10424160" cy="0"/>
          </a:xfrm>
          <a:prstGeom prst="line">
            <a:avLst/>
          </a:prstGeom>
          <a:noFill/>
          <a:ln w="8255">
            <a:solidFill>
              <a:srgbClr val="253044"/>
            </a:solidFill>
            <a:prstDash val="solid"/>
          </a:ln>
        </p:spPr>
        <p:txBody>
          <a:bodyPr wrap="square" lIns="18288" tIns="9144" rIns="18288" bIns="9144" anchor="t">
            <a:normAutofit fontScale="25000" lnSpcReduction="20000"/>
          </a:bodyPr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822960" y="5486400"/>
            <a:ext cx="10241280" cy="566928"/>
          </a:xfrm>
          <a:prstGeom prst="roundRect">
            <a:avLst/>
          </a:prstGeom>
          <a:solidFill>
            <a:srgbClr val="121216">
              <a:alpha val="58000"/>
            </a:srgbClr>
          </a:solidFill>
          <a:ln w="8890">
            <a:solidFill>
              <a:srgbClr val="CDA25C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1047369" y="5686483"/>
            <a:ext cx="5911596" cy="174215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>
              <a:lnSpc>
                <a:spcPct val="92000"/>
              </a:lnSpc>
            </a:pPr>
            <a:r>
              <a:rPr lang="en-US" altLang="ko-KR" sz="1100" b="1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 프로젝트의 차별점  -  시설 보호보다 지역 주민 안전, 실종자 수색, 공공 목적 추적에 집중</a:t>
            </a:r>
            <a:endParaRPr lang="en-US" altLang="ko-KR" sz="1100" dirty="0"/>
          </a:p>
        </p:txBody>
      </p:sp>
      <p:sp>
        <p:nvSpPr>
          <p:cNvPr id="24" name="Shape 21"/>
          <p:cNvSpPr/>
          <p:nvPr/>
        </p:nvSpPr>
        <p:spPr>
          <a:xfrm>
            <a:off x="9966960" y="6547104"/>
            <a:ext cx="1554480" cy="0"/>
          </a:xfrm>
          <a:prstGeom prst="line">
            <a:avLst/>
          </a:prstGeom>
          <a:noFill/>
          <a:ln w="8890">
            <a:solidFill>
              <a:srgbClr val="CDA25C">
                <a:alpha val="85000"/>
              </a:srgbClr>
            </a:solidFill>
            <a:prstDash val="solid"/>
          </a:ln>
        </p:spPr>
        <p:txBody>
          <a:bodyPr wrap="square" lIns="18288" tIns="9144" rIns="18288" bIns="9144" anchor="t">
            <a:normAutofit fontScale="25000" lnSpcReduction="20000"/>
          </a:bodyPr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438912"/>
            <a:ext cx="11018520" cy="16459"/>
          </a:xfrm>
          <a:prstGeom prst="rect">
            <a:avLst/>
          </a:prstGeom>
          <a:solidFill>
            <a:srgbClr val="B07E41"/>
          </a:solidFill>
          <a:ln>
            <a:solidFill>
              <a:srgbClr val="B07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6327648"/>
            <a:ext cx="11018520" cy="10972"/>
          </a:xfrm>
          <a:prstGeom prst="rect">
            <a:avLst/>
          </a:prstGeom>
          <a:solidFill>
            <a:srgbClr val="5C462F"/>
          </a:solidFill>
          <a:ln>
            <a:solidFill>
              <a:srgbClr val="5C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89720" y="6373368"/>
            <a:ext cx="22860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>
                <a:solidFill>
                  <a:srgbClr val="A69A8A"/>
                </a:solidFill>
              </a:defRPr>
            </a:pPr>
            <a:r>
              <a:t>DETECT · IDENTIFY · TRACK</a:t>
            </a: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D340EDFA-841F-4B14-9A07-20BABED8F1BF}"/>
              </a:ext>
            </a:extLst>
          </p:cNvPr>
          <p:cNvSpPr/>
          <p:nvPr/>
        </p:nvSpPr>
        <p:spPr>
          <a:xfrm>
            <a:off x="749808" y="633026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36000" rIns="18288" bIns="9144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900" dirty="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24B7E62B-BB17-420F-9C0A-29CE3164A7FA}"/>
              </a:ext>
            </a:extLst>
          </p:cNvPr>
          <p:cNvSpPr/>
          <p:nvPr/>
        </p:nvSpPr>
        <p:spPr>
          <a:xfrm>
            <a:off x="592865" y="6422744"/>
            <a:ext cx="1186854" cy="179224"/>
          </a:xfrm>
          <a:prstGeom prst="rect">
            <a:avLst/>
          </a:prstGeom>
          <a:noFill/>
          <a:ln>
            <a:noFill/>
          </a:ln>
        </p:spPr>
        <p:txBody>
          <a:bodyPr wrap="square" lIns="18288" tIns="36000" rIns="0" bIns="36000" rtlCol="0" anchor="t">
            <a:normAutofit lnSpcReduction="10000"/>
          </a:bodyPr>
          <a:lstStyle/>
          <a:p>
            <a:pPr marL="0" indent="0">
              <a:lnSpc>
                <a:spcPct val="92000"/>
              </a:lnSpc>
              <a:buNone/>
            </a:pPr>
            <a:r>
              <a:rPr lang="en-US" sz="80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OBSIDIAN SHIELD  /  07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 w="8890">
            <a:solidFill>
              <a:srgbClr val="5C462F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 w="8890">
            <a:solidFill>
              <a:srgbClr val="5C462F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pic>
        <p:nvPicPr>
          <p:cNvPr id="4" name="Image 0" descr="/mnt/data/a_cinematic_high_tech_control_room_command_center.png"/>
          <p:cNvPicPr>
            <a:picLocks noChangeAspect="1"/>
          </p:cNvPicPr>
          <p:nvPr/>
        </p:nvPicPr>
        <p:blipFill>
          <a:blip r:embed="rId3"/>
          <a:srcRect r="-5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>
              <a:alpha val="78000"/>
            </a:srgbClr>
          </a:solidFill>
          <a:ln w="8890">
            <a:solidFill>
              <a:srgbClr val="5C462F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640080" y="566928"/>
            <a:ext cx="566928" cy="310896"/>
          </a:xfrm>
          <a:prstGeom prst="roundRect">
            <a:avLst/>
          </a:prstGeom>
          <a:solidFill>
            <a:srgbClr val="121216">
              <a:alpha val="45000"/>
            </a:srgbClr>
          </a:solidFill>
          <a:ln w="8890">
            <a:solidFill>
              <a:srgbClr val="CDA25C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316736" y="636542"/>
            <a:ext cx="1751838" cy="174215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WIREFRAME DIRECTION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3232" y="1115568"/>
            <a:ext cx="4015740" cy="1514261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화면은</a:t>
            </a:r>
            <a:endParaRPr lang="en-US" sz="3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“관제 대시보드”    		처럼 설계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4876419" y="921715"/>
            <a:ext cx="6537960" cy="4983480"/>
          </a:xfrm>
          <a:prstGeom prst="roundRect">
            <a:avLst/>
          </a:prstGeom>
          <a:solidFill>
            <a:srgbClr val="121216">
              <a:alpha val="72000"/>
            </a:srgbClr>
          </a:solidFill>
          <a:ln w="8890">
            <a:solidFill>
              <a:srgbClr val="CDA25C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5468112" y="1295023"/>
            <a:ext cx="1097280" cy="14587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LIVE MAP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825266" y="1295022"/>
            <a:ext cx="903313" cy="145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FF3B4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TARGET  </a:t>
            </a:r>
            <a:r>
              <a:rPr lang="ko-KR" altLang="en-US" sz="900" b="1" dirty="0">
                <a:solidFill>
                  <a:srgbClr val="FF3B4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정호띠</a:t>
            </a:r>
            <a:r>
              <a:rPr lang="en-US" altLang="ko-KR" sz="900" b="1" dirty="0">
                <a:solidFill>
                  <a:srgbClr val="FF3B4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~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59536" y="2851292"/>
            <a:ext cx="475488" cy="16004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>
              <a:lnSpc>
                <a:spcPct val="92000"/>
              </a:lnSpc>
            </a:pPr>
            <a:r>
              <a:rPr lang="en-US" altLang="ko-KR" sz="10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지도</a:t>
            </a:r>
            <a:endParaRPr lang="en-US" altLang="ko-KR" sz="1000" dirty="0"/>
          </a:p>
        </p:txBody>
      </p:sp>
      <p:sp>
        <p:nvSpPr>
          <p:cNvPr id="14" name="Text 11"/>
          <p:cNvSpPr/>
          <p:nvPr/>
        </p:nvSpPr>
        <p:spPr>
          <a:xfrm>
            <a:off x="1585722" y="2851292"/>
            <a:ext cx="1543050" cy="3114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rtlCol="0" anchor="t">
            <a:spAutoFit/>
          </a:bodyPr>
          <a:lstStyle/>
          <a:p>
            <a:pPr>
              <a:lnSpc>
                <a:spcPct val="92000"/>
              </a:lnSpc>
            </a:pPr>
            <a:r>
              <a:rPr lang="en-US" altLang="ko-KR" sz="120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대상 위치와 예상 경로</a:t>
            </a:r>
          </a:p>
          <a:p>
            <a:pPr marL="0" indent="0" algn="l">
              <a:lnSpc>
                <a:spcPct val="92000"/>
              </a:lnSpc>
              <a:buNone/>
            </a:pP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41248" y="3383280"/>
            <a:ext cx="475488" cy="16004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>
              <a:lnSpc>
                <a:spcPct val="92000"/>
              </a:lnSpc>
            </a:pPr>
            <a:r>
              <a:rPr lang="en-US" altLang="ko-KR" sz="10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영상</a:t>
            </a:r>
            <a:endParaRPr lang="en-US" altLang="ko-KR" sz="1000" dirty="0"/>
          </a:p>
        </p:txBody>
      </p:sp>
      <p:sp>
        <p:nvSpPr>
          <p:cNvPr id="16" name="Text 13"/>
          <p:cNvSpPr/>
          <p:nvPr/>
        </p:nvSpPr>
        <p:spPr>
          <a:xfrm>
            <a:off x="1585722" y="3354939"/>
            <a:ext cx="1704975" cy="188385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>
              <a:lnSpc>
                <a:spcPct val="92000"/>
              </a:lnSpc>
            </a:pPr>
            <a:r>
              <a:rPr lang="en-US" altLang="ko-KR" sz="120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드론 · CCTV 실시간 피드 </a:t>
            </a:r>
            <a:endParaRPr lang="en-US" altLang="ko-KR" sz="1200" dirty="0"/>
          </a:p>
        </p:txBody>
      </p:sp>
      <p:sp>
        <p:nvSpPr>
          <p:cNvPr id="17" name="Text 14"/>
          <p:cNvSpPr/>
          <p:nvPr/>
        </p:nvSpPr>
        <p:spPr>
          <a:xfrm>
            <a:off x="859536" y="3847350"/>
            <a:ext cx="475488" cy="16004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>
              <a:lnSpc>
                <a:spcPct val="92000"/>
              </a:lnSpc>
            </a:pPr>
            <a:r>
              <a:rPr lang="en-US" altLang="ko-KR" sz="10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알림</a:t>
            </a:r>
            <a:endParaRPr lang="en-US" altLang="ko-KR" sz="1000" dirty="0"/>
          </a:p>
        </p:txBody>
      </p:sp>
      <p:sp>
        <p:nvSpPr>
          <p:cNvPr id="18" name="Text 15"/>
          <p:cNvSpPr/>
          <p:nvPr/>
        </p:nvSpPr>
        <p:spPr>
          <a:xfrm>
            <a:off x="1585722" y="3797584"/>
            <a:ext cx="1543050" cy="188385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>
              <a:lnSpc>
                <a:spcPct val="92000"/>
              </a:lnSpc>
            </a:pPr>
            <a:r>
              <a:rPr lang="en-US" altLang="ko-KR" sz="120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위험도 / 탐지 시간</a:t>
            </a:r>
            <a:endParaRPr lang="en-US" altLang="ko-KR" sz="1200" dirty="0"/>
          </a:p>
        </p:txBody>
      </p:sp>
      <p:sp>
        <p:nvSpPr>
          <p:cNvPr id="19" name="Text 16"/>
          <p:cNvSpPr/>
          <p:nvPr/>
        </p:nvSpPr>
        <p:spPr>
          <a:xfrm>
            <a:off x="841248" y="4387333"/>
            <a:ext cx="475488" cy="16004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>
              <a:lnSpc>
                <a:spcPct val="92000"/>
              </a:lnSpc>
            </a:pPr>
            <a:r>
              <a:rPr lang="en-US" altLang="ko-KR" sz="10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기록</a:t>
            </a:r>
            <a:endParaRPr lang="en-US" altLang="ko-KR" sz="1000" dirty="0"/>
          </a:p>
        </p:txBody>
      </p:sp>
      <p:sp>
        <p:nvSpPr>
          <p:cNvPr id="20" name="Text 17"/>
          <p:cNvSpPr/>
          <p:nvPr/>
        </p:nvSpPr>
        <p:spPr>
          <a:xfrm>
            <a:off x="1585722" y="4368100"/>
            <a:ext cx="1468374" cy="188385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>
              <a:lnSpc>
                <a:spcPct val="92000"/>
              </a:lnSpc>
            </a:pPr>
            <a:r>
              <a:rPr lang="en-US" altLang="ko-KR" sz="120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등장 장소 · 이동 로그</a:t>
            </a:r>
            <a:endParaRPr lang="en-US" altLang="ko-KR" sz="1200" dirty="0"/>
          </a:p>
        </p:txBody>
      </p:sp>
      <p:sp>
        <p:nvSpPr>
          <p:cNvPr id="22" name="Shape 19"/>
          <p:cNvSpPr/>
          <p:nvPr/>
        </p:nvSpPr>
        <p:spPr>
          <a:xfrm>
            <a:off x="9966960" y="6547104"/>
            <a:ext cx="1554480" cy="0"/>
          </a:xfrm>
          <a:prstGeom prst="line">
            <a:avLst/>
          </a:prstGeom>
          <a:noFill/>
          <a:ln w="8890">
            <a:solidFill>
              <a:srgbClr val="CDA25C">
                <a:alpha val="85000"/>
              </a:srgbClr>
            </a:solidFill>
            <a:prstDash val="solid"/>
          </a:ln>
        </p:spPr>
        <p:txBody>
          <a:bodyPr wrap="square" lIns="18288" tIns="9144" rIns="18288" bIns="9144" anchor="t">
            <a:normAutofit fontScale="25000" lnSpcReduction="20000"/>
          </a:bodyPr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438912"/>
            <a:ext cx="11018520" cy="16459"/>
          </a:xfrm>
          <a:prstGeom prst="rect">
            <a:avLst/>
          </a:prstGeom>
          <a:solidFill>
            <a:srgbClr val="B07E41"/>
          </a:solidFill>
          <a:ln>
            <a:solidFill>
              <a:srgbClr val="B07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6327648"/>
            <a:ext cx="11018520" cy="10972"/>
          </a:xfrm>
          <a:prstGeom prst="rect">
            <a:avLst/>
          </a:prstGeom>
          <a:solidFill>
            <a:srgbClr val="5C462F"/>
          </a:solidFill>
          <a:ln>
            <a:solidFill>
              <a:srgbClr val="5C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89720" y="6373368"/>
            <a:ext cx="22860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>
                <a:solidFill>
                  <a:srgbClr val="A69A8A"/>
                </a:solidFill>
              </a:defRPr>
            </a:pPr>
            <a:r>
              <a:t>DETECT · IDENTIFY · TRACK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870448"/>
            <a:ext cx="4015740" cy="310896"/>
          </a:xfrm>
          <a:prstGeom prst="roundRect">
            <a:avLst/>
          </a:prstGeom>
          <a:solidFill>
            <a:srgbClr val="191612"/>
          </a:solidFill>
          <a:ln>
            <a:solidFill>
              <a:srgbClr val="B07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7552" y="5943600"/>
            <a:ext cx="2081022" cy="15696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 sz="900">
                <a:solidFill>
                  <a:srgbClr val="ECE2D2"/>
                </a:solidFill>
              </a:defRPr>
            </a:pPr>
            <a:r>
              <a:rPr lang="en-US" altLang="ko-KR" dirty="0"/>
              <a:t>UI · </a:t>
            </a:r>
            <a:r>
              <a:rPr lang="ko-KR" altLang="en-US" dirty="0"/>
              <a:t>지도</a:t>
            </a:r>
            <a:r>
              <a:rPr lang="en-US" altLang="ko-KR" dirty="0"/>
              <a:t>·</a:t>
            </a:r>
            <a:r>
              <a:rPr lang="ko-KR" altLang="en-US" dirty="0"/>
              <a:t>영상</a:t>
            </a:r>
            <a:r>
              <a:rPr lang="en-US" altLang="ko-KR" dirty="0"/>
              <a:t>·</a:t>
            </a:r>
            <a:r>
              <a:rPr lang="ko-KR" altLang="en-US" dirty="0"/>
              <a:t>알림</a:t>
            </a:r>
            <a:r>
              <a:rPr lang="en-US" altLang="ko-KR" dirty="0"/>
              <a:t>·</a:t>
            </a:r>
            <a:r>
              <a:rPr lang="ko-KR" altLang="en-US" dirty="0"/>
              <a:t>로그를 한 화면에</a:t>
            </a: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794456ED-2FD2-4DC5-A929-D2439F423940}"/>
              </a:ext>
            </a:extLst>
          </p:cNvPr>
          <p:cNvSpPr/>
          <p:nvPr/>
        </p:nvSpPr>
        <p:spPr>
          <a:xfrm>
            <a:off x="749808" y="633026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36000" rIns="18288" bIns="9144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9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91F441-BDC2-4248-AECB-D788E0981A8B}"/>
              </a:ext>
            </a:extLst>
          </p:cNvPr>
          <p:cNvSpPr txBox="1"/>
          <p:nvPr/>
        </p:nvSpPr>
        <p:spPr>
          <a:xfrm>
            <a:off x="6011685" y="2367171"/>
            <a:ext cx="420357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600" dirty="0">
                <a:solidFill>
                  <a:srgbClr val="FF0000"/>
                </a:solidFill>
              </a:rPr>
              <a:t>이미지 넣을 예정</a:t>
            </a:r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85A3A0D1-D70D-4008-A4C8-4014A4AD2791}"/>
              </a:ext>
            </a:extLst>
          </p:cNvPr>
          <p:cNvSpPr/>
          <p:nvPr/>
        </p:nvSpPr>
        <p:spPr>
          <a:xfrm>
            <a:off x="592865" y="6422744"/>
            <a:ext cx="1186854" cy="179224"/>
          </a:xfrm>
          <a:prstGeom prst="rect">
            <a:avLst/>
          </a:prstGeom>
          <a:noFill/>
          <a:ln>
            <a:noFill/>
          </a:ln>
        </p:spPr>
        <p:txBody>
          <a:bodyPr wrap="square" lIns="18288" tIns="36000" rIns="0" bIns="36000" rtlCol="0" anchor="t">
            <a:normAutofit lnSpcReduction="10000"/>
          </a:bodyPr>
          <a:lstStyle/>
          <a:p>
            <a:pPr marL="0" indent="0">
              <a:lnSpc>
                <a:spcPct val="92000"/>
              </a:lnSpc>
              <a:buNone/>
            </a:pPr>
            <a:r>
              <a:rPr lang="en-US" sz="80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OBSIDIAN SHIELD  /  08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 w="8890">
            <a:solidFill>
              <a:srgbClr val="5C462F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pic>
        <p:nvPicPr>
          <p:cNvPr id="3" name="Image 0" descr="/mnt/data/a_cinematic_moody_nighttime_urban_street_scene_w_batch_2.png"/>
          <p:cNvPicPr>
            <a:picLocks noChangeAspect="1"/>
          </p:cNvPicPr>
          <p:nvPr/>
        </p:nvPicPr>
        <p:blipFill>
          <a:blip r:embed="rId3"/>
          <a:srcRect l="7000" r="-705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>
              <a:alpha val="72000"/>
            </a:srgbClr>
          </a:solidFill>
          <a:ln w="8890">
            <a:solidFill>
              <a:srgbClr val="5C462F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640080" y="566928"/>
            <a:ext cx="566928" cy="310896"/>
          </a:xfrm>
          <a:prstGeom prst="roundRect">
            <a:avLst/>
          </a:prstGeom>
          <a:solidFill>
            <a:srgbClr val="121216">
              <a:alpha val="45000"/>
            </a:srgbClr>
          </a:solidFill>
          <a:ln w="8890">
            <a:solidFill>
              <a:srgbClr val="CDA25C"/>
            </a:solidFill>
            <a:prstDash val="solid"/>
          </a:ln>
        </p:spPr>
        <p:txBody>
          <a:bodyPr wrap="square" lIns="18288" tIns="9144" rIns="18288" bIns="9144" anchor="t"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311324" y="631171"/>
            <a:ext cx="988672" cy="188385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 PLAN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" y="1115568"/>
            <a:ext cx="4138686" cy="904863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발표에서 보여줄 구현 흐름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2788920"/>
            <a:ext cx="594360" cy="55643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868680" y="3730752"/>
            <a:ext cx="2011680" cy="21666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영상 입력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4096512"/>
            <a:ext cx="1603932" cy="17928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95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드론/CCTV  프레임 수집</a:t>
            </a:r>
            <a:endParaRPr lang="en-US" altLang="ko-KR" sz="950" dirty="0"/>
          </a:p>
        </p:txBody>
      </p:sp>
      <p:sp>
        <p:nvSpPr>
          <p:cNvPr id="12" name="Text 9"/>
          <p:cNvSpPr/>
          <p:nvPr/>
        </p:nvSpPr>
        <p:spPr>
          <a:xfrm>
            <a:off x="3657600" y="2788920"/>
            <a:ext cx="594360" cy="55643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3657600" y="3730752"/>
            <a:ext cx="2011680" cy="21666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분석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657600" y="4049898"/>
            <a:ext cx="1436675" cy="17928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95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YOLO 기반 객체 탐지</a:t>
            </a:r>
            <a:endParaRPr lang="en-US" altLang="ko-KR" sz="950" dirty="0"/>
          </a:p>
        </p:txBody>
      </p:sp>
      <p:sp>
        <p:nvSpPr>
          <p:cNvPr id="15" name="Text 12"/>
          <p:cNvSpPr/>
          <p:nvPr/>
        </p:nvSpPr>
        <p:spPr>
          <a:xfrm>
            <a:off x="6446520" y="2788920"/>
            <a:ext cx="594360" cy="55643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6446520" y="3730752"/>
            <a:ext cx="2011680" cy="21666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추적 로직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46520" y="4093718"/>
            <a:ext cx="1849755" cy="18207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95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대상 ID · 위치 · 이동 방향 저장</a:t>
            </a:r>
            <a:endParaRPr lang="en-US" altLang="ko-KR" sz="950" dirty="0"/>
          </a:p>
        </p:txBody>
      </p:sp>
      <p:sp>
        <p:nvSpPr>
          <p:cNvPr id="18" name="Text 15"/>
          <p:cNvSpPr/>
          <p:nvPr/>
        </p:nvSpPr>
        <p:spPr>
          <a:xfrm>
            <a:off x="9235440" y="2788920"/>
            <a:ext cx="594360" cy="55643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00" b="1" dirty="0">
                <a:solidFill>
                  <a:srgbClr val="FF3B4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9235440" y="3730752"/>
            <a:ext cx="2011680" cy="21666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ECE2D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관제 화면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235440" y="4096512"/>
            <a:ext cx="1604010" cy="17928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95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지도/영상/알림/로그 출력</a:t>
            </a:r>
            <a:endParaRPr lang="en-US" altLang="ko-KR" sz="950" dirty="0"/>
          </a:p>
        </p:txBody>
      </p:sp>
      <p:sp>
        <p:nvSpPr>
          <p:cNvPr id="22" name="Shape 19"/>
          <p:cNvSpPr/>
          <p:nvPr/>
        </p:nvSpPr>
        <p:spPr>
          <a:xfrm>
            <a:off x="9966960" y="6547104"/>
            <a:ext cx="1554480" cy="0"/>
          </a:xfrm>
          <a:prstGeom prst="line">
            <a:avLst/>
          </a:prstGeom>
          <a:noFill/>
          <a:ln w="8890">
            <a:solidFill>
              <a:srgbClr val="CDA25C">
                <a:alpha val="85000"/>
              </a:srgbClr>
            </a:solidFill>
            <a:prstDash val="solid"/>
          </a:ln>
        </p:spPr>
        <p:txBody>
          <a:bodyPr wrap="square" lIns="18288" tIns="9144" rIns="18288" bIns="9144" anchor="t">
            <a:normAutofit fontScale="25000" lnSpcReduction="20000"/>
          </a:bodyPr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438912"/>
            <a:ext cx="11018520" cy="16459"/>
          </a:xfrm>
          <a:prstGeom prst="rect">
            <a:avLst/>
          </a:prstGeom>
          <a:solidFill>
            <a:srgbClr val="B07E41"/>
          </a:solidFill>
          <a:ln>
            <a:solidFill>
              <a:srgbClr val="B07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6327648"/>
            <a:ext cx="11018520" cy="10972"/>
          </a:xfrm>
          <a:prstGeom prst="rect">
            <a:avLst/>
          </a:prstGeom>
          <a:solidFill>
            <a:srgbClr val="5C462F"/>
          </a:solidFill>
          <a:ln>
            <a:solidFill>
              <a:srgbClr val="5C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89720" y="6373368"/>
            <a:ext cx="22860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defRPr sz="800">
                <a:solidFill>
                  <a:srgbClr val="A69A8A"/>
                </a:solidFill>
              </a:defRPr>
            </a:pPr>
            <a:r>
              <a:t>DETECT · IDENTIFY · TRACK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870448"/>
            <a:ext cx="5852160" cy="310896"/>
          </a:xfrm>
          <a:prstGeom prst="roundRect">
            <a:avLst/>
          </a:prstGeom>
          <a:solidFill>
            <a:srgbClr val="191612"/>
          </a:solidFill>
          <a:ln>
            <a:solidFill>
              <a:srgbClr val="B07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8221" y="5943185"/>
            <a:ext cx="2063558" cy="15696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 sz="900">
                <a:solidFill>
                  <a:srgbClr val="ECE2D2"/>
                </a:solidFill>
              </a:defRPr>
            </a:pPr>
            <a:r>
              <a:rPr lang="en-US" altLang="ko-KR" dirty="0"/>
              <a:t>BUILD · </a:t>
            </a:r>
            <a:r>
              <a:rPr lang="ko-KR" altLang="en-US" dirty="0"/>
              <a:t>영상 입력부터 관제 출력까지</a:t>
            </a: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9650D162-6F82-4055-A32F-46384466B24E}"/>
              </a:ext>
            </a:extLst>
          </p:cNvPr>
          <p:cNvSpPr/>
          <p:nvPr/>
        </p:nvSpPr>
        <p:spPr>
          <a:xfrm>
            <a:off x="749808" y="633026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36000" rIns="18288" bIns="9144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CDA25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900" dirty="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A27C6A17-24A3-45A4-9C2F-91369E887640}"/>
              </a:ext>
            </a:extLst>
          </p:cNvPr>
          <p:cNvSpPr/>
          <p:nvPr/>
        </p:nvSpPr>
        <p:spPr>
          <a:xfrm>
            <a:off x="592865" y="6422744"/>
            <a:ext cx="1186854" cy="179224"/>
          </a:xfrm>
          <a:prstGeom prst="rect">
            <a:avLst/>
          </a:prstGeom>
          <a:noFill/>
          <a:ln>
            <a:noFill/>
          </a:ln>
        </p:spPr>
        <p:txBody>
          <a:bodyPr wrap="square" lIns="18288" tIns="36000" rIns="0" bIns="36000" rtlCol="0" anchor="t">
            <a:normAutofit lnSpcReduction="10000"/>
          </a:bodyPr>
          <a:lstStyle/>
          <a:p>
            <a:pPr marL="0" indent="0">
              <a:lnSpc>
                <a:spcPct val="92000"/>
              </a:lnSpc>
              <a:buNone/>
            </a:pPr>
            <a:r>
              <a:rPr lang="en-US" sz="800" dirty="0">
                <a:solidFill>
                  <a:srgbClr val="A69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OBSIDIAN SHIELD  /  09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림 60">
            <a:extLst>
              <a:ext uri="{FF2B5EF4-FFF2-40B4-BE49-F238E27FC236}">
                <a16:creationId xmlns:a16="http://schemas.microsoft.com/office/drawing/2014/main" id="{30DC9B27-C652-41C3-94DD-C8F9DDB24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>
              <a:alpha val="32000"/>
            </a:srgbClr>
          </a:solidFill>
          <a:ln>
            <a:solidFill>
              <a:srgbClr val="070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384048"/>
            <a:ext cx="11064240" cy="9144"/>
          </a:xfrm>
          <a:prstGeom prst="rect">
            <a:avLst/>
          </a:prstGeom>
          <a:solidFill>
            <a:srgbClr val="4B4E55"/>
          </a:solidFill>
          <a:ln>
            <a:solidFill>
              <a:srgbClr val="4B4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19456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94969A"/>
                </a:solidFill>
                <a:latin typeface="Arial"/>
              </a:defRPr>
            </a:pPr>
            <a:r>
              <a:rPr dirty="0"/>
              <a:t>TEAM 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123" y="191131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>
                <a:solidFill>
                  <a:srgbClr val="94969A"/>
                </a:solidFill>
                <a:latin typeface="Arial"/>
              </a:defRPr>
            </a:pPr>
            <a:r>
              <a:rPr dirty="0"/>
              <a:t>OBSIDIAN SHIELD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3715" y="419731"/>
            <a:ext cx="1664208" cy="923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600" b="0">
                <a:solidFill>
                  <a:srgbClr val="94969A"/>
                </a:solidFill>
                <a:latin typeface="Arial"/>
              </a:defRPr>
            </a:pPr>
            <a:r>
              <a:rPr lang="en-US" altLang="ko-KR" dirty="0"/>
              <a:t>AI </a:t>
            </a:r>
            <a:r>
              <a:rPr lang="ko-KR" altLang="en-US" dirty="0"/>
              <a:t>기반 실시간 용의자 추적 및 드론 관제 시스템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9" y="405723"/>
            <a:ext cx="4114800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E8E8E8"/>
                </a:solidFill>
                <a:latin typeface="Arial"/>
              </a:defRPr>
            </a:pPr>
            <a:r>
              <a:rPr dirty="0"/>
              <a:t>TEAM </a:t>
            </a:r>
            <a:r>
              <a:rPr lang="en-US" altLang="ko-KR" dirty="0"/>
              <a:t>3</a:t>
            </a:r>
            <a:r>
              <a:rPr lang="ko-KR" altLang="en-US" dirty="0"/>
              <a:t>조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55168" y="950976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0">
                <a:solidFill>
                  <a:srgbClr val="94969A"/>
                </a:solidFill>
                <a:latin typeface="Arial"/>
              </a:defRPr>
            </a:pPr>
            <a:r>
              <a:rPr lang="ko-KR" altLang="en-US" dirty="0"/>
              <a:t>옵시디언 실드</a:t>
            </a:r>
            <a:r>
              <a:rPr lang="en-US" altLang="ko-KR" dirty="0"/>
              <a:t>, </a:t>
            </a:r>
            <a:r>
              <a:rPr lang="ko-KR" altLang="en-US" dirty="0"/>
              <a:t>우리는 추적해서 기록한다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15570" y="1357376"/>
            <a:ext cx="1874519" cy="4526280"/>
          </a:xfrm>
          <a:prstGeom prst="rect">
            <a:avLst/>
          </a:prstGeom>
          <a:solidFill>
            <a:srgbClr val="0D0F14"/>
          </a:solidFill>
          <a:ln w="10160">
            <a:solidFill>
              <a:srgbClr val="50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33858" y="4374895"/>
            <a:ext cx="1837943" cy="1481328"/>
          </a:xfrm>
          <a:prstGeom prst="rect">
            <a:avLst/>
          </a:prstGeom>
          <a:solidFill>
            <a:srgbClr val="07080C"/>
          </a:solidFill>
          <a:ln>
            <a:solidFill>
              <a:srgbClr val="19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0162" y="4603496"/>
            <a:ext cx="154533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0">
                <a:solidFill>
                  <a:srgbClr val="E8E8E8"/>
                </a:solidFill>
                <a:latin typeface="Arial"/>
              </a:defRPr>
            </a:pPr>
            <a:r>
              <a:t>박정호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2" y="4923536"/>
            <a:ext cx="163677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BC9150"/>
                </a:solidFill>
                <a:latin typeface="Arial"/>
              </a:defRPr>
            </a:pPr>
            <a:r>
              <a:rPr lang="ko-KR" altLang="en-US" dirty="0"/>
              <a:t>팀장 </a:t>
            </a:r>
            <a:r>
              <a:rPr lang="en-US" altLang="ko-KR" dirty="0"/>
              <a:t>/ </a:t>
            </a:r>
            <a:r>
              <a:rPr lang="ko-KR" altLang="en-US" dirty="0"/>
              <a:t>시스템 설계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44170" y="5216144"/>
            <a:ext cx="1417319" cy="4572"/>
          </a:xfrm>
          <a:prstGeom prst="rect">
            <a:avLst/>
          </a:prstGeom>
          <a:solidFill>
            <a:srgbClr val="50412D"/>
          </a:solidFill>
          <a:ln>
            <a:solidFill>
              <a:srgbClr val="504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25298" y="5380736"/>
            <a:ext cx="1655063" cy="11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20" b="0">
                <a:solidFill>
                  <a:srgbClr val="94969A"/>
                </a:solidFill>
                <a:latin typeface="Arial"/>
              </a:defRPr>
            </a:pPr>
            <a:r>
              <a:rPr lang="ko-KR" altLang="en-US" dirty="0"/>
              <a:t>전체 시스템 설계 및 아키텍처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2" y="1357376"/>
            <a:ext cx="1874519" cy="4526280"/>
          </a:xfrm>
          <a:prstGeom prst="rect">
            <a:avLst/>
          </a:prstGeom>
          <a:solidFill>
            <a:srgbClr val="0D0F14"/>
          </a:solidFill>
          <a:ln w="10160">
            <a:solidFill>
              <a:srgbClr val="50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127250" y="4374895"/>
            <a:ext cx="1837943" cy="1481328"/>
          </a:xfrm>
          <a:prstGeom prst="rect">
            <a:avLst/>
          </a:prstGeom>
          <a:solidFill>
            <a:srgbClr val="07080C"/>
          </a:solidFill>
          <a:ln>
            <a:solidFill>
              <a:srgbClr val="19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73554" y="4603496"/>
            <a:ext cx="154533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0">
                <a:solidFill>
                  <a:srgbClr val="E8E8E8"/>
                </a:solidFill>
                <a:latin typeface="Arial"/>
              </a:defRPr>
            </a:pPr>
            <a:r>
              <a:t>김태준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27834" y="4923536"/>
            <a:ext cx="163677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BC9150"/>
                </a:solidFill>
                <a:latin typeface="Arial"/>
              </a:defRPr>
            </a:pPr>
            <a:r>
              <a:rPr lang="en-US" altLang="ko-KR" dirty="0"/>
              <a:t>Ai face </a:t>
            </a:r>
            <a:r>
              <a:rPr lang="ko-KR" altLang="en-US" dirty="0"/>
              <a:t>교육</a:t>
            </a:r>
            <a:r>
              <a:rPr lang="en-US" altLang="ko-KR" dirty="0"/>
              <a:t> </a:t>
            </a:r>
            <a:r>
              <a:rPr lang="ko-KR" altLang="en-US" dirty="0"/>
              <a:t>개발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2" y="5216144"/>
            <a:ext cx="1417319" cy="4572"/>
          </a:xfrm>
          <a:prstGeom prst="rect">
            <a:avLst/>
          </a:prstGeom>
          <a:solidFill>
            <a:srgbClr val="50412D"/>
          </a:solidFill>
          <a:ln>
            <a:solidFill>
              <a:srgbClr val="504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18690" y="5380736"/>
            <a:ext cx="1655063" cy="11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20" b="0">
                <a:solidFill>
                  <a:srgbClr val="94969A"/>
                </a:solidFill>
                <a:latin typeface="Arial"/>
              </a:defRPr>
            </a:pPr>
            <a:r>
              <a:rPr lang="en-US" altLang="ko-KR" dirty="0"/>
              <a:t>Ai </a:t>
            </a:r>
            <a:r>
              <a:rPr lang="ko-KR" altLang="en-US" dirty="0"/>
              <a:t>학습 </a:t>
            </a:r>
            <a:r>
              <a:rPr lang="en-US" altLang="ko-KR" dirty="0"/>
              <a:t>Face </a:t>
            </a:r>
            <a:r>
              <a:rPr lang="ko-KR" altLang="en-US" dirty="0"/>
              <a:t>담당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02354" y="1357376"/>
            <a:ext cx="1874519" cy="4526280"/>
          </a:xfrm>
          <a:prstGeom prst="rect">
            <a:avLst/>
          </a:prstGeom>
          <a:solidFill>
            <a:srgbClr val="0D0F14"/>
          </a:solidFill>
          <a:ln w="10160">
            <a:solidFill>
              <a:srgbClr val="50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120642" y="4374895"/>
            <a:ext cx="1837943" cy="1481328"/>
          </a:xfrm>
          <a:prstGeom prst="rect">
            <a:avLst/>
          </a:prstGeom>
          <a:solidFill>
            <a:srgbClr val="07080C"/>
          </a:solidFill>
          <a:ln>
            <a:solidFill>
              <a:srgbClr val="19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66946" y="4603496"/>
            <a:ext cx="154533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0">
                <a:solidFill>
                  <a:srgbClr val="E8E8E8"/>
                </a:solidFill>
                <a:latin typeface="Arial"/>
              </a:defRPr>
            </a:pPr>
            <a:r>
              <a:t>이규찬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21226" y="4923536"/>
            <a:ext cx="163677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BC9150"/>
                </a:solidFill>
                <a:latin typeface="Arial"/>
              </a:defRPr>
            </a:pPr>
            <a:r>
              <a:rPr lang="ko-KR" altLang="en-US" dirty="0"/>
              <a:t>백엔드 개발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30954" y="5216144"/>
            <a:ext cx="1417319" cy="4572"/>
          </a:xfrm>
          <a:prstGeom prst="rect">
            <a:avLst/>
          </a:prstGeom>
          <a:solidFill>
            <a:srgbClr val="50412D"/>
          </a:solidFill>
          <a:ln>
            <a:solidFill>
              <a:srgbClr val="504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12082" y="5380736"/>
            <a:ext cx="1655063" cy="11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20" b="0">
                <a:solidFill>
                  <a:srgbClr val="94969A"/>
                </a:solidFill>
                <a:latin typeface="Arial"/>
              </a:defRPr>
            </a:pPr>
            <a:r>
              <a:rPr lang="ko-KR" altLang="en-US" dirty="0"/>
              <a:t>서버 구축 및 데이터 처리 담당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95746" y="1357376"/>
            <a:ext cx="1874519" cy="4526280"/>
          </a:xfrm>
          <a:prstGeom prst="rect">
            <a:avLst/>
          </a:prstGeom>
          <a:solidFill>
            <a:srgbClr val="0D0F14"/>
          </a:solidFill>
          <a:ln w="10160">
            <a:solidFill>
              <a:srgbClr val="50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114033" y="4374895"/>
            <a:ext cx="1837943" cy="1481328"/>
          </a:xfrm>
          <a:prstGeom prst="rect">
            <a:avLst/>
          </a:prstGeom>
          <a:solidFill>
            <a:srgbClr val="07080C"/>
          </a:solidFill>
          <a:ln>
            <a:solidFill>
              <a:srgbClr val="19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60338" y="4603496"/>
            <a:ext cx="154533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0">
                <a:solidFill>
                  <a:srgbClr val="E8E8E8"/>
                </a:solidFill>
                <a:latin typeface="Arial"/>
              </a:defRPr>
            </a:pPr>
            <a:r>
              <a:t>이윤호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14618" y="4923536"/>
            <a:ext cx="163677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BC9150"/>
                </a:solidFill>
                <a:latin typeface="Arial"/>
              </a:defRPr>
            </a:pPr>
            <a:r>
              <a:rPr lang="ko-KR" altLang="en-US" dirty="0"/>
              <a:t>프론트엔드 개발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24346" y="5216144"/>
            <a:ext cx="1417319" cy="4572"/>
          </a:xfrm>
          <a:prstGeom prst="rect">
            <a:avLst/>
          </a:prstGeom>
          <a:solidFill>
            <a:srgbClr val="50412D"/>
          </a:solidFill>
          <a:ln>
            <a:solidFill>
              <a:srgbClr val="504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205474" y="5380736"/>
            <a:ext cx="1655063" cy="11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20" b="0">
                <a:solidFill>
                  <a:srgbClr val="94969A"/>
                </a:solidFill>
                <a:latin typeface="Arial"/>
              </a:defRPr>
            </a:pPr>
            <a:r>
              <a:rPr lang="ko-KR" altLang="en-US" dirty="0"/>
              <a:t>관제 </a:t>
            </a:r>
            <a:r>
              <a:rPr lang="en-US" altLang="ko-KR" dirty="0"/>
              <a:t>UI/UX </a:t>
            </a:r>
            <a:r>
              <a:rPr lang="ko-KR" altLang="en-US" dirty="0"/>
              <a:t>및 웹 구현 담당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89138" y="1357376"/>
            <a:ext cx="1874519" cy="4526280"/>
          </a:xfrm>
          <a:prstGeom prst="rect">
            <a:avLst/>
          </a:prstGeom>
          <a:solidFill>
            <a:srgbClr val="0D0F14"/>
          </a:solidFill>
          <a:ln w="10160">
            <a:solidFill>
              <a:srgbClr val="505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107426" y="4374895"/>
            <a:ext cx="1837943" cy="1481328"/>
          </a:xfrm>
          <a:prstGeom prst="rect">
            <a:avLst/>
          </a:prstGeom>
          <a:solidFill>
            <a:srgbClr val="07080C"/>
          </a:solidFill>
          <a:ln>
            <a:solidFill>
              <a:srgbClr val="191B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53730" y="4603496"/>
            <a:ext cx="154533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0">
                <a:solidFill>
                  <a:srgbClr val="E8E8E8"/>
                </a:solidFill>
                <a:latin typeface="Arial"/>
              </a:defRPr>
            </a:pPr>
            <a:r>
              <a:t>장동근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08010" y="4923536"/>
            <a:ext cx="1636775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BC9150"/>
                </a:solidFill>
                <a:latin typeface="Arial"/>
              </a:defRPr>
            </a:pPr>
            <a:r>
              <a:rPr lang="ko-KR" altLang="en-US" dirty="0"/>
              <a:t>영상 처리 </a:t>
            </a:r>
            <a:r>
              <a:rPr lang="en-US" altLang="ko-KR" dirty="0"/>
              <a:t>/ </a:t>
            </a:r>
            <a:r>
              <a:rPr lang="ko-KR" altLang="en-US" dirty="0"/>
              <a:t>데이터 분석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17738" y="5216144"/>
            <a:ext cx="1417319" cy="4572"/>
          </a:xfrm>
          <a:prstGeom prst="rect">
            <a:avLst/>
          </a:prstGeom>
          <a:solidFill>
            <a:srgbClr val="50412D"/>
          </a:solidFill>
          <a:ln>
            <a:solidFill>
              <a:srgbClr val="504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98865" y="5380736"/>
            <a:ext cx="1655063" cy="11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20" b="0">
                <a:solidFill>
                  <a:srgbClr val="94969A"/>
                </a:solidFill>
                <a:latin typeface="Arial"/>
              </a:defRPr>
            </a:pPr>
            <a:r>
              <a:rPr lang="ko-KR" altLang="en-US" dirty="0"/>
              <a:t>영상 처리 및 데이터 분석 담당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14018" y="6304279"/>
            <a:ext cx="66751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0">
                <a:solidFill>
                  <a:srgbClr val="94969A"/>
                </a:solidFill>
                <a:latin typeface="Arial"/>
              </a:defRPr>
            </a:pP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“  우리는 쫓지 않는다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우리는 추적하고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기록하며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, </a:t>
            </a:r>
            <a:r>
              <a:rPr lang="ko-KR" altLang="en-US" dirty="0">
                <a:latin typeface="HY견명조" panose="02030600000101010101" pitchFamily="18" charset="-127"/>
                <a:ea typeface="HY견명조" panose="02030600000101010101" pitchFamily="18" charset="-127"/>
              </a:rPr>
              <a:t>지킨다</a:t>
            </a:r>
            <a:r>
              <a:rPr lang="en-US" altLang="ko-KR" dirty="0">
                <a:latin typeface="HY견명조" panose="02030600000101010101" pitchFamily="18" charset="-127"/>
                <a:ea typeface="HY견명조" panose="02030600000101010101" pitchFamily="18" charset="-127"/>
              </a:rPr>
              <a:t>.  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638544"/>
            <a:ext cx="12191695" cy="5486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1440" y="6711696"/>
            <a:ext cx="84328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 b="0">
                <a:solidFill>
                  <a:srgbClr val="94969A"/>
                </a:solidFill>
                <a:latin typeface="Arial"/>
              </a:defRPr>
            </a:pPr>
            <a:r>
              <a:rPr dirty="0"/>
              <a:t>TEAM </a:t>
            </a:r>
            <a:r>
              <a:rPr lang="en-US" altLang="ko-KR" dirty="0"/>
              <a:t>3</a:t>
            </a:r>
            <a:r>
              <a:rPr lang="ko-KR" altLang="en-US" dirty="0"/>
              <a:t>조 소개</a:t>
            </a:r>
            <a:endParaRPr dirty="0"/>
          </a:p>
        </p:txBody>
      </p:sp>
      <p:sp>
        <p:nvSpPr>
          <p:cNvPr id="56" name="TextBox 55"/>
          <p:cNvSpPr txBox="1"/>
          <p:nvPr/>
        </p:nvSpPr>
        <p:spPr>
          <a:xfrm>
            <a:off x="4281765" y="6679658"/>
            <a:ext cx="25603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94969A"/>
                </a:solidFill>
                <a:latin typeface="Arial"/>
              </a:defRPr>
            </a:pPr>
            <a:r>
              <a:rPr dirty="0"/>
              <a:t>O B S I D I A N   S H I E L 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21240" y="671169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00" b="0">
                <a:solidFill>
                  <a:srgbClr val="94969A"/>
                </a:solidFill>
                <a:latin typeface="Arial"/>
              </a:defRPr>
            </a:pPr>
            <a:r>
              <a:t>OBSIDIAN SHIELD  /  10</a:t>
            </a:r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326DE71C-4793-4520-B454-E559F1769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8" y="1379982"/>
            <a:ext cx="1856231" cy="2985387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86DD60AA-C75A-4B86-947C-5B8AB1523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486" y="1379982"/>
            <a:ext cx="1837943" cy="2994913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29091FF0-3D0A-4BCD-81AD-6ADAB1B291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7707" y="1379982"/>
            <a:ext cx="1840878" cy="2994913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9153B1E3-C309-4F30-9D40-A37EE62DC1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3" y="1399032"/>
            <a:ext cx="1837942" cy="2975863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9BFB2620-DA03-4780-8707-5711F0FAD1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7426" y="1390650"/>
            <a:ext cx="1856231" cy="29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529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00" cy="9144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AAAAAA"/>
                </a:solidFill>
              </a:defRPr>
            </a:pPr>
            <a:r>
              <a:rPr dirty="0"/>
              <a:t>Q&amp;A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10972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D2D2D2"/>
                </a:solidFill>
              </a:defRPr>
            </a:pPr>
            <a:r>
              <a:rPr dirty="0"/>
              <a:t>OBSIDIAN SHIELD</a:t>
            </a:r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CC16EAC2-7FA8-41AC-B39E-AB9C3A564F7A}"/>
              </a:ext>
            </a:extLst>
          </p:cNvPr>
          <p:cNvSpPr/>
          <p:nvPr/>
        </p:nvSpPr>
        <p:spPr>
          <a:xfrm>
            <a:off x="1920240" y="1005840"/>
            <a:ext cx="8412480" cy="4389120"/>
          </a:xfrm>
          <a:prstGeom prst="roundRect">
            <a:avLst/>
          </a:prstGeom>
          <a:solidFill>
            <a:srgbClr val="0A0B0E"/>
          </a:solidFill>
          <a:ln>
            <a:solidFill>
              <a:srgbClr val="785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32006B-8031-4FE7-B0E6-4BE0D1FD7988}"/>
              </a:ext>
            </a:extLst>
          </p:cNvPr>
          <p:cNvSpPr txBox="1"/>
          <p:nvPr/>
        </p:nvSpPr>
        <p:spPr>
          <a:xfrm>
            <a:off x="2331719" y="1601305"/>
            <a:ext cx="2036095" cy="719034"/>
          </a:xfrm>
          <a:prstGeom prst="rect">
            <a:avLst/>
          </a:prstGeom>
          <a:noFill/>
        </p:spPr>
        <p:txBody>
          <a:bodyPr wrap="square" tIns="36000" bIns="36000">
            <a:spAutoFit/>
          </a:bodyPr>
          <a:lstStyle/>
          <a:p>
            <a:pPr>
              <a:defRPr sz="4200" b="1">
                <a:solidFill>
                  <a:srgbClr val="F2F2F2"/>
                </a:solidFill>
              </a:defRPr>
            </a:pPr>
            <a:r>
              <a:rPr lang="en-US" altLang="ko-KR" dirty="0">
                <a:latin typeface="HY얕은샘물M" panose="02030600000101010101" pitchFamily="18" charset="-127"/>
                <a:ea typeface="HY얕은샘물M" panose="02030600000101010101" pitchFamily="18" charset="-127"/>
              </a:rPr>
              <a:t>THANK YOU</a:t>
            </a: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30C568E0-23FE-4A3F-9C97-898616B1E3B8}"/>
              </a:ext>
            </a:extLst>
          </p:cNvPr>
          <p:cNvSpPr/>
          <p:nvPr/>
        </p:nvSpPr>
        <p:spPr>
          <a:xfrm>
            <a:off x="2788547" y="2925185"/>
            <a:ext cx="3342965" cy="45719"/>
          </a:xfrm>
          <a:prstGeom prst="rect">
            <a:avLst/>
          </a:prstGeom>
          <a:solidFill>
            <a:srgbClr val="B4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427A1D-C55D-4B9D-A339-6FE1C444EA0B}"/>
              </a:ext>
            </a:extLst>
          </p:cNvPr>
          <p:cNvSpPr txBox="1"/>
          <p:nvPr/>
        </p:nvSpPr>
        <p:spPr>
          <a:xfrm>
            <a:off x="4510087" y="6035040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F915F"/>
                </a:solidFill>
              </a:defRPr>
            </a:pPr>
            <a:r>
              <a:rPr dirty="0"/>
              <a:t>TRACK · ANALYZE · PROTECT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7B1FA2-BADC-4039-80D5-A1BC822FD2BF}"/>
              </a:ext>
            </a:extLst>
          </p:cNvPr>
          <p:cNvSpPr txBox="1"/>
          <p:nvPr/>
        </p:nvSpPr>
        <p:spPr>
          <a:xfrm>
            <a:off x="4905375" y="6365931"/>
            <a:ext cx="112966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69696"/>
                </a:solidFill>
              </a:defRPr>
            </a:pPr>
            <a:r>
              <a:rPr dirty="0"/>
              <a:t>OBSIDIAN SHIELD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A967B38-84E2-40E5-8E3B-03FAB0206F45}"/>
              </a:ext>
            </a:extLst>
          </p:cNvPr>
          <p:cNvSpPr/>
          <p:nvPr/>
        </p:nvSpPr>
        <p:spPr>
          <a:xfrm>
            <a:off x="2753035" y="2166162"/>
            <a:ext cx="3514104" cy="646331"/>
          </a:xfrm>
          <a:prstGeom prst="rect">
            <a:avLst/>
          </a:prstGeom>
        </p:spPr>
        <p:txBody>
          <a:bodyPr wrap="none" tIns="36000" bIns="36000">
            <a:spAutoFit/>
          </a:bodyPr>
          <a:lstStyle/>
          <a:p>
            <a:pPr>
              <a:defRPr sz="2000" b="0">
                <a:solidFill>
                  <a:srgbClr val="BEBEBE"/>
                </a:solidFill>
              </a:defRPr>
            </a:pPr>
            <a:r>
              <a:rPr lang="ko-KR" altLang="en-US" sz="3600" dirty="0">
                <a:latin typeface="HY얕은샘물M" panose="02030600000101010101" pitchFamily="18" charset="-127"/>
                <a:ea typeface="HY얕은샘물M" panose="02030600000101010101" pitchFamily="18" charset="-127"/>
              </a:rPr>
              <a:t>질문과 의견을 기다립니다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F1556AF-D714-4BD6-A6C0-9A7A7D68E01B}"/>
              </a:ext>
            </a:extLst>
          </p:cNvPr>
          <p:cNvSpPr/>
          <p:nvPr/>
        </p:nvSpPr>
        <p:spPr>
          <a:xfrm>
            <a:off x="5470207" y="3208348"/>
            <a:ext cx="2954655" cy="1569660"/>
          </a:xfrm>
          <a:prstGeom prst="rect">
            <a:avLst/>
          </a:prstGeom>
        </p:spPr>
        <p:txBody>
          <a:bodyPr wrap="none" tIns="36000" bIns="36000">
            <a:spAutoFit/>
          </a:bodyPr>
          <a:lstStyle/>
          <a:p>
            <a:pPr>
              <a:defRPr sz="1300" b="0">
                <a:solidFill>
                  <a:srgbClr val="AAAAAA"/>
                </a:solidFill>
              </a:defRPr>
            </a:pPr>
            <a:r>
              <a:rPr lang="en-US" altLang="ko-KR" sz="9600" dirty="0">
                <a:latin typeface="+mj-ea"/>
                <a:ea typeface="+mj-ea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4184111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776</Words>
  <Application>Microsoft Office PowerPoint</Application>
  <PresentationFormat>와이드스크린</PresentationFormat>
  <Paragraphs>218</Paragraphs>
  <Slides>12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HY견명조</vt:lpstr>
      <vt:lpstr>HY얕은샘물M</vt:lpstr>
      <vt:lpstr>Noto Sans CJK KR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Team 딱코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옵시디언 실드 - 용의자 드론 추적 관제 시스템</dc:title>
  <dc:subject>Obsidian Shield Presentation</dc:subject>
  <dc:creator>OpenAI</dc:creator>
  <cp:lastModifiedBy>dijk dijk</cp:lastModifiedBy>
  <cp:revision>23</cp:revision>
  <dcterms:created xsi:type="dcterms:W3CDTF">2026-06-24T14:24:10Z</dcterms:created>
  <dcterms:modified xsi:type="dcterms:W3CDTF">2026-06-24T18:05:42Z</dcterms:modified>
</cp:coreProperties>
</file>