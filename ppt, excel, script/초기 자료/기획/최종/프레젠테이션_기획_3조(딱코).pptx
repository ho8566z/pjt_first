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73" r:id="rId5"/>
    <p:sldId id="259" r:id="rId6"/>
    <p:sldId id="268" r:id="rId7"/>
    <p:sldId id="267" r:id="rId8"/>
    <p:sldId id="272" r:id="rId9"/>
  </p:sldIdLst>
  <p:sldSz cx="18288000" cy="10287000"/>
  <p:notesSz cx="6858000" cy="9144000"/>
  <p:embeddedFontLst>
    <p:embeddedFont>
      <p:font typeface="프리텐다드 Medium" panose="020B0600000101010101" charset="-127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프리텐다드 Semi-Bold" panose="020B0600000101010101" charset="-127"/>
      <p:regular r:id="rId15"/>
    </p:embeddedFont>
    <p:embeddedFont>
      <p:font typeface="프리텐다드 Bold" panose="020B0600000101010101" charset="-127"/>
      <p:regular r:id="rId16"/>
    </p:embeddedFont>
    <p:embeddedFont>
      <p:font typeface="프리텐다드" panose="020B0600000101010101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  <p:embeddedFont>
      <p:font typeface="프리텐다드 Light" panose="020B0600000101010101" charset="-127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883" autoAdjust="0"/>
  </p:normalViewPr>
  <p:slideViewPr>
    <p:cSldViewPr>
      <p:cViewPr varScale="1">
        <p:scale>
          <a:sx n="77" d="100"/>
          <a:sy n="77" d="100"/>
        </p:scale>
        <p:origin x="414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8433" y="-189268"/>
            <a:ext cx="3268199" cy="7739024"/>
            <a:chOff x="0" y="0"/>
            <a:chExt cx="860760" cy="20382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0760" cy="2038262"/>
            </a:xfrm>
            <a:custGeom>
              <a:avLst/>
              <a:gdLst/>
              <a:ahLst/>
              <a:cxnLst/>
              <a:rect l="l" t="t" r="r" b="b"/>
              <a:pathLst>
                <a:path w="860760" h="2038262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93873" y="7075598"/>
            <a:ext cx="18675746" cy="3324731"/>
            <a:chOff x="0" y="0"/>
            <a:chExt cx="4918715" cy="8756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18715" cy="875649"/>
            </a:xfrm>
            <a:custGeom>
              <a:avLst/>
              <a:gdLst/>
              <a:ahLst/>
              <a:cxnLst/>
              <a:rect l="l" t="t" r="r" b="b"/>
              <a:pathLst>
                <a:path w="4918715" h="875649">
                  <a:moveTo>
                    <a:pt x="0" y="0"/>
                  </a:moveTo>
                  <a:lnTo>
                    <a:pt x="4918715" y="0"/>
                  </a:lnTo>
                  <a:lnTo>
                    <a:pt x="4918715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18715" cy="923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33463" y="7907272"/>
            <a:ext cx="0" cy="1351028"/>
          </a:xfrm>
          <a:prstGeom prst="line">
            <a:avLst/>
          </a:prstGeom>
          <a:ln w="9525" cap="flat">
            <a:solidFill>
              <a:srgbClr val="F6F6F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2525577" y="8951595"/>
            <a:ext cx="20376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010-1234-5678</a:t>
            </a:r>
            <a:endParaRPr lang="en-US" sz="1800" spc="131" dirty="0">
              <a:solidFill>
                <a:srgbClr val="F6F6F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25577" y="7869172"/>
            <a:ext cx="316377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www.168.190.1.155:5000</a:t>
            </a:r>
            <a:endParaRPr lang="en-US" sz="1800" spc="131" dirty="0">
              <a:solidFill>
                <a:srgbClr val="F6F6F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82725" y="7869172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홈페이지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2725" y="8405119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2725" y="8951595"/>
            <a:ext cx="104285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spc="131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5577" y="8405119"/>
            <a:ext cx="349818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jungho</a:t>
            </a:r>
            <a:r>
              <a:rPr lang="en-US" sz="1800" spc="131" dirty="0" smtClean="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@gmail.com</a:t>
            </a:r>
            <a:endParaRPr lang="en-US" sz="1800" spc="131" dirty="0">
              <a:solidFill>
                <a:srgbClr val="F6F6F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2231800"/>
            <a:ext cx="93345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ko-KR" altLang="en-US" sz="927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지능형 관제 시스템</a:t>
            </a:r>
            <a:endParaRPr lang="en-US" sz="927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3516926"/>
            <a:ext cx="7056707" cy="166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8000" b="1" dirty="0" err="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프레젠테이션</a:t>
            </a:r>
            <a:endParaRPr lang="en-US" sz="8000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1848967"/>
            <a:ext cx="4995062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ko-KR" altLang="en-US" sz="2107" spc="210" dirty="0" err="1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옵시디언</a:t>
            </a:r>
            <a:r>
              <a:rPr lang="ko-KR" altLang="en-US" sz="2107" spc="210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sz="2107" spc="210" dirty="0" err="1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실드</a:t>
            </a:r>
            <a:r>
              <a:rPr lang="en-US" altLang="ko-KR" sz="2107" spc="210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Obsidian Shield</a:t>
            </a:r>
            <a:endParaRPr lang="en-US" sz="2107" spc="21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2383" y="2458855"/>
            <a:ext cx="5983252" cy="7922513"/>
            <a:chOff x="0" y="0"/>
            <a:chExt cx="1575836" cy="20865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5836" cy="2086588"/>
            </a:xfrm>
            <a:custGeom>
              <a:avLst/>
              <a:gdLst/>
              <a:ahLst/>
              <a:cxnLst/>
              <a:rect l="l" t="t" r="r" b="b"/>
              <a:pathLst>
                <a:path w="1575836" h="2086588">
                  <a:moveTo>
                    <a:pt x="0" y="0"/>
                  </a:moveTo>
                  <a:lnTo>
                    <a:pt x="1575836" y="0"/>
                  </a:lnTo>
                  <a:lnTo>
                    <a:pt x="1575836" y="2086588"/>
                  </a:lnTo>
                  <a:lnTo>
                    <a:pt x="0" y="2086588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575836" cy="213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2858" y="-107527"/>
            <a:ext cx="5983252" cy="2953200"/>
            <a:chOff x="0" y="0"/>
            <a:chExt cx="1575836" cy="7777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75836" cy="777797"/>
            </a:xfrm>
            <a:custGeom>
              <a:avLst/>
              <a:gdLst/>
              <a:ahLst/>
              <a:cxnLst/>
              <a:rect l="l" t="t" r="r" b="b"/>
              <a:pathLst>
                <a:path w="1575836" h="777797">
                  <a:moveTo>
                    <a:pt x="0" y="0"/>
                  </a:moveTo>
                  <a:lnTo>
                    <a:pt x="1575836" y="0"/>
                  </a:lnTo>
                  <a:lnTo>
                    <a:pt x="1575836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575836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405377"/>
            <a:ext cx="132273" cy="814512"/>
            <a:chOff x="0" y="0"/>
            <a:chExt cx="40474" cy="2492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474" cy="249233"/>
            </a:xfrm>
            <a:custGeom>
              <a:avLst/>
              <a:gdLst/>
              <a:ahLst/>
              <a:cxnLst/>
              <a:rect l="l" t="t" r="r" b="b"/>
              <a:pathLst>
                <a:path w="40474" h="249233">
                  <a:moveTo>
                    <a:pt x="0" y="0"/>
                  </a:moveTo>
                  <a:lnTo>
                    <a:pt x="40474" y="0"/>
                  </a:lnTo>
                  <a:lnTo>
                    <a:pt x="40474" y="249233"/>
                  </a:lnTo>
                  <a:lnTo>
                    <a:pt x="0" y="249233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474" cy="287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93273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en-US" sz="5699" b="1" u="none" strike="noStrik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Contests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6800" y="163830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팀 소개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27799" y="164287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800" y="3935321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아이디어 및 벤치마킹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27799" y="3939895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86800" y="278414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프로젝트 소개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827799" y="278871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6800" y="2162771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TEAM INTRODUCTION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686800" y="3311583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PROJECT INTRODUCTION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86800" y="4458947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IDEA &amp; BENCHMARKING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54" name="TextBox 14"/>
          <p:cNvSpPr txBox="1"/>
          <p:nvPr/>
        </p:nvSpPr>
        <p:spPr>
          <a:xfrm>
            <a:off x="8686800" y="508192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요구사항 분석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55" name="TextBox 15"/>
          <p:cNvSpPr txBox="1"/>
          <p:nvPr/>
        </p:nvSpPr>
        <p:spPr>
          <a:xfrm>
            <a:off x="7827799" y="508649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6" name="TextBox 26"/>
          <p:cNvSpPr txBox="1"/>
          <p:nvPr/>
        </p:nvSpPr>
        <p:spPr>
          <a:xfrm>
            <a:off x="8686800" y="5605550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REQUIREMENT ANALYSIS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57" name="TextBox 14"/>
          <p:cNvSpPr txBox="1"/>
          <p:nvPr/>
        </p:nvSpPr>
        <p:spPr>
          <a:xfrm>
            <a:off x="8686800" y="7357817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기능 설계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58" name="TextBox 15"/>
          <p:cNvSpPr txBox="1"/>
          <p:nvPr/>
        </p:nvSpPr>
        <p:spPr>
          <a:xfrm>
            <a:off x="7827799" y="7362391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59" name="TextBox 16"/>
          <p:cNvSpPr txBox="1"/>
          <p:nvPr/>
        </p:nvSpPr>
        <p:spPr>
          <a:xfrm>
            <a:off x="8686800" y="620664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시스템 설계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0" name="TextBox 17"/>
          <p:cNvSpPr txBox="1"/>
          <p:nvPr/>
        </p:nvSpPr>
        <p:spPr>
          <a:xfrm>
            <a:off x="7827799" y="621121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1" name="TextBox 25"/>
          <p:cNvSpPr txBox="1"/>
          <p:nvPr/>
        </p:nvSpPr>
        <p:spPr>
          <a:xfrm>
            <a:off x="8686800" y="6734079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SYSTEM DESIGN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62" name="TextBox 26"/>
          <p:cNvSpPr txBox="1"/>
          <p:nvPr/>
        </p:nvSpPr>
        <p:spPr>
          <a:xfrm>
            <a:off x="8686800" y="7881443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FUNCTIONAL DESIGN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63" name="TextBox 14"/>
          <p:cNvSpPr txBox="1"/>
          <p:nvPr/>
        </p:nvSpPr>
        <p:spPr>
          <a:xfrm>
            <a:off x="8686800" y="850442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화면 설계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4" name="TextBox 15"/>
          <p:cNvSpPr txBox="1"/>
          <p:nvPr/>
        </p:nvSpPr>
        <p:spPr>
          <a:xfrm>
            <a:off x="7827799" y="850899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07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5" name="TextBox 26"/>
          <p:cNvSpPr txBox="1"/>
          <p:nvPr/>
        </p:nvSpPr>
        <p:spPr>
          <a:xfrm>
            <a:off x="8686800" y="9028046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UI DESIGN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66" name="TextBox 12"/>
          <p:cNvSpPr txBox="1"/>
          <p:nvPr/>
        </p:nvSpPr>
        <p:spPr>
          <a:xfrm>
            <a:off x="13432001" y="163830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개발 계획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7" name="TextBox 13"/>
          <p:cNvSpPr txBox="1"/>
          <p:nvPr/>
        </p:nvSpPr>
        <p:spPr>
          <a:xfrm>
            <a:off x="12573000" y="164287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08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68" name="TextBox 14"/>
          <p:cNvSpPr txBox="1"/>
          <p:nvPr/>
        </p:nvSpPr>
        <p:spPr>
          <a:xfrm>
            <a:off x="13432001" y="3935321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구현 내용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69" name="TextBox 15"/>
          <p:cNvSpPr txBox="1"/>
          <p:nvPr/>
        </p:nvSpPr>
        <p:spPr>
          <a:xfrm>
            <a:off x="12573000" y="3939895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10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0" name="TextBox 16"/>
          <p:cNvSpPr txBox="1"/>
          <p:nvPr/>
        </p:nvSpPr>
        <p:spPr>
          <a:xfrm>
            <a:off x="13432001" y="278414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주요 기능 구현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71" name="TextBox 17"/>
          <p:cNvSpPr txBox="1"/>
          <p:nvPr/>
        </p:nvSpPr>
        <p:spPr>
          <a:xfrm>
            <a:off x="12573000" y="278871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09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2" name="TextBox 24"/>
          <p:cNvSpPr txBox="1"/>
          <p:nvPr/>
        </p:nvSpPr>
        <p:spPr>
          <a:xfrm>
            <a:off x="13432001" y="2162771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DEVELOPMENT PLAN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3" name="TextBox 25"/>
          <p:cNvSpPr txBox="1"/>
          <p:nvPr/>
        </p:nvSpPr>
        <p:spPr>
          <a:xfrm>
            <a:off x="13432001" y="3311583"/>
            <a:ext cx="335131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CORE FEATURE IMPLEMENTATION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4" name="TextBox 26"/>
          <p:cNvSpPr txBox="1"/>
          <p:nvPr/>
        </p:nvSpPr>
        <p:spPr>
          <a:xfrm>
            <a:off x="13432001" y="4458947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altLang="ko-KR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IMPLEMENTATION</a:t>
            </a:r>
            <a:r>
              <a:rPr lang="en-US" altLang="ko-KR" sz="1500" spc="78" dirty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 </a:t>
            </a:r>
            <a:r>
              <a:rPr lang="en-US" altLang="ko-KR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DETAILS</a:t>
            </a:r>
            <a:endParaRPr lang="en-US" altLang="ko-KR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5" name="TextBox 14"/>
          <p:cNvSpPr txBox="1"/>
          <p:nvPr/>
        </p:nvSpPr>
        <p:spPr>
          <a:xfrm>
            <a:off x="13432001" y="5081924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테스트 및 시연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76" name="TextBox 15"/>
          <p:cNvSpPr txBox="1"/>
          <p:nvPr/>
        </p:nvSpPr>
        <p:spPr>
          <a:xfrm>
            <a:off x="12573000" y="5086498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11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77" name="TextBox 26"/>
          <p:cNvSpPr txBox="1"/>
          <p:nvPr/>
        </p:nvSpPr>
        <p:spPr>
          <a:xfrm>
            <a:off x="13432001" y="5605550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TESTING &amp; DEMONSTRAION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78" name="TextBox 14"/>
          <p:cNvSpPr txBox="1"/>
          <p:nvPr/>
        </p:nvSpPr>
        <p:spPr>
          <a:xfrm>
            <a:off x="13432001" y="7357817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향후 개선 계획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79" name="TextBox 15"/>
          <p:cNvSpPr txBox="1"/>
          <p:nvPr/>
        </p:nvSpPr>
        <p:spPr>
          <a:xfrm>
            <a:off x="12573000" y="7362391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80" name="TextBox 16"/>
          <p:cNvSpPr txBox="1"/>
          <p:nvPr/>
        </p:nvSpPr>
        <p:spPr>
          <a:xfrm>
            <a:off x="13432001" y="620664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  <a:spcBef>
                <a:spcPct val="0"/>
              </a:spcBef>
            </a:pPr>
            <a:r>
              <a:rPr lang="ko-KR" alt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기대 효과</a:t>
            </a:r>
            <a:endParaRPr lang="en-US" sz="2550" b="1" u="none" strike="noStrike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81" name="TextBox 17"/>
          <p:cNvSpPr txBox="1"/>
          <p:nvPr/>
        </p:nvSpPr>
        <p:spPr>
          <a:xfrm>
            <a:off x="12573000" y="621121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  <a:spcBef>
                <a:spcPct val="0"/>
              </a:spcBef>
            </a:pP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</a:t>
            </a:r>
            <a:endParaRPr lang="en-US" sz="2350" b="1" dirty="0">
              <a:solidFill>
                <a:srgbClr val="2A59C5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82" name="TextBox 25"/>
          <p:cNvSpPr txBox="1"/>
          <p:nvPr/>
        </p:nvSpPr>
        <p:spPr>
          <a:xfrm>
            <a:off x="13432001" y="6734079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EXPECTED OUTCOMES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83" name="TextBox 26"/>
          <p:cNvSpPr txBox="1"/>
          <p:nvPr/>
        </p:nvSpPr>
        <p:spPr>
          <a:xfrm>
            <a:off x="13432001" y="7881443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FUTURE IMPROVEMENTS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  <p:sp>
        <p:nvSpPr>
          <p:cNvPr id="84" name="TextBox 14"/>
          <p:cNvSpPr txBox="1"/>
          <p:nvPr/>
        </p:nvSpPr>
        <p:spPr>
          <a:xfrm>
            <a:off x="13432001" y="8504420"/>
            <a:ext cx="3351316" cy="43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en-US" sz="2550" b="1" dirty="0" smtClean="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Q&amp;A</a:t>
            </a:r>
            <a:endParaRPr lang="en-US" sz="2550" b="1" dirty="0">
              <a:solidFill>
                <a:srgbClr val="282828"/>
              </a:solidFill>
              <a:latin typeface="프리텐다드 Medium"/>
              <a:ea typeface="프리텐다드 Medium"/>
              <a:cs typeface="프리텐다드 Medium"/>
              <a:sym typeface="프리텐다드 Medium"/>
            </a:endParaRPr>
          </a:p>
        </p:txBody>
      </p:sp>
      <p:sp>
        <p:nvSpPr>
          <p:cNvPr id="85" name="TextBox 15"/>
          <p:cNvSpPr txBox="1"/>
          <p:nvPr/>
        </p:nvSpPr>
        <p:spPr>
          <a:xfrm>
            <a:off x="12573000" y="8508994"/>
            <a:ext cx="639298" cy="39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1"/>
              </a:lnSpc>
            </a:pPr>
            <a:r>
              <a:rPr lang="en-US" sz="2350" b="1" dirty="0" smtClean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  <a:r>
              <a:rPr lang="en-US" sz="2350" b="1" dirty="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</a:t>
            </a:r>
          </a:p>
        </p:txBody>
      </p:sp>
      <p:sp>
        <p:nvSpPr>
          <p:cNvPr id="86" name="TextBox 26"/>
          <p:cNvSpPr txBox="1"/>
          <p:nvPr/>
        </p:nvSpPr>
        <p:spPr>
          <a:xfrm>
            <a:off x="13432001" y="9028046"/>
            <a:ext cx="2973382" cy="24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spc="78" dirty="0" smtClean="0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Q&amp;A</a:t>
            </a:r>
            <a:endParaRPr lang="en-US" sz="1500" spc="78" dirty="0">
              <a:solidFill>
                <a:srgbClr val="2A59C5"/>
              </a:solidFill>
              <a:latin typeface="프리텐다드 Light"/>
              <a:ea typeface="프리텐다드 Light"/>
              <a:cs typeface="프리텐다드 Light"/>
              <a:sym typeface="프리텐다드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21481" y="990600"/>
            <a:ext cx="3894213" cy="2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TEAM INTRODUCTION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21481" y="1253961"/>
            <a:ext cx="3894213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팀 소개</a:t>
            </a:r>
            <a:r>
              <a:rPr lang="en-US" altLang="ko-KR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: </a:t>
            </a:r>
            <a:r>
              <a:rPr lang="ko-KR" altLang="en-US" sz="5699" b="1" dirty="0" err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딱코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026377"/>
              </p:ext>
            </p:extLst>
          </p:nvPr>
        </p:nvGraphicFramePr>
        <p:xfrm>
          <a:off x="1713028" y="3635910"/>
          <a:ext cx="14830156" cy="6003389"/>
        </p:xfrm>
        <a:graphic>
          <a:graphicData uri="http://schemas.openxmlformats.org/drawingml/2006/table">
            <a:tbl>
              <a:tblPr/>
              <a:tblGrid>
                <a:gridCol w="1639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8524806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8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0135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사진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67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이름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200" b="1" dirty="0" smtClean="0"/>
                        <a:t>박정호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김태준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err="1" smtClean="0"/>
                        <a:t>이규찬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이윤호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err="1" smtClean="0"/>
                        <a:t>장동근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67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직위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팀장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팀원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67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b="1" dirty="0" smtClean="0"/>
                        <a:t>역할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36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89" y="3494616"/>
            <a:ext cx="6437536" cy="581768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96200" y="3494616"/>
            <a:ext cx="9563100" cy="5763684"/>
            <a:chOff x="0" y="0"/>
            <a:chExt cx="2518677" cy="15180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18676" cy="1518007"/>
            </a:xfrm>
            <a:custGeom>
              <a:avLst/>
              <a:gdLst/>
              <a:ahLst/>
              <a:cxnLst/>
              <a:rect l="l" t="t" r="r" b="b"/>
              <a:pathLst>
                <a:path w="2518676" h="1518007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442494" y="3979365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442494" y="5595433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442494" y="7043233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8411703" y="5444814"/>
            <a:ext cx="8101303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8442494" y="6896100"/>
            <a:ext cx="8101303" cy="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8411703" y="4438022"/>
            <a:ext cx="7933317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ko-KR" altLang="en-US" dirty="0" err="1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드론과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활용해 실시간 영상을 수집하고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AI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객체 탐지 및 얼굴 인식 기술로 실종자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수배자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관심 인물을 식별하는 지능형 관제 시스템을 개발한다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또한 </a:t>
            </a:r>
            <a:r>
              <a:rPr lang="ko-KR" altLang="en-US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대상의 </a:t>
            </a:r>
            <a:r>
              <a:rPr lang="ko-KR" altLang="en-US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위치를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추적하여 신속한 대응을 지원한다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57139" y="3908432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프로젝트 개요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11703" y="6054090"/>
            <a:ext cx="7933317" cy="61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기존 관제 시스템은 인력 의존도가 높아 대상 식별과 추적에 한계가 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이에 따라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기술을 활용한 효율적인 실시간 감시 및 대응 시스템의 필요성이 증가하고 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57139" y="5524500"/>
            <a:ext cx="356604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프로젝트 배경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411703" y="7501890"/>
            <a:ext cx="7933317" cy="157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실시간 영상 수집 및 통합 관제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대상 탐지 및 얼굴 인식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실종자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수배자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관심 인물 식별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위치 및 이동 경로 추적</a:t>
            </a:r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신속한 대응 및 공공 안전 강화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957139" y="6972300"/>
            <a:ext cx="35660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프로젝트 목표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grpSp>
        <p:nvGrpSpPr>
          <p:cNvPr id="26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27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28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TextBox 18"/>
          <p:cNvSpPr txBox="1"/>
          <p:nvPr/>
        </p:nvSpPr>
        <p:spPr>
          <a:xfrm>
            <a:off x="1421481" y="990600"/>
            <a:ext cx="389421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PROJECT INTRODUCTION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30" name="TextBox 19"/>
          <p:cNvSpPr txBox="1"/>
          <p:nvPr/>
        </p:nvSpPr>
        <p:spPr>
          <a:xfrm>
            <a:off x="1421481" y="1253961"/>
            <a:ext cx="45221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프로젝트 소개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05906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696200" y="3494616"/>
            <a:ext cx="9563096" cy="5173771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8442494" y="3979365"/>
            <a:ext cx="330573" cy="330573"/>
          </a:xfrm>
          <a:custGeom>
            <a:avLst/>
            <a:gdLst/>
            <a:ahLst/>
            <a:cxnLst/>
            <a:rect l="l" t="t" r="r" b="b"/>
            <a:pathLst>
              <a:path w="330573" h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21481" y="990600"/>
            <a:ext cx="3894213" cy="2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IDEA INTRODUCTION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21481" y="1253961"/>
            <a:ext cx="45221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아이디어 소개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57139" y="3908432"/>
            <a:ext cx="5444661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지능형 영상 분석 기반 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AI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관제 시스템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11690" y="4490764"/>
            <a:ext cx="7933317" cy="320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 smtClean="0"/>
              <a:t>드론</a:t>
            </a:r>
            <a:r>
              <a:rPr lang="ko-KR" altLang="en-US" b="1" dirty="0" smtClean="0"/>
              <a:t> </a:t>
            </a:r>
            <a:r>
              <a:rPr lang="ko-KR" altLang="en-US" b="1" dirty="0"/>
              <a:t>및 </a:t>
            </a:r>
            <a:r>
              <a:rPr lang="en-US" altLang="ko-KR" b="1" dirty="0"/>
              <a:t>CCTV </a:t>
            </a:r>
            <a:r>
              <a:rPr lang="ko-KR" altLang="en-US" b="1" dirty="0"/>
              <a:t>영상 </a:t>
            </a:r>
            <a:r>
              <a:rPr lang="ko-KR" altLang="en-US" b="1" dirty="0" smtClean="0"/>
              <a:t>수집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AI </a:t>
            </a:r>
            <a:r>
              <a:rPr lang="ko-KR" altLang="en-US" b="1" dirty="0"/>
              <a:t>기반 객체 탐지 및 얼굴 </a:t>
            </a:r>
            <a:r>
              <a:rPr lang="ko-KR" altLang="en-US" b="1" dirty="0" smtClean="0"/>
              <a:t>인식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실종자</a:t>
            </a:r>
            <a:r>
              <a:rPr lang="en-US" altLang="ko-KR" b="1" dirty="0"/>
              <a:t>·</a:t>
            </a:r>
            <a:r>
              <a:rPr lang="ko-KR" altLang="en-US" b="1" dirty="0"/>
              <a:t>수배자</a:t>
            </a:r>
            <a:r>
              <a:rPr lang="en-US" altLang="ko-KR" b="1" dirty="0"/>
              <a:t>·</a:t>
            </a:r>
            <a:r>
              <a:rPr lang="ko-KR" altLang="en-US" b="1" dirty="0"/>
              <a:t>관심 인물 </a:t>
            </a:r>
            <a:r>
              <a:rPr lang="ko-KR" altLang="en-US" b="1" dirty="0" smtClean="0"/>
              <a:t>식별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위치 </a:t>
            </a:r>
            <a:r>
              <a:rPr lang="ko-KR" altLang="en-US" b="1" dirty="0"/>
              <a:t>및 이동 경로 </a:t>
            </a:r>
            <a:r>
              <a:rPr lang="ko-KR" altLang="en-US" b="1" dirty="0" smtClean="0"/>
              <a:t>추적</a:t>
            </a:r>
            <a:endParaRPr lang="en-US" altLang="ko-KR" b="1" dirty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실시간 </a:t>
            </a:r>
            <a:r>
              <a:rPr lang="ko-KR" altLang="en-US" b="1" dirty="0"/>
              <a:t>관제 및 대응 </a:t>
            </a:r>
            <a:r>
              <a:rPr lang="ko-KR" altLang="en-US" b="1" dirty="0" smtClean="0"/>
              <a:t>지원</a:t>
            </a:r>
            <a:endParaRPr lang="en-US" altLang="ko-KR" b="1" dirty="0" smtClean="0"/>
          </a:p>
          <a:p>
            <a:pPr marL="285750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>
              <a:lnSpc>
                <a:spcPts val="2520"/>
              </a:lnSpc>
            </a:pP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en-US" altLang="ko-KR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b="1" dirty="0" err="1" smtClean="0"/>
              <a:t>드론과</a:t>
            </a:r>
            <a:r>
              <a:rPr lang="ko-KR" altLang="en-US" b="1" dirty="0" smtClean="0"/>
              <a:t> </a:t>
            </a:r>
            <a:r>
              <a:rPr lang="en-US" altLang="ko-KR" b="1" dirty="0"/>
              <a:t>CCTV</a:t>
            </a:r>
            <a:r>
              <a:rPr lang="ko-KR" altLang="en-US" b="1" dirty="0"/>
              <a:t>를 활용하여 실시간 영상을 수집하고</a:t>
            </a:r>
            <a:r>
              <a:rPr lang="en-US" altLang="ko-KR" b="1" dirty="0"/>
              <a:t>, AI </a:t>
            </a:r>
            <a:r>
              <a:rPr lang="ko-KR" altLang="en-US" b="1" dirty="0"/>
              <a:t>기반 객체 탐지 및 </a:t>
            </a:r>
            <a:endParaRPr lang="en-US" altLang="ko-KR" b="1" dirty="0" smtClean="0"/>
          </a:p>
          <a:p>
            <a:pPr>
              <a:lnSpc>
                <a:spcPts val="2520"/>
              </a:lnSpc>
            </a:pPr>
            <a:r>
              <a:rPr lang="en-US" altLang="ko-KR" b="1" dirty="0" smtClean="0"/>
              <a:t>      </a:t>
            </a:r>
            <a:r>
              <a:rPr lang="ko-KR" altLang="en-US" b="1" dirty="0" smtClean="0"/>
              <a:t>얼굴 </a:t>
            </a:r>
            <a:r>
              <a:rPr lang="ko-KR" altLang="en-US" b="1" dirty="0"/>
              <a:t>인식 기술을 통해 실종자</a:t>
            </a:r>
            <a:r>
              <a:rPr lang="en-US" altLang="ko-KR" b="1" dirty="0"/>
              <a:t>, </a:t>
            </a:r>
            <a:r>
              <a:rPr lang="ko-KR" altLang="en-US" b="1" dirty="0"/>
              <a:t>수배자 및 관심 인물을 식별한다</a:t>
            </a:r>
            <a:r>
              <a:rPr lang="en-US" altLang="ko-KR" b="1" dirty="0"/>
              <a:t>. </a:t>
            </a:r>
            <a:r>
              <a:rPr lang="ko-KR" altLang="en-US" b="1" dirty="0"/>
              <a:t>또한 </a:t>
            </a:r>
            <a:endParaRPr lang="en-US" altLang="ko-KR" b="1" dirty="0" smtClean="0"/>
          </a:p>
          <a:p>
            <a:pPr>
              <a:lnSpc>
                <a:spcPts val="2520"/>
              </a:lnSpc>
            </a:pPr>
            <a:r>
              <a:rPr lang="en-US" altLang="ko-KR" b="1" dirty="0" smtClean="0"/>
              <a:t>      </a:t>
            </a:r>
            <a:r>
              <a:rPr lang="ko-KR" altLang="en-US" b="1" dirty="0" smtClean="0"/>
              <a:t>대상의 위치를 </a:t>
            </a:r>
            <a:r>
              <a:rPr lang="ko-KR" altLang="en-US" b="1" dirty="0"/>
              <a:t>추적</a:t>
            </a:r>
            <a:r>
              <a:rPr lang="en-US" altLang="ko-KR" b="1" dirty="0"/>
              <a:t>·</a:t>
            </a:r>
            <a:r>
              <a:rPr lang="ko-KR" altLang="en-US" b="1" dirty="0"/>
              <a:t>기록하여 공공 안전 향상 및 신속한 대응을 </a:t>
            </a:r>
            <a:r>
              <a:rPr lang="ko-KR" altLang="en-US" b="1" dirty="0" smtClean="0"/>
              <a:t>지원하는</a:t>
            </a:r>
            <a:endParaRPr lang="en-US" altLang="ko-KR" b="1" dirty="0" smtClean="0"/>
          </a:p>
          <a:p>
            <a:pPr>
              <a:lnSpc>
                <a:spcPts val="252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</a:t>
            </a:r>
            <a:r>
              <a:rPr lang="ko-KR" altLang="en-US" b="1" dirty="0" smtClean="0"/>
              <a:t> </a:t>
            </a:r>
            <a:r>
              <a:rPr lang="ko-KR" altLang="en-US" b="1" dirty="0"/>
              <a:t>지능형 관제 시스템을 구축하는 것을 목표로 한다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30" t="20692" r="2870" b="3043"/>
          <a:stretch/>
        </p:blipFill>
        <p:spPr>
          <a:xfrm>
            <a:off x="844628" y="3521367"/>
            <a:ext cx="6617597" cy="5147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3179" y="-176131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341936" y="3507316"/>
            <a:ext cx="0" cy="608400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11945424" y="3507316"/>
            <a:ext cx="0" cy="6084000"/>
          </a:xfrm>
          <a:prstGeom prst="line">
            <a:avLst/>
          </a:prstGeom>
          <a:ln w="9525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21481" y="990600"/>
            <a:ext cx="5512719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SIMILAR SERVICE ANALYSIS : BENCHMARKING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21481" y="1253961"/>
            <a:ext cx="92465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유사 사이트 </a:t>
            </a:r>
            <a:r>
              <a:rPr lang="ko-KR" altLang="en-US" sz="5699" b="1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</a:t>
            </a:r>
            <a:r>
              <a:rPr lang="en-US" altLang="ko-KR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</a:t>
            </a: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벤치마킹</a:t>
            </a:r>
            <a:r>
              <a:rPr lang="en-US" altLang="ko-KR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)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56847" y="6819900"/>
            <a:ext cx="3566049" cy="224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연계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군 부대 외곽 침입자 감지 및 해안선 경계 시스템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endParaRPr lang="en-US" altLang="ko-KR" dirty="0" smtClean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en-US" altLang="ko-KR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시스템의 공통적인 한계로 인해 사람이 카메라를 벗어나면 추적이 어려워진다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과정에서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ID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 바뀌거나 추적이 끊길 수 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56847" y="5616974"/>
            <a:ext cx="356604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인텔리빅스</a:t>
            </a:r>
            <a:endParaRPr lang="en-US" altLang="ko-KR" sz="3600" b="1" dirty="0" smtClean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(</a:t>
            </a:r>
            <a:r>
              <a:rPr lang="en-US" altLang="ko-KR" sz="24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Intellivix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,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한국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)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360976" y="6819900"/>
            <a:ext cx="3566049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센서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CCTV,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드론을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하나의 네트워크로 묶어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용의자나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무단 침입자를 자동으로 감지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추적하는 시스템 개발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endParaRPr lang="en-US" altLang="ko-KR" dirty="0" smtClean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en-US" altLang="ko-KR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공개된 보도자료들에 따르면 일부 자율 시스템이 시험 중 오작동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 err="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추락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목표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미 명중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등의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문제를 겪었다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360976" y="5616974"/>
            <a:ext cx="356604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안두릴</a:t>
            </a:r>
            <a:r>
              <a:rPr lang="ko-KR" altLang="en-US" sz="36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 </a:t>
            </a: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인더스트리</a:t>
            </a:r>
            <a:endParaRPr lang="en-US" altLang="ko-KR" sz="3600" b="1" dirty="0" smtClean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(</a:t>
            </a:r>
            <a:r>
              <a:rPr lang="en-US" altLang="ko-KR" sz="24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Anduril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 </a:t>
            </a:r>
            <a:r>
              <a:rPr lang="en-US" altLang="ko-KR" sz="24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Indusries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,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미국</a:t>
            </a:r>
            <a:r>
              <a:rPr lang="en-US" altLang="ko-KR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)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65105" y="6819900"/>
            <a:ext cx="3566049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AI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 영상 분석 플랫폼으로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,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경찰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공항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·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도시 관제센터 등에서 활용되는 대표적인 스마트 관제 시스템</a:t>
            </a: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endParaRPr lang="en-US" altLang="ko-KR" dirty="0" smtClean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  <a:p>
            <a:pPr lvl="0" algn="ctr">
              <a:lnSpc>
                <a:spcPts val="2520"/>
              </a:lnSpc>
              <a:spcBef>
                <a:spcPct val="0"/>
              </a:spcBef>
            </a:pP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서비스 설계가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주로 고정형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환경을 </a:t>
            </a:r>
            <a:r>
              <a:rPr lang="ko-KR" altLang="en-US" dirty="0" smtClean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기반으로 하기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때문에 대상이 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CCTV </a:t>
            </a:r>
            <a:r>
              <a:rPr lang="ko-KR" altLang="en-US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사각지대로 이동할 경우 추적이 중단될 가능성이 존재한다</a:t>
            </a:r>
            <a:r>
              <a:rPr lang="en-US" altLang="ko-KR" dirty="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  <a:endParaRPr lang="en-US" sz="1800" dirty="0">
              <a:solidFill>
                <a:srgbClr val="282828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965105" y="5616974"/>
            <a:ext cx="356604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ko-KR" altLang="en-US" sz="3600" b="1" dirty="0" err="1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브리프</a:t>
            </a:r>
            <a:r>
              <a:rPr lang="ko-KR" altLang="en-US" sz="36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 캠</a:t>
            </a:r>
            <a:endParaRPr lang="en-US" altLang="ko-KR" sz="3600" b="1" dirty="0" smtClean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(Brief Cam, </a:t>
            </a:r>
            <a:r>
              <a:rPr lang="ko-KR" alt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이스라엘</a:t>
            </a:r>
            <a:r>
              <a:rPr lang="en-US" sz="2400" b="1" dirty="0" smtClean="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)</a:t>
            </a:r>
            <a:endParaRPr lang="en-US" sz="2400" b="1" dirty="0">
              <a:solidFill>
                <a:srgbClr val="2A59C5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51" y="3070708"/>
            <a:ext cx="4161283" cy="2402447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756" y="3056648"/>
            <a:ext cx="3645849" cy="2430566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806" y="2913693"/>
            <a:ext cx="3118644" cy="253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4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33400" y="3331258"/>
            <a:ext cx="17221200" cy="6536642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  <p:sp>
        <p:nvSpPr>
          <p:cNvPr id="18" name="TextBox 18"/>
          <p:cNvSpPr txBox="1"/>
          <p:nvPr/>
        </p:nvSpPr>
        <p:spPr>
          <a:xfrm>
            <a:off x="1421481" y="990600"/>
            <a:ext cx="3894213" cy="26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REQUIREMMENTS SPECIFICATION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21481" y="1253961"/>
            <a:ext cx="505551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요구사항 명세서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</p:spTree>
    <p:extLst>
      <p:ext uri="{BB962C8B-B14F-4D97-AF65-F5344CB8AC3E}">
        <p14:creationId xmlns:p14="http://schemas.microsoft.com/office/powerpoint/2010/main" val="365749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858" y="-107527"/>
            <a:ext cx="18613717" cy="2953200"/>
            <a:chOff x="0" y="0"/>
            <a:chExt cx="4902378" cy="7777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2378" cy="777797"/>
            </a:xfrm>
            <a:custGeom>
              <a:avLst/>
              <a:gdLst/>
              <a:ahLst/>
              <a:cxnLst/>
              <a:rect l="l" t="t" r="r" b="b"/>
              <a:pathLst>
                <a:path w="4902378" h="777797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32273" cy="1204431"/>
            <a:chOff x="0" y="0"/>
            <a:chExt cx="40474" cy="3685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474" cy="368545"/>
            </a:xfrm>
            <a:custGeom>
              <a:avLst/>
              <a:gdLst/>
              <a:ahLst/>
              <a:cxnLst/>
              <a:rect l="l" t="t" r="r" b="b"/>
              <a:pathLst>
                <a:path w="40474" h="368545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21481" y="1253961"/>
            <a:ext cx="3894213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ko-KR" altLang="en-US" sz="5699" b="1" dirty="0" smtClean="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기능 명세서</a:t>
            </a:r>
            <a:endParaRPr lang="en-US" sz="5699" b="1" dirty="0">
              <a:solidFill>
                <a:srgbClr val="282828"/>
              </a:solidFill>
              <a:latin typeface="프리텐다드 Bold"/>
              <a:ea typeface="프리텐다드 Bold"/>
              <a:cs typeface="프리텐다드 Bold"/>
              <a:sym typeface="프리텐다드 Bold"/>
            </a:endParaRPr>
          </a:p>
        </p:txBody>
      </p:sp>
      <p:sp>
        <p:nvSpPr>
          <p:cNvPr id="13" name="TextBox 18"/>
          <p:cNvSpPr txBox="1"/>
          <p:nvPr/>
        </p:nvSpPr>
        <p:spPr>
          <a:xfrm>
            <a:off x="1421481" y="990600"/>
            <a:ext cx="389421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 dirty="0" smtClean="0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FUNCTIONAL SPECIFICATION</a:t>
            </a:r>
            <a:endParaRPr lang="en-US" sz="1599" spc="199" dirty="0">
              <a:solidFill>
                <a:srgbClr val="2A59C5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4" name="Freeform 9"/>
          <p:cNvSpPr/>
          <p:nvPr/>
        </p:nvSpPr>
        <p:spPr>
          <a:xfrm>
            <a:off x="533400" y="3331258"/>
            <a:ext cx="17221200" cy="6536642"/>
          </a:xfrm>
          <a:custGeom>
            <a:avLst/>
            <a:gdLst/>
            <a:ahLst/>
            <a:cxnLst/>
            <a:rect l="l" t="t" r="r" b="b"/>
            <a:pathLst>
              <a:path w="2518676" h="1518007">
                <a:moveTo>
                  <a:pt x="0" y="0"/>
                </a:moveTo>
                <a:lnTo>
                  <a:pt x="2518676" y="0"/>
                </a:lnTo>
                <a:lnTo>
                  <a:pt x="2518676" y="1518007"/>
                </a:lnTo>
                <a:lnTo>
                  <a:pt x="0" y="1518007"/>
                </a:lnTo>
                <a:close/>
              </a:path>
            </a:pathLst>
          </a:custGeom>
          <a:ln w="9525" cap="sq">
            <a:solidFill>
              <a:srgbClr val="737373"/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79439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464</Words>
  <Application>Microsoft Office PowerPoint</Application>
  <PresentationFormat>사용자 지정</PresentationFormat>
  <Paragraphs>114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Arial</vt:lpstr>
      <vt:lpstr>프리텐다드 Medium</vt:lpstr>
      <vt:lpstr>Calibri</vt:lpstr>
      <vt:lpstr>프리텐다드 Semi-Bold</vt:lpstr>
      <vt:lpstr>프리텐다드 Bold</vt:lpstr>
      <vt:lpstr>프리텐다드</vt:lpstr>
      <vt:lpstr>맑은 고딕</vt:lpstr>
      <vt:lpstr>프리텐다드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회색 깔끔한 비즈니스 제안서 프레젠테이션</dc:title>
  <cp:lastModifiedBy>DW</cp:lastModifiedBy>
  <cp:revision>24</cp:revision>
  <dcterms:created xsi:type="dcterms:W3CDTF">2006-08-16T00:00:00Z</dcterms:created>
  <dcterms:modified xsi:type="dcterms:W3CDTF">2026-06-25T06:51:38Z</dcterms:modified>
  <dc:identifier>DAHNfhaR16o</dc:identifier>
</cp:coreProperties>
</file>