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79" r:id="rId3"/>
    <p:sldId id="272" r:id="rId4"/>
    <p:sldId id="273" r:id="rId5"/>
    <p:sldId id="274" r:id="rId6"/>
    <p:sldId id="282" r:id="rId7"/>
    <p:sldId id="281" r:id="rId8"/>
    <p:sldId id="280" r:id="rId9"/>
    <p:sldId id="278" r:id="rId10"/>
    <p:sldId id="271" r:id="rId11"/>
  </p:sldIdLst>
  <p:sldSz cx="24384000" cy="13716000"/>
  <p:notesSz cx="6858000" cy="9144000"/>
  <p:embeddedFontLst>
    <p:embeddedFont>
      <p:font typeface="나눔스퀘어OTF Bold" panose="020B0600000101010101" pitchFamily="34" charset="-127"/>
      <p:bold r:id="rId13"/>
    </p:embeddedFont>
    <p:embeddedFont>
      <p:font typeface="프리텐다드 Semi-Bold" panose="020B0600000101010101" charset="-127"/>
      <p:regular r:id="rId14"/>
    </p:embeddedFont>
    <p:embeddedFont>
      <p:font typeface="프리텐다드 Medium" panose="020B0600000101010101" charset="-127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프리텐다드" panose="020B0600000101010101" charset="-127"/>
      <p:regular r:id="rId20"/>
    </p:embeddedFont>
    <p:embeddedFont>
      <p:font typeface="프리텐다드 Bold" panose="020B0600000101010101" charset="-127"/>
      <p:regular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320" userDrawn="1">
          <p15:clr>
            <a:srgbClr val="A4A3A4"/>
          </p15:clr>
        </p15:guide>
        <p15:guide id="4" pos="7680" userDrawn="1">
          <p15:clr>
            <a:srgbClr val="A4A3A4"/>
          </p15:clr>
        </p15:guide>
        <p15:guide id="5" orient="horz" pos="44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779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9" autoAdjust="0"/>
    <p:restoredTop sz="96391" autoAdjust="0"/>
  </p:normalViewPr>
  <p:slideViewPr>
    <p:cSldViewPr>
      <p:cViewPr varScale="1">
        <p:scale>
          <a:sx n="32" d="100"/>
          <a:sy n="32" d="100"/>
        </p:scale>
        <p:origin x="84" y="1230"/>
      </p:cViewPr>
      <p:guideLst>
        <p:guide orient="horz" pos="2160"/>
        <p:guide pos="2880"/>
        <p:guide orient="horz" pos="4320"/>
        <p:guide pos="7680"/>
        <p:guide orient="horz" pos="44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1AE1F-E3CB-4B2F-8B4C-4A2C8BCE894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5A6C-6865-47E1-B7E4-83E7EFBCA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129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67905C-BD78-4F3B-A84C-1C5523D3271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987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38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15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524000" y="8597900"/>
            <a:ext cx="13195300" cy="38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43000" y="3422650"/>
            <a:ext cx="16687800" cy="4229100"/>
          </a:xfrm>
          <a:prstGeom prst="rect">
            <a:avLst/>
          </a:prstGeom>
        </p:spPr>
        <p:txBody>
          <a:bodyPr lIns="0" tIns="253999" rIns="0" bIns="0" rtlCol="0" anchor="t"/>
          <a:lstStyle/>
          <a:p>
            <a:pPr>
              <a:lnSpc>
                <a:spcPts val="12979"/>
              </a:lnSpc>
              <a:spcBef>
                <a:spcPct val="0"/>
              </a:spcBef>
            </a:pPr>
            <a:r>
              <a:rPr lang="ko-KR" altLang="en-US" sz="14000" b="1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지능형 관제 시스템</a:t>
            </a:r>
            <a:endParaRPr lang="en-US" altLang="ko-KR" sz="14000" b="1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540850" y="9392557"/>
            <a:ext cx="11779114" cy="3109978"/>
            <a:chOff x="2013086" y="9336022"/>
            <a:chExt cx="4990299" cy="1389128"/>
          </a:xfrm>
        </p:grpSpPr>
        <p:sp>
          <p:nvSpPr>
            <p:cNvPr id="27" name="AutoShape 8"/>
            <p:cNvSpPr/>
            <p:nvPr/>
          </p:nvSpPr>
          <p:spPr>
            <a:xfrm>
              <a:off x="2013086" y="9374122"/>
              <a:ext cx="0" cy="1351028"/>
            </a:xfrm>
            <a:prstGeom prst="line">
              <a:avLst/>
            </a:prstGeom>
            <a:ln w="9525" cap="flat">
              <a:solidFill>
                <a:srgbClr val="F6F6F6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TextBox 9"/>
            <p:cNvSpPr txBox="1"/>
            <p:nvPr/>
          </p:nvSpPr>
          <p:spPr>
            <a:xfrm>
              <a:off x="3505200" y="10418445"/>
              <a:ext cx="2037685" cy="143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</a:pPr>
              <a:r>
                <a:rPr lang="en-US" sz="3600" spc="131" dirty="0" smtClean="0">
                  <a:solidFill>
                    <a:srgbClr val="F6F6F6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"/>
                  <a:sym typeface="프리텐다드"/>
                </a:rPr>
                <a:t>010-1234-5678</a:t>
              </a:r>
              <a:endParaRPr lang="en-US" sz="3600" spc="131" dirty="0">
                <a:solidFill>
                  <a:srgbClr val="F6F6F6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endParaRPr>
            </a:p>
          </p:txBody>
        </p:sp>
        <p:sp>
          <p:nvSpPr>
            <p:cNvPr id="29" name="TextBox 10"/>
            <p:cNvSpPr txBox="1"/>
            <p:nvPr/>
          </p:nvSpPr>
          <p:spPr>
            <a:xfrm>
              <a:off x="3505200" y="9336022"/>
              <a:ext cx="3163771" cy="164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</a:pPr>
              <a:r>
                <a:rPr lang="en-US" sz="3600" spc="131" dirty="0">
                  <a:solidFill>
                    <a:srgbClr val="F6F6F6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"/>
                  <a:sym typeface="프리텐다드"/>
                </a:rPr>
                <a:t>http://</a:t>
              </a:r>
              <a:r>
                <a:rPr lang="en-US" sz="3600" spc="131" dirty="0" smtClean="0">
                  <a:solidFill>
                    <a:srgbClr val="F6F6F6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"/>
                  <a:sym typeface="프리텐다드"/>
                </a:rPr>
                <a:t>127.0.0.1:5000</a:t>
              </a:r>
              <a:endParaRPr lang="en-US" sz="3600" spc="131" dirty="0">
                <a:solidFill>
                  <a:srgbClr val="F6F6F6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endParaRPr>
            </a:p>
          </p:txBody>
        </p:sp>
        <p:sp>
          <p:nvSpPr>
            <p:cNvPr id="30" name="TextBox 11"/>
            <p:cNvSpPr txBox="1"/>
            <p:nvPr/>
          </p:nvSpPr>
          <p:spPr>
            <a:xfrm>
              <a:off x="2462348" y="9336022"/>
              <a:ext cx="1042852" cy="143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</a:pPr>
              <a:r>
                <a:rPr lang="en-US" sz="3600" spc="131">
                  <a:solidFill>
                    <a:srgbClr val="F6F6F6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"/>
                  <a:sym typeface="프리텐다드"/>
                </a:rPr>
                <a:t>홈페이지</a:t>
              </a:r>
            </a:p>
          </p:txBody>
        </p:sp>
        <p:sp>
          <p:nvSpPr>
            <p:cNvPr id="31" name="TextBox 12"/>
            <p:cNvSpPr txBox="1"/>
            <p:nvPr/>
          </p:nvSpPr>
          <p:spPr>
            <a:xfrm>
              <a:off x="2462348" y="9871969"/>
              <a:ext cx="1042852" cy="143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</a:pPr>
              <a:r>
                <a:rPr lang="en-US" sz="3600" spc="131">
                  <a:solidFill>
                    <a:srgbClr val="F6F6F6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"/>
                  <a:sym typeface="프리텐다드"/>
                </a:rPr>
                <a:t>이메일</a:t>
              </a:r>
            </a:p>
          </p:txBody>
        </p:sp>
        <p:sp>
          <p:nvSpPr>
            <p:cNvPr id="32" name="TextBox 13"/>
            <p:cNvSpPr txBox="1"/>
            <p:nvPr/>
          </p:nvSpPr>
          <p:spPr>
            <a:xfrm>
              <a:off x="2462348" y="10418445"/>
              <a:ext cx="1042852" cy="143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</a:pPr>
              <a:r>
                <a:rPr lang="en-US" sz="3600" spc="131">
                  <a:solidFill>
                    <a:srgbClr val="F6F6F6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"/>
                  <a:sym typeface="프리텐다드"/>
                </a:rPr>
                <a:t>연락처</a:t>
              </a:r>
            </a:p>
          </p:txBody>
        </p:sp>
        <p:sp>
          <p:nvSpPr>
            <p:cNvPr id="33" name="TextBox 14"/>
            <p:cNvSpPr txBox="1"/>
            <p:nvPr/>
          </p:nvSpPr>
          <p:spPr>
            <a:xfrm>
              <a:off x="3505200" y="9871969"/>
              <a:ext cx="3498185" cy="143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</a:pPr>
              <a:r>
                <a:rPr lang="en-US" sz="3600" spc="131" dirty="0" smtClean="0">
                  <a:solidFill>
                    <a:srgbClr val="F6F6F6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"/>
                  <a:sym typeface="프리텐다드"/>
                </a:rPr>
                <a:t>jungho@gmail.com</a:t>
              </a:r>
              <a:endParaRPr lang="en-US" sz="3600" spc="131" dirty="0">
                <a:solidFill>
                  <a:srgbClr val="F6F6F6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D2EA4FE-0ECC-AFF4-05A5-A5B7D9129831}"/>
              </a:ext>
            </a:extLst>
          </p:cNvPr>
          <p:cNvGrpSpPr/>
          <p:nvPr/>
        </p:nvGrpSpPr>
        <p:grpSpPr>
          <a:xfrm rot="19743449">
            <a:off x="18662970" y="-1054304"/>
            <a:ext cx="940581" cy="3517929"/>
            <a:chOff x="8200704" y="512779"/>
            <a:chExt cx="504825" cy="1489048"/>
          </a:xfrm>
        </p:grpSpPr>
        <p:sp>
          <p:nvSpPr>
            <p:cNvPr id="71" name="사각형: 둥근 위쪽 모서리 37">
              <a:extLst>
                <a:ext uri="{FF2B5EF4-FFF2-40B4-BE49-F238E27FC236}">
                  <a16:creationId xmlns:a16="http://schemas.microsoft.com/office/drawing/2014/main" id="{84B20E59-C21A-E9C6-17A0-10E048A87C4A}"/>
                </a:ext>
              </a:extLst>
            </p:cNvPr>
            <p:cNvSpPr/>
            <p:nvPr/>
          </p:nvSpPr>
          <p:spPr>
            <a:xfrm>
              <a:off x="8200704" y="512779"/>
              <a:ext cx="504825" cy="1489048"/>
            </a:xfrm>
            <a:prstGeom prst="round2SameRect">
              <a:avLst>
                <a:gd name="adj1" fmla="val 0"/>
                <a:gd name="adj2" fmla="val 8491"/>
              </a:avLst>
            </a:prstGeom>
            <a:gradFill flip="none" rotWithShape="1">
              <a:gsLst>
                <a:gs pos="9000">
                  <a:schemeClr val="tx2">
                    <a:shade val="30000"/>
                    <a:satMod val="115000"/>
                  </a:schemeClr>
                </a:gs>
                <a:gs pos="19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72" name="사각형: 둥근 위쪽 모서리 38">
              <a:extLst>
                <a:ext uri="{FF2B5EF4-FFF2-40B4-BE49-F238E27FC236}">
                  <a16:creationId xmlns:a16="http://schemas.microsoft.com/office/drawing/2014/main" id="{EFA86D6B-9126-EDCB-595D-647D277D2FA1}"/>
                </a:ext>
              </a:extLst>
            </p:cNvPr>
            <p:cNvSpPr/>
            <p:nvPr/>
          </p:nvSpPr>
          <p:spPr>
            <a:xfrm>
              <a:off x="8200704" y="512779"/>
              <a:ext cx="504825" cy="1489048"/>
            </a:xfrm>
            <a:prstGeom prst="round2SameRect">
              <a:avLst>
                <a:gd name="adj1" fmla="val 0"/>
                <a:gd name="adj2" fmla="val 9434"/>
              </a:avLst>
            </a:prstGeom>
            <a:blipFill dpi="0" rotWithShape="1">
              <a:blip r:embed="rId3">
                <a:alphaModFix amt="34000"/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</p:grpSp>
      <p:sp>
        <p:nvSpPr>
          <p:cNvPr id="56" name="자유형: 도형 17">
            <a:extLst>
              <a:ext uri="{FF2B5EF4-FFF2-40B4-BE49-F238E27FC236}">
                <a16:creationId xmlns:a16="http://schemas.microsoft.com/office/drawing/2014/main" id="{C2E45793-35A7-4E3B-D1FE-A1E408F325CA}"/>
              </a:ext>
            </a:extLst>
          </p:cNvPr>
          <p:cNvSpPr/>
          <p:nvPr/>
        </p:nvSpPr>
        <p:spPr>
          <a:xfrm rot="900000">
            <a:off x="16477157" y="3435685"/>
            <a:ext cx="5347706" cy="7447700"/>
          </a:xfrm>
          <a:custGeom>
            <a:avLst/>
            <a:gdLst>
              <a:gd name="connsiteX0" fmla="*/ 1435100 w 2870200"/>
              <a:gd name="connsiteY0" fmla="*/ 150373 h 3997300"/>
              <a:gd name="connsiteX1" fmla="*/ 1364585 w 2870200"/>
              <a:gd name="connsiteY1" fmla="*/ 220888 h 3997300"/>
              <a:gd name="connsiteX2" fmla="*/ 1435100 w 2870200"/>
              <a:gd name="connsiteY2" fmla="*/ 291403 h 3997300"/>
              <a:gd name="connsiteX3" fmla="*/ 1505615 w 2870200"/>
              <a:gd name="connsiteY3" fmla="*/ 220888 h 3997300"/>
              <a:gd name="connsiteX4" fmla="*/ 1435100 w 2870200"/>
              <a:gd name="connsiteY4" fmla="*/ 150373 h 3997300"/>
              <a:gd name="connsiteX5" fmla="*/ 148188 w 2870200"/>
              <a:gd name="connsiteY5" fmla="*/ 0 h 3997300"/>
              <a:gd name="connsiteX6" fmla="*/ 2722012 w 2870200"/>
              <a:gd name="connsiteY6" fmla="*/ 0 h 3997300"/>
              <a:gd name="connsiteX7" fmla="*/ 2870200 w 2870200"/>
              <a:gd name="connsiteY7" fmla="*/ 148188 h 3997300"/>
              <a:gd name="connsiteX8" fmla="*/ 2870200 w 2870200"/>
              <a:gd name="connsiteY8" fmla="*/ 3849112 h 3997300"/>
              <a:gd name="connsiteX9" fmla="*/ 2722012 w 2870200"/>
              <a:gd name="connsiteY9" fmla="*/ 3997300 h 3997300"/>
              <a:gd name="connsiteX10" fmla="*/ 148188 w 2870200"/>
              <a:gd name="connsiteY10" fmla="*/ 3997300 h 3997300"/>
              <a:gd name="connsiteX11" fmla="*/ 0 w 2870200"/>
              <a:gd name="connsiteY11" fmla="*/ 3849112 h 3997300"/>
              <a:gd name="connsiteX12" fmla="*/ 0 w 2870200"/>
              <a:gd name="connsiteY12" fmla="*/ 148188 h 3997300"/>
              <a:gd name="connsiteX13" fmla="*/ 148188 w 2870200"/>
              <a:gd name="connsiteY13" fmla="*/ 0 h 399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70200" h="3997300">
                <a:moveTo>
                  <a:pt x="1435100" y="150373"/>
                </a:moveTo>
                <a:cubicBezTo>
                  <a:pt x="1396156" y="150373"/>
                  <a:pt x="1364585" y="181944"/>
                  <a:pt x="1364585" y="220888"/>
                </a:cubicBezTo>
                <a:cubicBezTo>
                  <a:pt x="1364585" y="259832"/>
                  <a:pt x="1396156" y="291403"/>
                  <a:pt x="1435100" y="291403"/>
                </a:cubicBezTo>
                <a:cubicBezTo>
                  <a:pt x="1474044" y="291403"/>
                  <a:pt x="1505615" y="259832"/>
                  <a:pt x="1505615" y="220888"/>
                </a:cubicBezTo>
                <a:cubicBezTo>
                  <a:pt x="1505615" y="181944"/>
                  <a:pt x="1474044" y="150373"/>
                  <a:pt x="1435100" y="150373"/>
                </a:cubicBezTo>
                <a:close/>
                <a:moveTo>
                  <a:pt x="148188" y="0"/>
                </a:moveTo>
                <a:lnTo>
                  <a:pt x="2722012" y="0"/>
                </a:lnTo>
                <a:cubicBezTo>
                  <a:pt x="2803854" y="0"/>
                  <a:pt x="2870200" y="66346"/>
                  <a:pt x="2870200" y="148188"/>
                </a:cubicBezTo>
                <a:lnTo>
                  <a:pt x="2870200" y="3849112"/>
                </a:lnTo>
                <a:cubicBezTo>
                  <a:pt x="2870200" y="3930954"/>
                  <a:pt x="2803854" y="3997300"/>
                  <a:pt x="2722012" y="3997300"/>
                </a:cubicBezTo>
                <a:lnTo>
                  <a:pt x="148188" y="3997300"/>
                </a:lnTo>
                <a:cubicBezTo>
                  <a:pt x="66346" y="3997300"/>
                  <a:pt x="0" y="3930954"/>
                  <a:pt x="0" y="3849112"/>
                </a:cubicBezTo>
                <a:lnTo>
                  <a:pt x="0" y="148188"/>
                </a:lnTo>
                <a:cubicBezTo>
                  <a:pt x="0" y="66346"/>
                  <a:pt x="66346" y="0"/>
                  <a:pt x="148188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57" name="자유형: 도형 6">
            <a:extLst>
              <a:ext uri="{FF2B5EF4-FFF2-40B4-BE49-F238E27FC236}">
                <a16:creationId xmlns:a16="http://schemas.microsoft.com/office/drawing/2014/main" id="{93114CD3-CEA9-4DD6-C854-EBBCE1387B4F}"/>
              </a:ext>
            </a:extLst>
          </p:cNvPr>
          <p:cNvSpPr/>
          <p:nvPr/>
        </p:nvSpPr>
        <p:spPr>
          <a:xfrm>
            <a:off x="17358726" y="3617788"/>
            <a:ext cx="5347706" cy="7447700"/>
          </a:xfrm>
          <a:custGeom>
            <a:avLst/>
            <a:gdLst>
              <a:gd name="connsiteX0" fmla="*/ 1435100 w 2870200"/>
              <a:gd name="connsiteY0" fmla="*/ 150373 h 3997300"/>
              <a:gd name="connsiteX1" fmla="*/ 1364585 w 2870200"/>
              <a:gd name="connsiteY1" fmla="*/ 220888 h 3997300"/>
              <a:gd name="connsiteX2" fmla="*/ 1435100 w 2870200"/>
              <a:gd name="connsiteY2" fmla="*/ 291403 h 3997300"/>
              <a:gd name="connsiteX3" fmla="*/ 1505615 w 2870200"/>
              <a:gd name="connsiteY3" fmla="*/ 220888 h 3997300"/>
              <a:gd name="connsiteX4" fmla="*/ 1435100 w 2870200"/>
              <a:gd name="connsiteY4" fmla="*/ 150373 h 3997300"/>
              <a:gd name="connsiteX5" fmla="*/ 148188 w 2870200"/>
              <a:gd name="connsiteY5" fmla="*/ 0 h 3997300"/>
              <a:gd name="connsiteX6" fmla="*/ 2722012 w 2870200"/>
              <a:gd name="connsiteY6" fmla="*/ 0 h 3997300"/>
              <a:gd name="connsiteX7" fmla="*/ 2870200 w 2870200"/>
              <a:gd name="connsiteY7" fmla="*/ 148188 h 3997300"/>
              <a:gd name="connsiteX8" fmla="*/ 2870200 w 2870200"/>
              <a:gd name="connsiteY8" fmla="*/ 3849112 h 3997300"/>
              <a:gd name="connsiteX9" fmla="*/ 2722012 w 2870200"/>
              <a:gd name="connsiteY9" fmla="*/ 3997300 h 3997300"/>
              <a:gd name="connsiteX10" fmla="*/ 148188 w 2870200"/>
              <a:gd name="connsiteY10" fmla="*/ 3997300 h 3997300"/>
              <a:gd name="connsiteX11" fmla="*/ 0 w 2870200"/>
              <a:gd name="connsiteY11" fmla="*/ 3849112 h 3997300"/>
              <a:gd name="connsiteX12" fmla="*/ 0 w 2870200"/>
              <a:gd name="connsiteY12" fmla="*/ 148188 h 3997300"/>
              <a:gd name="connsiteX13" fmla="*/ 148188 w 2870200"/>
              <a:gd name="connsiteY13" fmla="*/ 0 h 399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70200" h="3997300">
                <a:moveTo>
                  <a:pt x="1435100" y="150373"/>
                </a:moveTo>
                <a:cubicBezTo>
                  <a:pt x="1396156" y="150373"/>
                  <a:pt x="1364585" y="181944"/>
                  <a:pt x="1364585" y="220888"/>
                </a:cubicBezTo>
                <a:cubicBezTo>
                  <a:pt x="1364585" y="259832"/>
                  <a:pt x="1396156" y="291403"/>
                  <a:pt x="1435100" y="291403"/>
                </a:cubicBezTo>
                <a:cubicBezTo>
                  <a:pt x="1474044" y="291403"/>
                  <a:pt x="1505615" y="259832"/>
                  <a:pt x="1505615" y="220888"/>
                </a:cubicBezTo>
                <a:cubicBezTo>
                  <a:pt x="1505615" y="181944"/>
                  <a:pt x="1474044" y="150373"/>
                  <a:pt x="1435100" y="150373"/>
                </a:cubicBezTo>
                <a:close/>
                <a:moveTo>
                  <a:pt x="148188" y="0"/>
                </a:moveTo>
                <a:lnTo>
                  <a:pt x="2722012" y="0"/>
                </a:lnTo>
                <a:cubicBezTo>
                  <a:pt x="2803854" y="0"/>
                  <a:pt x="2870200" y="66346"/>
                  <a:pt x="2870200" y="148188"/>
                </a:cubicBezTo>
                <a:lnTo>
                  <a:pt x="2870200" y="3849112"/>
                </a:lnTo>
                <a:cubicBezTo>
                  <a:pt x="2870200" y="3930954"/>
                  <a:pt x="2803854" y="3997300"/>
                  <a:pt x="2722012" y="3997300"/>
                </a:cubicBezTo>
                <a:lnTo>
                  <a:pt x="148188" y="3997300"/>
                </a:lnTo>
                <a:cubicBezTo>
                  <a:pt x="66346" y="3997300"/>
                  <a:pt x="0" y="3930954"/>
                  <a:pt x="0" y="3849112"/>
                </a:cubicBezTo>
                <a:lnTo>
                  <a:pt x="0" y="148188"/>
                </a:lnTo>
                <a:cubicBezTo>
                  <a:pt x="0" y="66346"/>
                  <a:pt x="66346" y="0"/>
                  <a:pt x="148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58" name="사각형: 둥근 모서리 2">
            <a:extLst>
              <a:ext uri="{FF2B5EF4-FFF2-40B4-BE49-F238E27FC236}">
                <a16:creationId xmlns:a16="http://schemas.microsoft.com/office/drawing/2014/main" id="{EBCCF110-A769-3BE1-6F22-C5EDA307C2D2}"/>
              </a:ext>
            </a:extLst>
          </p:cNvPr>
          <p:cNvSpPr/>
          <p:nvPr/>
        </p:nvSpPr>
        <p:spPr>
          <a:xfrm>
            <a:off x="19455806" y="2249387"/>
            <a:ext cx="1082554" cy="538318"/>
          </a:xfrm>
          <a:prstGeom prst="roundRect">
            <a:avLst>
              <a:gd name="adj" fmla="val 50000"/>
            </a:avLst>
          </a:prstGeom>
          <a:noFill/>
          <a:ln w="4127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harsh" dir="t">
              <a:rot lat="0" lon="0" rev="2400000"/>
            </a:lightRig>
          </a:scene3d>
          <a:sp3d prstMaterial="dkEdge">
            <a:bevelT w="50800" h="12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59" name="자유형: 도형 1">
            <a:extLst>
              <a:ext uri="{FF2B5EF4-FFF2-40B4-BE49-F238E27FC236}">
                <a16:creationId xmlns:a16="http://schemas.microsoft.com/office/drawing/2014/main" id="{7F829F8C-F4DD-2A90-405E-AC2CF0D23B1B}"/>
              </a:ext>
            </a:extLst>
          </p:cNvPr>
          <p:cNvSpPr/>
          <p:nvPr/>
        </p:nvSpPr>
        <p:spPr>
          <a:xfrm>
            <a:off x="19819617" y="2913831"/>
            <a:ext cx="425924" cy="703957"/>
          </a:xfrm>
          <a:custGeom>
            <a:avLst/>
            <a:gdLst>
              <a:gd name="connsiteX0" fmla="*/ 168275 w 228600"/>
              <a:gd name="connsiteY0" fmla="*/ 0 h 377825"/>
              <a:gd name="connsiteX1" fmla="*/ 214313 w 228600"/>
              <a:gd name="connsiteY1" fmla="*/ 196056 h 377825"/>
              <a:gd name="connsiteX2" fmla="*/ 228600 w 228600"/>
              <a:gd name="connsiteY2" fmla="*/ 374650 h 377825"/>
              <a:gd name="connsiteX3" fmla="*/ 142313 w 228600"/>
              <a:gd name="connsiteY3" fmla="*/ 375849 h 377825"/>
              <a:gd name="connsiteX4" fmla="*/ 133460 w 228600"/>
              <a:gd name="connsiteY4" fmla="*/ 325976 h 377825"/>
              <a:gd name="connsiteX5" fmla="*/ 110728 w 228600"/>
              <a:gd name="connsiteY5" fmla="*/ 304006 h 377825"/>
              <a:gd name="connsiteX6" fmla="*/ 87997 w 228600"/>
              <a:gd name="connsiteY6" fmla="*/ 325976 h 377825"/>
              <a:gd name="connsiteX7" fmla="*/ 78987 w 228600"/>
              <a:gd name="connsiteY7" fmla="*/ 376728 h 377825"/>
              <a:gd name="connsiteX8" fmla="*/ 0 w 228600"/>
              <a:gd name="connsiteY8" fmla="*/ 377825 h 377825"/>
              <a:gd name="connsiteX9" fmla="*/ 38100 w 228600"/>
              <a:gd name="connsiteY9" fmla="*/ 3175 h 377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8600" h="377825">
                <a:moveTo>
                  <a:pt x="168275" y="0"/>
                </a:moveTo>
                <a:cubicBezTo>
                  <a:pt x="188383" y="67733"/>
                  <a:pt x="196586" y="64029"/>
                  <a:pt x="214313" y="196056"/>
                </a:cubicBezTo>
                <a:cubicBezTo>
                  <a:pt x="226219" y="298450"/>
                  <a:pt x="228600" y="317500"/>
                  <a:pt x="228600" y="374650"/>
                </a:cubicBezTo>
                <a:lnTo>
                  <a:pt x="142313" y="375849"/>
                </a:lnTo>
                <a:lnTo>
                  <a:pt x="133460" y="325976"/>
                </a:lnTo>
                <a:cubicBezTo>
                  <a:pt x="127642" y="312402"/>
                  <a:pt x="119605" y="304006"/>
                  <a:pt x="110728" y="304006"/>
                </a:cubicBezTo>
                <a:cubicBezTo>
                  <a:pt x="101851" y="304006"/>
                  <a:pt x="93815" y="312402"/>
                  <a:pt x="87997" y="325976"/>
                </a:cubicBezTo>
                <a:lnTo>
                  <a:pt x="78987" y="376728"/>
                </a:lnTo>
                <a:lnTo>
                  <a:pt x="0" y="377825"/>
                </a:lnTo>
                <a:lnTo>
                  <a:pt x="38100" y="3175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scene3d>
            <a:camera prst="orthographicFront"/>
            <a:lightRig rig="harsh" dir="t">
              <a:rot lat="0" lon="0" rev="13800000"/>
            </a:lightRig>
          </a:scene3d>
          <a:sp3d prstMaterial="dkEdge">
            <a:bevelT w="196850" h="190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0" name="사각형: 둥근 위쪽 모서리 3">
            <a:extLst>
              <a:ext uri="{FF2B5EF4-FFF2-40B4-BE49-F238E27FC236}">
                <a16:creationId xmlns:a16="http://schemas.microsoft.com/office/drawing/2014/main" id="{D30AE61D-5864-50D1-B471-E749D91C5597}"/>
              </a:ext>
            </a:extLst>
          </p:cNvPr>
          <p:cNvSpPr/>
          <p:nvPr/>
        </p:nvSpPr>
        <p:spPr>
          <a:xfrm>
            <a:off x="19813701" y="2597344"/>
            <a:ext cx="366767" cy="130143"/>
          </a:xfrm>
          <a:prstGeom prst="round2SameRect">
            <a:avLst>
              <a:gd name="adj1" fmla="val 50000"/>
              <a:gd name="adj2" fmla="val 20454"/>
            </a:avLst>
          </a:prstGeom>
          <a:solidFill>
            <a:schemeClr val="bg1">
              <a:lumMod val="50000"/>
            </a:schemeClr>
          </a:solidFill>
          <a:ln>
            <a:noFill/>
          </a:ln>
          <a:scene3d>
            <a:camera prst="orthographicFront"/>
            <a:lightRig rig="harsh" dir="t">
              <a:rot lat="0" lon="0" rev="3600000"/>
            </a:lightRig>
          </a:scene3d>
          <a:sp3d prstMaterial="dkEdge">
            <a:bevelT w="508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1" name="사각형: 둥근 위쪽 모서리 4">
            <a:extLst>
              <a:ext uri="{FF2B5EF4-FFF2-40B4-BE49-F238E27FC236}">
                <a16:creationId xmlns:a16="http://schemas.microsoft.com/office/drawing/2014/main" id="{1F6615FD-3965-C3AA-89E5-82049338C36F}"/>
              </a:ext>
            </a:extLst>
          </p:cNvPr>
          <p:cNvSpPr/>
          <p:nvPr/>
        </p:nvSpPr>
        <p:spPr>
          <a:xfrm>
            <a:off x="19779093" y="2727489"/>
            <a:ext cx="435985" cy="130143"/>
          </a:xfrm>
          <a:prstGeom prst="round2SameRect">
            <a:avLst>
              <a:gd name="adj1" fmla="val 50000"/>
              <a:gd name="adj2" fmla="val 13636"/>
            </a:avLst>
          </a:prstGeom>
          <a:solidFill>
            <a:schemeClr val="bg1">
              <a:lumMod val="50000"/>
            </a:schemeClr>
          </a:solidFill>
          <a:ln>
            <a:noFill/>
          </a:ln>
          <a:scene3d>
            <a:camera prst="orthographicFront"/>
            <a:lightRig rig="harsh" dir="t">
              <a:rot lat="0" lon="0" rev="3600000"/>
            </a:lightRig>
          </a:scene3d>
          <a:sp3d prstMaterial="dkEdge">
            <a:bevelT w="508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2" name="사각형: 둥근 위쪽 모서리 5">
            <a:extLst>
              <a:ext uri="{FF2B5EF4-FFF2-40B4-BE49-F238E27FC236}">
                <a16:creationId xmlns:a16="http://schemas.microsoft.com/office/drawing/2014/main" id="{95EA945D-9714-63D0-3818-117F5EBA5C0A}"/>
              </a:ext>
            </a:extLst>
          </p:cNvPr>
          <p:cNvSpPr/>
          <p:nvPr/>
        </p:nvSpPr>
        <p:spPr>
          <a:xfrm>
            <a:off x="19813701" y="2854675"/>
            <a:ext cx="366767" cy="85779"/>
          </a:xfrm>
          <a:prstGeom prst="round2SameRect">
            <a:avLst>
              <a:gd name="adj1" fmla="val 48029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scene3d>
            <a:camera prst="orthographicFront"/>
            <a:lightRig rig="harsh" dir="t">
              <a:rot lat="0" lon="0" rev="3600000"/>
            </a:lightRig>
          </a:scene3d>
          <a:sp3d prstMaterial="dkEdge">
            <a:bevelT w="508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3" name="사각형: 둥근 위쪽 모서리 9">
            <a:extLst>
              <a:ext uri="{FF2B5EF4-FFF2-40B4-BE49-F238E27FC236}">
                <a16:creationId xmlns:a16="http://schemas.microsoft.com/office/drawing/2014/main" id="{AD7270F6-607F-F9EC-D45D-7AE3D3FB4922}"/>
              </a:ext>
            </a:extLst>
          </p:cNvPr>
          <p:cNvSpPr/>
          <p:nvPr/>
        </p:nvSpPr>
        <p:spPr>
          <a:xfrm>
            <a:off x="19526792" y="-259847"/>
            <a:ext cx="940581" cy="2774368"/>
          </a:xfrm>
          <a:prstGeom prst="round2SameRect">
            <a:avLst>
              <a:gd name="adj1" fmla="val 0"/>
              <a:gd name="adj2" fmla="val 8491"/>
            </a:avLst>
          </a:prstGeom>
          <a:gradFill flip="none" rotWithShape="1">
            <a:gsLst>
              <a:gs pos="9000">
                <a:schemeClr val="tx2">
                  <a:shade val="30000"/>
                  <a:satMod val="115000"/>
                </a:schemeClr>
              </a:gs>
              <a:gs pos="19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4" name="사각형: 둥근 위쪽 모서리 10">
            <a:extLst>
              <a:ext uri="{FF2B5EF4-FFF2-40B4-BE49-F238E27FC236}">
                <a16:creationId xmlns:a16="http://schemas.microsoft.com/office/drawing/2014/main" id="{757D07A1-6F45-1793-24C3-D4E751E408F0}"/>
              </a:ext>
            </a:extLst>
          </p:cNvPr>
          <p:cNvSpPr/>
          <p:nvPr/>
        </p:nvSpPr>
        <p:spPr>
          <a:xfrm>
            <a:off x="19526790" y="-256025"/>
            <a:ext cx="940581" cy="2774368"/>
          </a:xfrm>
          <a:prstGeom prst="round2SameRect">
            <a:avLst>
              <a:gd name="adj1" fmla="val 0"/>
              <a:gd name="adj2" fmla="val 9434"/>
            </a:avLst>
          </a:prstGeom>
          <a:blipFill dpi="0" rotWithShape="1">
            <a:blip r:embed="rId5">
              <a:alphaModFix amt="14000"/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5" name="자유형: 도형 28">
            <a:extLst>
              <a:ext uri="{FF2B5EF4-FFF2-40B4-BE49-F238E27FC236}">
                <a16:creationId xmlns:a16="http://schemas.microsoft.com/office/drawing/2014/main" id="{C36A85F2-407C-63AD-323E-7FAF48C9D28D}"/>
              </a:ext>
            </a:extLst>
          </p:cNvPr>
          <p:cNvSpPr/>
          <p:nvPr/>
        </p:nvSpPr>
        <p:spPr>
          <a:xfrm>
            <a:off x="19084511" y="3613119"/>
            <a:ext cx="3613046" cy="4717707"/>
          </a:xfrm>
          <a:custGeom>
            <a:avLst/>
            <a:gdLst>
              <a:gd name="connsiteX0" fmla="*/ 1939180 w 1939180"/>
              <a:gd name="connsiteY0" fmla="*/ 2386694 h 2532069"/>
              <a:gd name="connsiteX1" fmla="*/ 1939180 w 1939180"/>
              <a:gd name="connsiteY1" fmla="*/ 2529039 h 2532069"/>
              <a:gd name="connsiteX2" fmla="*/ 1704761 w 1939180"/>
              <a:gd name="connsiteY2" fmla="*/ 2529039 h 2532069"/>
              <a:gd name="connsiteX3" fmla="*/ 1771544 w 1939180"/>
              <a:gd name="connsiteY3" fmla="*/ 2496868 h 2532069"/>
              <a:gd name="connsiteX4" fmla="*/ 1927036 w 1939180"/>
              <a:gd name="connsiteY4" fmla="*/ 2397213 h 2532069"/>
              <a:gd name="connsiteX5" fmla="*/ 1177132 w 1939180"/>
              <a:gd name="connsiteY5" fmla="*/ 213196 h 2532069"/>
              <a:gd name="connsiteX6" fmla="*/ 1183683 w 1939180"/>
              <a:gd name="connsiteY6" fmla="*/ 213196 h 2532069"/>
              <a:gd name="connsiteX7" fmla="*/ 1183683 w 1939180"/>
              <a:gd name="connsiteY7" fmla="*/ 214276 h 2532069"/>
              <a:gd name="connsiteX8" fmla="*/ 1280896 w 1939180"/>
              <a:gd name="connsiteY8" fmla="*/ 219184 h 2532069"/>
              <a:gd name="connsiteX9" fmla="*/ 1867357 w 1939180"/>
              <a:gd name="connsiteY9" fmla="*/ 452024 h 2532069"/>
              <a:gd name="connsiteX10" fmla="*/ 1939180 w 1939180"/>
              <a:gd name="connsiteY10" fmla="*/ 518083 h 2532069"/>
              <a:gd name="connsiteX11" fmla="*/ 1939180 w 1939180"/>
              <a:gd name="connsiteY11" fmla="*/ 2227929 h 2532069"/>
              <a:gd name="connsiteX12" fmla="*/ 1867357 w 1939180"/>
              <a:gd name="connsiteY12" fmla="*/ 2293989 h 2532069"/>
              <a:gd name="connsiteX13" fmla="*/ 1280896 w 1939180"/>
              <a:gd name="connsiteY13" fmla="*/ 2526828 h 2532069"/>
              <a:gd name="connsiteX14" fmla="*/ 1177132 w 1939180"/>
              <a:gd name="connsiteY14" fmla="*/ 2532069 h 2532069"/>
              <a:gd name="connsiteX15" fmla="*/ 1177132 w 1939180"/>
              <a:gd name="connsiteY15" fmla="*/ 1963353 h 2532069"/>
              <a:gd name="connsiteX16" fmla="*/ 1281589 w 1939180"/>
              <a:gd name="connsiteY16" fmla="*/ 1952822 h 2532069"/>
              <a:gd name="connsiteX17" fmla="*/ 1754153 w 1939180"/>
              <a:gd name="connsiteY17" fmla="*/ 1373005 h 2532069"/>
              <a:gd name="connsiteX18" fmla="*/ 1281589 w 1939180"/>
              <a:gd name="connsiteY18" fmla="*/ 793187 h 2532069"/>
              <a:gd name="connsiteX19" fmla="*/ 1177132 w 1939180"/>
              <a:gd name="connsiteY19" fmla="*/ 782658 h 2532069"/>
              <a:gd name="connsiteX20" fmla="*/ 0 w 1939180"/>
              <a:gd name="connsiteY20" fmla="*/ 0 h 2532069"/>
              <a:gd name="connsiteX21" fmla="*/ 565687 w 1939180"/>
              <a:gd name="connsiteY21" fmla="*/ 0 h 2532069"/>
              <a:gd name="connsiteX22" fmla="*/ 570471 w 1939180"/>
              <a:gd name="connsiteY22" fmla="*/ 47456 h 2532069"/>
              <a:gd name="connsiteX23" fmla="*/ 570471 w 1939180"/>
              <a:gd name="connsiteY23" fmla="*/ 200462 h 2532069"/>
              <a:gd name="connsiteX24" fmla="*/ 569054 w 1939180"/>
              <a:gd name="connsiteY24" fmla="*/ 193441 h 2532069"/>
              <a:gd name="connsiteX25" fmla="*/ 504080 w 1939180"/>
              <a:gd name="connsiteY25" fmla="*/ 150373 h 2532069"/>
              <a:gd name="connsiteX26" fmla="*/ 433565 w 1939180"/>
              <a:gd name="connsiteY26" fmla="*/ 220888 h 2532069"/>
              <a:gd name="connsiteX27" fmla="*/ 504080 w 1939180"/>
              <a:gd name="connsiteY27" fmla="*/ 291403 h 2532069"/>
              <a:gd name="connsiteX28" fmla="*/ 574595 w 1939180"/>
              <a:gd name="connsiteY28" fmla="*/ 220888 h 2532069"/>
              <a:gd name="connsiteX29" fmla="*/ 573042 w 1939180"/>
              <a:gd name="connsiteY29" fmla="*/ 213194 h 2532069"/>
              <a:gd name="connsiteX30" fmla="*/ 1082570 w 1939180"/>
              <a:gd name="connsiteY30" fmla="*/ 213194 h 2532069"/>
              <a:gd name="connsiteX31" fmla="*/ 1082570 w 1939180"/>
              <a:gd name="connsiteY31" fmla="*/ 781162 h 2532069"/>
              <a:gd name="connsiteX32" fmla="*/ 570471 w 1939180"/>
              <a:gd name="connsiteY32" fmla="*/ 781162 h 2532069"/>
              <a:gd name="connsiteX33" fmla="*/ 570471 w 1939180"/>
              <a:gd name="connsiteY33" fmla="*/ 1373003 h 2532069"/>
              <a:gd name="connsiteX34" fmla="*/ 1043036 w 1939180"/>
              <a:gd name="connsiteY34" fmla="*/ 1952821 h 2532069"/>
              <a:gd name="connsiteX35" fmla="*/ 1082570 w 1939180"/>
              <a:gd name="connsiteY35" fmla="*/ 1956807 h 2532069"/>
              <a:gd name="connsiteX36" fmla="*/ 1082570 w 1939180"/>
              <a:gd name="connsiteY36" fmla="*/ 2529040 h 2532069"/>
              <a:gd name="connsiteX37" fmla="*/ 1051047 w 1939180"/>
              <a:gd name="connsiteY37" fmla="*/ 2527546 h 2532069"/>
              <a:gd name="connsiteX38" fmla="*/ 8493 w 1939180"/>
              <a:gd name="connsiteY38" fmla="*/ 1491588 h 2532069"/>
              <a:gd name="connsiteX39" fmla="*/ 3378 w 1939180"/>
              <a:gd name="connsiteY39" fmla="*/ 1390303 h 2532069"/>
              <a:gd name="connsiteX40" fmla="*/ 0 w 1939180"/>
              <a:gd name="connsiteY40" fmla="*/ 1390303 h 253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939180" h="2532069">
                <a:moveTo>
                  <a:pt x="1939180" y="2386694"/>
                </a:moveTo>
                <a:lnTo>
                  <a:pt x="1939180" y="2529039"/>
                </a:lnTo>
                <a:lnTo>
                  <a:pt x="1704761" y="2529039"/>
                </a:lnTo>
                <a:lnTo>
                  <a:pt x="1771544" y="2496868"/>
                </a:lnTo>
                <a:cubicBezTo>
                  <a:pt x="1825874" y="2467354"/>
                  <a:pt x="1877825" y="2434015"/>
                  <a:pt x="1927036" y="2397213"/>
                </a:cubicBezTo>
                <a:close/>
                <a:moveTo>
                  <a:pt x="1177132" y="213196"/>
                </a:moveTo>
                <a:lnTo>
                  <a:pt x="1183683" y="213196"/>
                </a:lnTo>
                <a:lnTo>
                  <a:pt x="1183683" y="214276"/>
                </a:lnTo>
                <a:lnTo>
                  <a:pt x="1280896" y="219184"/>
                </a:lnTo>
                <a:cubicBezTo>
                  <a:pt x="1500211" y="241457"/>
                  <a:pt x="1701463" y="324835"/>
                  <a:pt x="1867357" y="452024"/>
                </a:cubicBezTo>
                <a:lnTo>
                  <a:pt x="1939180" y="518083"/>
                </a:lnTo>
                <a:lnTo>
                  <a:pt x="1939180" y="2227929"/>
                </a:lnTo>
                <a:lnTo>
                  <a:pt x="1867357" y="2293989"/>
                </a:lnTo>
                <a:cubicBezTo>
                  <a:pt x="1701463" y="2421178"/>
                  <a:pt x="1500211" y="2504556"/>
                  <a:pt x="1280896" y="2526828"/>
                </a:cubicBezTo>
                <a:lnTo>
                  <a:pt x="1177132" y="2532069"/>
                </a:lnTo>
                <a:lnTo>
                  <a:pt x="1177132" y="1963353"/>
                </a:lnTo>
                <a:lnTo>
                  <a:pt x="1281589" y="1952822"/>
                </a:lnTo>
                <a:cubicBezTo>
                  <a:pt x="1551281" y="1897635"/>
                  <a:pt x="1754153" y="1659013"/>
                  <a:pt x="1754153" y="1373005"/>
                </a:cubicBezTo>
                <a:cubicBezTo>
                  <a:pt x="1754153" y="1086998"/>
                  <a:pt x="1551281" y="848375"/>
                  <a:pt x="1281589" y="793187"/>
                </a:cubicBezTo>
                <a:lnTo>
                  <a:pt x="1177132" y="782658"/>
                </a:lnTo>
                <a:close/>
                <a:moveTo>
                  <a:pt x="0" y="0"/>
                </a:moveTo>
                <a:lnTo>
                  <a:pt x="565687" y="0"/>
                </a:lnTo>
                <a:lnTo>
                  <a:pt x="570471" y="47456"/>
                </a:lnTo>
                <a:lnTo>
                  <a:pt x="570471" y="200462"/>
                </a:lnTo>
                <a:lnTo>
                  <a:pt x="569054" y="193441"/>
                </a:lnTo>
                <a:cubicBezTo>
                  <a:pt x="558349" y="168132"/>
                  <a:pt x="533288" y="150373"/>
                  <a:pt x="504080" y="150373"/>
                </a:cubicBezTo>
                <a:cubicBezTo>
                  <a:pt x="465136" y="150373"/>
                  <a:pt x="433565" y="181944"/>
                  <a:pt x="433565" y="220888"/>
                </a:cubicBezTo>
                <a:cubicBezTo>
                  <a:pt x="433565" y="259832"/>
                  <a:pt x="465136" y="291403"/>
                  <a:pt x="504080" y="291403"/>
                </a:cubicBezTo>
                <a:cubicBezTo>
                  <a:pt x="543024" y="291403"/>
                  <a:pt x="574595" y="259832"/>
                  <a:pt x="574595" y="220888"/>
                </a:cubicBezTo>
                <a:lnTo>
                  <a:pt x="573042" y="213194"/>
                </a:lnTo>
                <a:lnTo>
                  <a:pt x="1082570" y="213194"/>
                </a:lnTo>
                <a:lnTo>
                  <a:pt x="1082570" y="781162"/>
                </a:lnTo>
                <a:lnTo>
                  <a:pt x="570471" y="781162"/>
                </a:lnTo>
                <a:lnTo>
                  <a:pt x="570471" y="1373003"/>
                </a:lnTo>
                <a:cubicBezTo>
                  <a:pt x="570471" y="1659011"/>
                  <a:pt x="773344" y="1897634"/>
                  <a:pt x="1043036" y="1952821"/>
                </a:cubicBezTo>
                <a:lnTo>
                  <a:pt x="1082570" y="1956807"/>
                </a:lnTo>
                <a:lnTo>
                  <a:pt x="1082570" y="2529040"/>
                </a:lnTo>
                <a:lnTo>
                  <a:pt x="1051047" y="2527546"/>
                </a:lnTo>
                <a:cubicBezTo>
                  <a:pt x="501761" y="2475264"/>
                  <a:pt x="64174" y="2039877"/>
                  <a:pt x="8493" y="1491588"/>
                </a:cubicBezTo>
                <a:lnTo>
                  <a:pt x="3378" y="1390303"/>
                </a:lnTo>
                <a:lnTo>
                  <a:pt x="0" y="1390303"/>
                </a:lnTo>
                <a:close/>
              </a:path>
            </a:pathLst>
          </a:custGeom>
          <a:solidFill>
            <a:schemeClr val="tx1">
              <a:alpha val="4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56CB67C-3922-AF51-ECE5-03F910F9F23D}"/>
              </a:ext>
            </a:extLst>
          </p:cNvPr>
          <p:cNvSpPr txBox="1"/>
          <p:nvPr/>
        </p:nvSpPr>
        <p:spPr>
          <a:xfrm>
            <a:off x="17706794" y="4571922"/>
            <a:ext cx="3934006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50"/>
              </a:lnSpc>
              <a:spcBef>
                <a:spcPct val="0"/>
              </a:spcBef>
            </a:pPr>
            <a:endParaRPr lang="en-US" altLang="ko-KR" sz="4400" spc="21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  <a:p>
            <a:pPr>
              <a:lnSpc>
                <a:spcPts val="2950"/>
              </a:lnSpc>
              <a:spcBef>
                <a:spcPct val="0"/>
              </a:spcBef>
            </a:pPr>
            <a:r>
              <a:rPr lang="ko-KR" altLang="en-US" sz="4400" spc="210" dirty="0" err="1" smtClean="0"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옵시디언</a:t>
            </a:r>
            <a:r>
              <a:rPr lang="ko-KR" altLang="en-US" sz="4400" spc="210" dirty="0"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 </a:t>
            </a:r>
            <a:r>
              <a:rPr lang="ko-KR" altLang="en-US" sz="4400" spc="210" dirty="0" err="1" smtClean="0"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실드</a:t>
            </a:r>
            <a:endParaRPr lang="en-US" altLang="ko-KR" sz="4400" spc="210" dirty="0"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  <a:p>
            <a:pPr>
              <a:lnSpc>
                <a:spcPts val="2950"/>
              </a:lnSpc>
              <a:spcBef>
                <a:spcPct val="0"/>
              </a:spcBef>
            </a:pPr>
            <a:endParaRPr lang="en-US" altLang="ko-KR" sz="4400" spc="21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  <a:p>
            <a:pPr>
              <a:lnSpc>
                <a:spcPts val="2950"/>
              </a:lnSpc>
              <a:spcBef>
                <a:spcPct val="0"/>
              </a:spcBef>
            </a:pPr>
            <a:endParaRPr lang="en-US" altLang="ko-KR" sz="4400" spc="210" dirty="0"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  <a:p>
            <a:pPr>
              <a:lnSpc>
                <a:spcPts val="2950"/>
              </a:lnSpc>
              <a:spcBef>
                <a:spcPct val="0"/>
              </a:spcBef>
            </a:pPr>
            <a:r>
              <a:rPr lang="en-US" altLang="ko-KR" sz="3200" spc="21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: Obsidian Shield</a:t>
            </a:r>
            <a:endParaRPr lang="en-US" altLang="ko-KR" sz="3200" spc="210" dirty="0"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</p:txBody>
      </p:sp>
      <p:sp>
        <p:nvSpPr>
          <p:cNvPr id="68" name="자유형: 도형 35">
            <a:extLst>
              <a:ext uri="{FF2B5EF4-FFF2-40B4-BE49-F238E27FC236}">
                <a16:creationId xmlns:a16="http://schemas.microsoft.com/office/drawing/2014/main" id="{86A9FC59-4BD2-A79C-C54A-D190C8EA945A}"/>
              </a:ext>
            </a:extLst>
          </p:cNvPr>
          <p:cNvSpPr/>
          <p:nvPr/>
        </p:nvSpPr>
        <p:spPr>
          <a:xfrm>
            <a:off x="19876174" y="2955287"/>
            <a:ext cx="369367" cy="699189"/>
          </a:xfrm>
          <a:custGeom>
            <a:avLst/>
            <a:gdLst>
              <a:gd name="connsiteX0" fmla="*/ 137920 w 198245"/>
              <a:gd name="connsiteY0" fmla="*/ 0 h 375266"/>
              <a:gd name="connsiteX1" fmla="*/ 183958 w 198245"/>
              <a:gd name="connsiteY1" fmla="*/ 196056 h 375266"/>
              <a:gd name="connsiteX2" fmla="*/ 198245 w 198245"/>
              <a:gd name="connsiteY2" fmla="*/ 374650 h 375266"/>
              <a:gd name="connsiteX3" fmla="*/ 153885 w 198245"/>
              <a:gd name="connsiteY3" fmla="*/ 375266 h 375266"/>
              <a:gd name="connsiteX4" fmla="*/ 149937 w 198245"/>
              <a:gd name="connsiteY4" fmla="*/ 336097 h 375266"/>
              <a:gd name="connsiteX5" fmla="*/ 142682 w 198245"/>
              <a:gd name="connsiteY5" fmla="*/ 273031 h 375266"/>
              <a:gd name="connsiteX6" fmla="*/ 96644 w 198245"/>
              <a:gd name="connsiteY6" fmla="*/ 76975 h 375266"/>
              <a:gd name="connsiteX7" fmla="*/ 0 w 198245"/>
              <a:gd name="connsiteY7" fmla="*/ 79332 h 375266"/>
              <a:gd name="connsiteX8" fmla="*/ 7745 w 198245"/>
              <a:gd name="connsiteY8" fmla="*/ 3175 h 37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8245" h="375266">
                <a:moveTo>
                  <a:pt x="137920" y="0"/>
                </a:moveTo>
                <a:cubicBezTo>
                  <a:pt x="158028" y="67733"/>
                  <a:pt x="166231" y="64029"/>
                  <a:pt x="183958" y="196056"/>
                </a:cubicBezTo>
                <a:cubicBezTo>
                  <a:pt x="195864" y="298450"/>
                  <a:pt x="198245" y="317500"/>
                  <a:pt x="198245" y="374650"/>
                </a:cubicBezTo>
                <a:lnTo>
                  <a:pt x="153885" y="375266"/>
                </a:lnTo>
                <a:lnTo>
                  <a:pt x="149937" y="336097"/>
                </a:lnTo>
                <a:cubicBezTo>
                  <a:pt x="148040" y="319019"/>
                  <a:pt x="145659" y="298630"/>
                  <a:pt x="142682" y="273031"/>
                </a:cubicBezTo>
                <a:cubicBezTo>
                  <a:pt x="124955" y="141004"/>
                  <a:pt x="116752" y="144708"/>
                  <a:pt x="96644" y="76975"/>
                </a:cubicBezTo>
                <a:lnTo>
                  <a:pt x="0" y="79332"/>
                </a:lnTo>
                <a:lnTo>
                  <a:pt x="7745" y="3175"/>
                </a:lnTo>
                <a:close/>
              </a:path>
            </a:pathLst>
          </a:custGeom>
          <a:solidFill>
            <a:schemeClr val="bg1">
              <a:alpha val="41000"/>
            </a:schemeClr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9" name="막힌 원호 7">
            <a:extLst>
              <a:ext uri="{FF2B5EF4-FFF2-40B4-BE49-F238E27FC236}">
                <a16:creationId xmlns:a16="http://schemas.microsoft.com/office/drawing/2014/main" id="{70BDDBB7-D46B-0CEC-890D-E91E29667E5C}"/>
              </a:ext>
            </a:extLst>
          </p:cNvPr>
          <p:cNvSpPr/>
          <p:nvPr/>
        </p:nvSpPr>
        <p:spPr>
          <a:xfrm flipH="1">
            <a:off x="19910032" y="3590433"/>
            <a:ext cx="337752" cy="417467"/>
          </a:xfrm>
          <a:custGeom>
            <a:avLst/>
            <a:gdLst>
              <a:gd name="connsiteX0" fmla="*/ 180071 w 274163"/>
              <a:gd name="connsiteY0" fmla="*/ 403487 h 413928"/>
              <a:gd name="connsiteX1" fmla="*/ 26844 w 274163"/>
              <a:gd name="connsiteY1" fmla="*/ 329983 h 413928"/>
              <a:gd name="connsiteX2" fmla="*/ 338 w 274163"/>
              <a:gd name="connsiteY2" fmla="*/ 192432 h 413928"/>
              <a:gd name="connsiteX3" fmla="*/ 64193 w 274163"/>
              <a:gd name="connsiteY3" fmla="*/ 199218 h 413928"/>
              <a:gd name="connsiteX4" fmla="*/ 73668 w 274163"/>
              <a:gd name="connsiteY4" fmla="*/ 277730 h 413928"/>
              <a:gd name="connsiteX5" fmla="*/ 165814 w 274163"/>
              <a:gd name="connsiteY5" fmla="*/ 338308 h 413928"/>
              <a:gd name="connsiteX6" fmla="*/ 180071 w 274163"/>
              <a:gd name="connsiteY6" fmla="*/ 403487 h 413928"/>
              <a:gd name="connsiteX0" fmla="*/ 180071 w 180071"/>
              <a:gd name="connsiteY0" fmla="*/ 211055 h 221509"/>
              <a:gd name="connsiteX1" fmla="*/ 26844 w 180071"/>
              <a:gd name="connsiteY1" fmla="*/ 137551 h 221509"/>
              <a:gd name="connsiteX2" fmla="*/ 338 w 180071"/>
              <a:gd name="connsiteY2" fmla="*/ 0 h 221509"/>
              <a:gd name="connsiteX3" fmla="*/ 64193 w 180071"/>
              <a:gd name="connsiteY3" fmla="*/ 6786 h 221509"/>
              <a:gd name="connsiteX4" fmla="*/ 73668 w 180071"/>
              <a:gd name="connsiteY4" fmla="*/ 85298 h 221509"/>
              <a:gd name="connsiteX5" fmla="*/ 153908 w 180071"/>
              <a:gd name="connsiteY5" fmla="*/ 164926 h 221509"/>
              <a:gd name="connsiteX6" fmla="*/ 180071 w 180071"/>
              <a:gd name="connsiteY6" fmla="*/ 211055 h 221509"/>
              <a:gd name="connsiteX0" fmla="*/ 180071 w 180071"/>
              <a:gd name="connsiteY0" fmla="*/ 211055 h 221509"/>
              <a:gd name="connsiteX1" fmla="*/ 26844 w 180071"/>
              <a:gd name="connsiteY1" fmla="*/ 137551 h 221509"/>
              <a:gd name="connsiteX2" fmla="*/ 338 w 180071"/>
              <a:gd name="connsiteY2" fmla="*/ 0 h 221509"/>
              <a:gd name="connsiteX3" fmla="*/ 64193 w 180071"/>
              <a:gd name="connsiteY3" fmla="*/ 6786 h 221509"/>
              <a:gd name="connsiteX4" fmla="*/ 73668 w 180071"/>
              <a:gd name="connsiteY4" fmla="*/ 85298 h 221509"/>
              <a:gd name="connsiteX5" fmla="*/ 153908 w 180071"/>
              <a:gd name="connsiteY5" fmla="*/ 164926 h 221509"/>
              <a:gd name="connsiteX6" fmla="*/ 180071 w 180071"/>
              <a:gd name="connsiteY6" fmla="*/ 211055 h 221509"/>
              <a:gd name="connsiteX0" fmla="*/ 181277 w 181277"/>
              <a:gd name="connsiteY0" fmla="*/ 211055 h 223703"/>
              <a:gd name="connsiteX1" fmla="*/ 16144 w 181277"/>
              <a:gd name="connsiteY1" fmla="*/ 149458 h 223703"/>
              <a:gd name="connsiteX2" fmla="*/ 1544 w 181277"/>
              <a:gd name="connsiteY2" fmla="*/ 0 h 223703"/>
              <a:gd name="connsiteX3" fmla="*/ 65399 w 181277"/>
              <a:gd name="connsiteY3" fmla="*/ 6786 h 223703"/>
              <a:gd name="connsiteX4" fmla="*/ 74874 w 181277"/>
              <a:gd name="connsiteY4" fmla="*/ 85298 h 223703"/>
              <a:gd name="connsiteX5" fmla="*/ 155114 w 181277"/>
              <a:gd name="connsiteY5" fmla="*/ 164926 h 223703"/>
              <a:gd name="connsiteX6" fmla="*/ 181277 w 181277"/>
              <a:gd name="connsiteY6" fmla="*/ 211055 h 223703"/>
              <a:gd name="connsiteX0" fmla="*/ 181277 w 181277"/>
              <a:gd name="connsiteY0" fmla="*/ 211413 h 224061"/>
              <a:gd name="connsiteX1" fmla="*/ 16144 w 181277"/>
              <a:gd name="connsiteY1" fmla="*/ 149816 h 224061"/>
              <a:gd name="connsiteX2" fmla="*/ 1544 w 181277"/>
              <a:gd name="connsiteY2" fmla="*/ 358 h 224061"/>
              <a:gd name="connsiteX3" fmla="*/ 74924 w 181277"/>
              <a:gd name="connsiteY3" fmla="*/ 0 h 224061"/>
              <a:gd name="connsiteX4" fmla="*/ 74874 w 181277"/>
              <a:gd name="connsiteY4" fmla="*/ 85656 h 224061"/>
              <a:gd name="connsiteX5" fmla="*/ 155114 w 181277"/>
              <a:gd name="connsiteY5" fmla="*/ 165284 h 224061"/>
              <a:gd name="connsiteX6" fmla="*/ 181277 w 181277"/>
              <a:gd name="connsiteY6" fmla="*/ 211413 h 224061"/>
              <a:gd name="connsiteX0" fmla="*/ 181277 w 181277"/>
              <a:gd name="connsiteY0" fmla="*/ 211413 h 224061"/>
              <a:gd name="connsiteX1" fmla="*/ 16144 w 181277"/>
              <a:gd name="connsiteY1" fmla="*/ 149816 h 224061"/>
              <a:gd name="connsiteX2" fmla="*/ 1544 w 181277"/>
              <a:gd name="connsiteY2" fmla="*/ 358 h 224061"/>
              <a:gd name="connsiteX3" fmla="*/ 74924 w 181277"/>
              <a:gd name="connsiteY3" fmla="*/ 0 h 224061"/>
              <a:gd name="connsiteX4" fmla="*/ 74874 w 181277"/>
              <a:gd name="connsiteY4" fmla="*/ 85656 h 224061"/>
              <a:gd name="connsiteX5" fmla="*/ 155114 w 181277"/>
              <a:gd name="connsiteY5" fmla="*/ 165284 h 224061"/>
              <a:gd name="connsiteX6" fmla="*/ 181277 w 181277"/>
              <a:gd name="connsiteY6" fmla="*/ 211413 h 22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277" h="224061">
                <a:moveTo>
                  <a:pt x="181277" y="211413"/>
                </a:moveTo>
                <a:cubicBezTo>
                  <a:pt x="125047" y="239451"/>
                  <a:pt x="51342" y="221713"/>
                  <a:pt x="16144" y="149816"/>
                </a:cubicBezTo>
                <a:cubicBezTo>
                  <a:pt x="-3255" y="110191"/>
                  <a:pt x="-748" y="49510"/>
                  <a:pt x="1544" y="358"/>
                </a:cubicBezTo>
                <a:lnTo>
                  <a:pt x="74924" y="0"/>
                </a:lnTo>
                <a:cubicBezTo>
                  <a:pt x="74164" y="27409"/>
                  <a:pt x="67928" y="61810"/>
                  <a:pt x="74874" y="85656"/>
                </a:cubicBezTo>
                <a:cubicBezTo>
                  <a:pt x="93256" y="148762"/>
                  <a:pt x="94803" y="146252"/>
                  <a:pt x="155114" y="165284"/>
                </a:cubicBezTo>
                <a:cubicBezTo>
                  <a:pt x="183679" y="187010"/>
                  <a:pt x="176525" y="189687"/>
                  <a:pt x="181277" y="211413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scene3d>
            <a:camera prst="orthographicFront"/>
            <a:lightRig rig="harsh" dir="t">
              <a:rot lat="0" lon="0" rev="10800000"/>
            </a:lightRig>
          </a:scene3d>
          <a:sp3d prstMaterial="dkEdge">
            <a:bevelT w="139700" h="190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13CED65-DA9E-6129-DAE8-33A42F683029}"/>
              </a:ext>
            </a:extLst>
          </p:cNvPr>
          <p:cNvSpPr txBox="1"/>
          <p:nvPr/>
        </p:nvSpPr>
        <p:spPr>
          <a:xfrm rot="17100000">
            <a:off x="14082723" y="7324193"/>
            <a:ext cx="5299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1" u="none" strike="noStrike" kern="0" cap="none" spc="0" normalizeH="0" baseline="0" noProof="0" dirty="0">
                <a:ln w="107950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PPT</a:t>
            </a:r>
            <a:r>
              <a:rPr kumimoji="0" lang="ko-KR" altLang="en-US" sz="900" b="0" i="1" u="none" strike="noStrike" kern="0" cap="none" spc="0" normalizeH="0" baseline="0" noProof="0" dirty="0">
                <a:ln w="107950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kumimoji="0" lang="en-US" altLang="ko-KR" sz="900" b="0" i="1" u="none" strike="noStrike" kern="0" cap="none" spc="0" normalizeH="0" baseline="0" noProof="0" dirty="0">
                <a:ln w="107950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PRESENTATION </a:t>
            </a:r>
            <a:r>
              <a:rPr kumimoji="0" lang="en-US" altLang="ko-KR" sz="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Enjoy your stylish business and campus life with BIZCAM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203200" y="13436600"/>
            <a:ext cx="23977600" cy="1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1" name="TextBox 14"/>
          <p:cNvSpPr txBox="1"/>
          <p:nvPr/>
        </p:nvSpPr>
        <p:spPr>
          <a:xfrm>
            <a:off x="11180006" y="4950628"/>
            <a:ext cx="4306096" cy="474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570"/>
              </a:lnSpc>
            </a:pPr>
            <a:r>
              <a:rPr lang="ko-KR" altLang="en-US" sz="3600" b="1" dirty="0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Medium"/>
                <a:sym typeface="프리텐다드 Medium"/>
              </a:rPr>
              <a:t>아이디어 및 벤치마킹</a:t>
            </a:r>
            <a:endParaRPr lang="en-US" sz="3600" b="1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Medium"/>
              <a:sym typeface="프리텐다드 Medium"/>
            </a:endParaRPr>
          </a:p>
        </p:txBody>
      </p:sp>
      <p:sp>
        <p:nvSpPr>
          <p:cNvPr id="62" name="TextBox 15"/>
          <p:cNvSpPr txBox="1"/>
          <p:nvPr/>
        </p:nvSpPr>
        <p:spPr>
          <a:xfrm>
            <a:off x="10321005" y="4950628"/>
            <a:ext cx="63929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91"/>
              </a:lnSpc>
            </a:pPr>
            <a:r>
              <a:rPr lang="en-US" sz="36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02</a:t>
            </a:r>
            <a:endParaRPr lang="en-US" sz="36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sp>
        <p:nvSpPr>
          <p:cNvPr id="63" name="TextBox 16"/>
          <p:cNvSpPr txBox="1"/>
          <p:nvPr/>
        </p:nvSpPr>
        <p:spPr>
          <a:xfrm>
            <a:off x="11180006" y="3960028"/>
            <a:ext cx="335131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570"/>
              </a:lnSpc>
              <a:spcBef>
                <a:spcPct val="0"/>
              </a:spcBef>
            </a:pPr>
            <a:r>
              <a:rPr lang="ko-KR" altLang="en-US" sz="3600" b="1" dirty="0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Medium"/>
                <a:sym typeface="프리텐다드 Medium"/>
              </a:rPr>
              <a:t>프로젝트 소개</a:t>
            </a:r>
            <a:endParaRPr lang="en-US" sz="3600" b="1" u="none" strike="noStrike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Medium"/>
              <a:sym typeface="프리텐다드 Medium"/>
            </a:endParaRPr>
          </a:p>
        </p:txBody>
      </p:sp>
      <p:sp>
        <p:nvSpPr>
          <p:cNvPr id="64" name="TextBox 17"/>
          <p:cNvSpPr txBox="1"/>
          <p:nvPr/>
        </p:nvSpPr>
        <p:spPr>
          <a:xfrm>
            <a:off x="10321005" y="3960028"/>
            <a:ext cx="63929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91"/>
              </a:lnSpc>
              <a:spcBef>
                <a:spcPct val="0"/>
              </a:spcBef>
            </a:pPr>
            <a:r>
              <a:rPr lang="en-US" sz="36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01</a:t>
            </a:r>
            <a:endParaRPr lang="en-US" sz="36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sp>
        <p:nvSpPr>
          <p:cNvPr id="35" name="TextBox 14"/>
          <p:cNvSpPr txBox="1"/>
          <p:nvPr/>
        </p:nvSpPr>
        <p:spPr>
          <a:xfrm>
            <a:off x="11201049" y="5936763"/>
            <a:ext cx="335131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570"/>
              </a:lnSpc>
            </a:pPr>
            <a:r>
              <a:rPr lang="ko-KR" altLang="en-US" sz="3600" b="1" dirty="0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Medium"/>
                <a:sym typeface="프리텐다드 Medium"/>
              </a:rPr>
              <a:t>요구사항</a:t>
            </a:r>
            <a:endParaRPr lang="en-US" sz="3600" b="1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Medium"/>
              <a:sym typeface="프리텐다드 Medium"/>
            </a:endParaRPr>
          </a:p>
        </p:txBody>
      </p:sp>
      <p:sp>
        <p:nvSpPr>
          <p:cNvPr id="36" name="TextBox 15"/>
          <p:cNvSpPr txBox="1"/>
          <p:nvPr/>
        </p:nvSpPr>
        <p:spPr>
          <a:xfrm>
            <a:off x="10331718" y="5936763"/>
            <a:ext cx="63929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91"/>
              </a:lnSpc>
            </a:pPr>
            <a:r>
              <a:rPr lang="en-US" sz="36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03</a:t>
            </a:r>
            <a:endParaRPr lang="en-US" sz="36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sp>
        <p:nvSpPr>
          <p:cNvPr id="37" name="TextBox 14"/>
          <p:cNvSpPr txBox="1"/>
          <p:nvPr/>
        </p:nvSpPr>
        <p:spPr>
          <a:xfrm>
            <a:off x="11196581" y="6927363"/>
            <a:ext cx="335131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570"/>
              </a:lnSpc>
            </a:pPr>
            <a:r>
              <a:rPr lang="ko-KR" altLang="en-US" sz="3600" b="1" dirty="0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Medium"/>
                <a:sym typeface="프리텐다드 Medium"/>
              </a:rPr>
              <a:t>기능 설계</a:t>
            </a:r>
            <a:endParaRPr lang="en-US" sz="3600" b="1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Medium"/>
              <a:sym typeface="프리텐다드 Medium"/>
            </a:endParaRPr>
          </a:p>
        </p:txBody>
      </p:sp>
      <p:sp>
        <p:nvSpPr>
          <p:cNvPr id="38" name="TextBox 15"/>
          <p:cNvSpPr txBox="1"/>
          <p:nvPr/>
        </p:nvSpPr>
        <p:spPr>
          <a:xfrm>
            <a:off x="10331718" y="6927363"/>
            <a:ext cx="63929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91"/>
              </a:lnSpc>
            </a:pPr>
            <a:r>
              <a:rPr lang="en-US" sz="36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04</a:t>
            </a:r>
            <a:endParaRPr lang="en-US" sz="36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sp>
        <p:nvSpPr>
          <p:cNvPr id="39" name="TextBox 14"/>
          <p:cNvSpPr txBox="1"/>
          <p:nvPr/>
        </p:nvSpPr>
        <p:spPr>
          <a:xfrm>
            <a:off x="11196581" y="7981724"/>
            <a:ext cx="3351316" cy="474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570"/>
              </a:lnSpc>
            </a:pPr>
            <a:r>
              <a:rPr lang="ko-KR" altLang="en-US" sz="3600" b="1" dirty="0" err="1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Medium"/>
                <a:sym typeface="프리텐다드 Medium"/>
              </a:rPr>
              <a:t>유즈케이스</a:t>
            </a:r>
            <a:endParaRPr lang="en-US" sz="3600" b="1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Medium"/>
              <a:sym typeface="프리텐다드 Medium"/>
            </a:endParaRPr>
          </a:p>
        </p:txBody>
      </p:sp>
      <p:sp>
        <p:nvSpPr>
          <p:cNvPr id="40" name="TextBox 15"/>
          <p:cNvSpPr txBox="1"/>
          <p:nvPr/>
        </p:nvSpPr>
        <p:spPr>
          <a:xfrm>
            <a:off x="10327250" y="7981724"/>
            <a:ext cx="63929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91"/>
              </a:lnSpc>
            </a:pPr>
            <a:r>
              <a:rPr lang="en-US" sz="36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05</a:t>
            </a:r>
            <a:endParaRPr lang="en-US" sz="36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9847301" y="2893228"/>
            <a:ext cx="0" cy="769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16171901" y="2893228"/>
            <a:ext cx="0" cy="754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9677400" y="2684584"/>
            <a:ext cx="304800" cy="3032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16019501" y="2684584"/>
            <a:ext cx="304800" cy="3032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9677400" y="10500129"/>
            <a:ext cx="304800" cy="3032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16045497" y="10376379"/>
            <a:ext cx="304800" cy="3032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01" name="TextBox 14"/>
          <p:cNvSpPr txBox="1"/>
          <p:nvPr/>
        </p:nvSpPr>
        <p:spPr>
          <a:xfrm>
            <a:off x="17787286" y="4915486"/>
            <a:ext cx="4306096" cy="474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570"/>
              </a:lnSpc>
            </a:pPr>
            <a:r>
              <a:rPr lang="ko-KR" altLang="en-US" sz="3600" b="1" dirty="0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Medium"/>
                <a:sym typeface="프리텐다드 Medium"/>
              </a:rPr>
              <a:t>테스트 및 시연</a:t>
            </a:r>
            <a:endParaRPr lang="en-US" sz="3600" b="1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Medium"/>
              <a:sym typeface="프리텐다드 Medium"/>
            </a:endParaRPr>
          </a:p>
        </p:txBody>
      </p:sp>
      <p:sp>
        <p:nvSpPr>
          <p:cNvPr id="102" name="TextBox 15"/>
          <p:cNvSpPr txBox="1"/>
          <p:nvPr/>
        </p:nvSpPr>
        <p:spPr>
          <a:xfrm>
            <a:off x="16928285" y="4915486"/>
            <a:ext cx="639298" cy="44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91"/>
              </a:lnSpc>
            </a:pPr>
            <a:r>
              <a:rPr lang="en-US" sz="36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07</a:t>
            </a:r>
            <a:endParaRPr lang="en-US" sz="36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sp>
        <p:nvSpPr>
          <p:cNvPr id="103" name="TextBox 16"/>
          <p:cNvSpPr txBox="1"/>
          <p:nvPr/>
        </p:nvSpPr>
        <p:spPr>
          <a:xfrm>
            <a:off x="17787286" y="3924886"/>
            <a:ext cx="3351316" cy="474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570"/>
              </a:lnSpc>
              <a:spcBef>
                <a:spcPct val="0"/>
              </a:spcBef>
            </a:pPr>
            <a:r>
              <a:rPr lang="ko-KR" altLang="en-US" sz="3600" b="1" dirty="0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Medium"/>
                <a:sym typeface="프리텐다드 Medium"/>
              </a:rPr>
              <a:t>와이어 프레임</a:t>
            </a:r>
            <a:endParaRPr lang="en-US" sz="3600" b="1" u="none" strike="noStrike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Medium"/>
              <a:sym typeface="프리텐다드 Medium"/>
            </a:endParaRPr>
          </a:p>
        </p:txBody>
      </p:sp>
      <p:sp>
        <p:nvSpPr>
          <p:cNvPr id="107" name="TextBox 17"/>
          <p:cNvSpPr txBox="1"/>
          <p:nvPr/>
        </p:nvSpPr>
        <p:spPr>
          <a:xfrm>
            <a:off x="16928285" y="3924886"/>
            <a:ext cx="639298" cy="44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91"/>
              </a:lnSpc>
              <a:spcBef>
                <a:spcPct val="0"/>
              </a:spcBef>
            </a:pPr>
            <a:r>
              <a:rPr lang="en-US" sz="36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06</a:t>
            </a:r>
            <a:endParaRPr lang="en-US" sz="36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sp>
        <p:nvSpPr>
          <p:cNvPr id="108" name="TextBox 14"/>
          <p:cNvSpPr txBox="1"/>
          <p:nvPr/>
        </p:nvSpPr>
        <p:spPr>
          <a:xfrm>
            <a:off x="17808329" y="5901621"/>
            <a:ext cx="3351316" cy="474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570"/>
              </a:lnSpc>
            </a:pPr>
            <a:r>
              <a:rPr lang="ko-KR" altLang="en-US" sz="3600" b="1" dirty="0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Medium"/>
                <a:sym typeface="프리텐다드 Medium"/>
              </a:rPr>
              <a:t>문제점</a:t>
            </a:r>
            <a:endParaRPr lang="en-US" sz="3600" b="1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Medium"/>
              <a:sym typeface="프리텐다드 Medium"/>
            </a:endParaRPr>
          </a:p>
        </p:txBody>
      </p:sp>
      <p:sp>
        <p:nvSpPr>
          <p:cNvPr id="109" name="TextBox 15"/>
          <p:cNvSpPr txBox="1"/>
          <p:nvPr/>
        </p:nvSpPr>
        <p:spPr>
          <a:xfrm>
            <a:off x="16938998" y="5901621"/>
            <a:ext cx="639298" cy="44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91"/>
              </a:lnSpc>
            </a:pPr>
            <a:r>
              <a:rPr lang="en-US" sz="36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08</a:t>
            </a:r>
            <a:endParaRPr lang="en-US" sz="36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sp>
        <p:nvSpPr>
          <p:cNvPr id="110" name="TextBox 14"/>
          <p:cNvSpPr txBox="1"/>
          <p:nvPr/>
        </p:nvSpPr>
        <p:spPr>
          <a:xfrm>
            <a:off x="17803861" y="6892221"/>
            <a:ext cx="3351316" cy="474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570"/>
              </a:lnSpc>
            </a:pPr>
            <a:r>
              <a:rPr lang="en-US" sz="3600" b="1" dirty="0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Medium"/>
                <a:sym typeface="프리텐다드 Medium"/>
              </a:rPr>
              <a:t>Q&amp;A</a:t>
            </a:r>
            <a:endParaRPr lang="en-US" sz="3600" b="1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Medium"/>
              <a:sym typeface="프리텐다드 Medium"/>
            </a:endParaRPr>
          </a:p>
        </p:txBody>
      </p:sp>
      <p:sp>
        <p:nvSpPr>
          <p:cNvPr id="111" name="TextBox 15"/>
          <p:cNvSpPr txBox="1"/>
          <p:nvPr/>
        </p:nvSpPr>
        <p:spPr>
          <a:xfrm>
            <a:off x="16938998" y="6892221"/>
            <a:ext cx="639298" cy="44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91"/>
              </a:lnSpc>
            </a:pPr>
            <a:r>
              <a:rPr lang="en-US" sz="36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09</a:t>
            </a:r>
            <a:endParaRPr lang="en-US" sz="36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sp>
        <p:nvSpPr>
          <p:cNvPr id="112" name="TextBox 14"/>
          <p:cNvSpPr txBox="1"/>
          <p:nvPr/>
        </p:nvSpPr>
        <p:spPr>
          <a:xfrm>
            <a:off x="17803861" y="7946582"/>
            <a:ext cx="3351316" cy="474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570"/>
              </a:lnSpc>
            </a:pPr>
            <a:r>
              <a:rPr lang="ko-KR" altLang="en-US" sz="3600" b="1" dirty="0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Medium"/>
                <a:sym typeface="프리텐다드 Medium"/>
              </a:rPr>
              <a:t>팀 소개</a:t>
            </a:r>
            <a:endParaRPr lang="en-US" sz="3600" b="1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Medium"/>
              <a:sym typeface="프리텐다드 Medium"/>
            </a:endParaRPr>
          </a:p>
        </p:txBody>
      </p:sp>
      <p:sp>
        <p:nvSpPr>
          <p:cNvPr id="113" name="TextBox 15"/>
          <p:cNvSpPr txBox="1"/>
          <p:nvPr/>
        </p:nvSpPr>
        <p:spPr>
          <a:xfrm>
            <a:off x="16934530" y="7946582"/>
            <a:ext cx="639298" cy="44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91"/>
              </a:lnSpc>
            </a:pPr>
            <a:r>
              <a:rPr lang="en-US" sz="36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10</a:t>
            </a:r>
            <a:endParaRPr lang="en-US" sz="36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  <p:pic>
        <p:nvPicPr>
          <p:cNvPr id="56" name="Picture 24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6200" y="13138150"/>
            <a:ext cx="24536400" cy="781050"/>
          </a:xfrm>
          <a:prstGeom prst="rect">
            <a:avLst/>
          </a:prstGeom>
        </p:spPr>
      </p:pic>
      <p:grpSp>
        <p:nvGrpSpPr>
          <p:cNvPr id="46" name="Group 8"/>
          <p:cNvGrpSpPr/>
          <p:nvPr/>
        </p:nvGrpSpPr>
        <p:grpSpPr>
          <a:xfrm>
            <a:off x="1580825" y="2521216"/>
            <a:ext cx="132273" cy="1224000"/>
            <a:chOff x="0" y="0"/>
            <a:chExt cx="40474" cy="249233"/>
          </a:xfrm>
        </p:grpSpPr>
        <p:sp>
          <p:nvSpPr>
            <p:cNvPr id="47" name="Freeform 9"/>
            <p:cNvSpPr/>
            <p:nvPr/>
          </p:nvSpPr>
          <p:spPr>
            <a:xfrm>
              <a:off x="0" y="0"/>
              <a:ext cx="40474" cy="249233"/>
            </a:xfrm>
            <a:custGeom>
              <a:avLst/>
              <a:gdLst/>
              <a:ahLst/>
              <a:cxnLst/>
              <a:rect l="l" t="t" r="r" b="b"/>
              <a:pathLst>
                <a:path w="40474" h="249233">
                  <a:moveTo>
                    <a:pt x="0" y="0"/>
                  </a:moveTo>
                  <a:lnTo>
                    <a:pt x="40474" y="0"/>
                  </a:lnTo>
                  <a:lnTo>
                    <a:pt x="40474" y="249233"/>
                  </a:lnTo>
                  <a:lnTo>
                    <a:pt x="0" y="249233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48" name="TextBox 10"/>
            <p:cNvSpPr txBox="1"/>
            <p:nvPr/>
          </p:nvSpPr>
          <p:spPr>
            <a:xfrm>
              <a:off x="0" y="-38100"/>
              <a:ext cx="40474" cy="287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</p:grpSp>
      <p:sp>
        <p:nvSpPr>
          <p:cNvPr id="49" name="TextBox 11"/>
          <p:cNvSpPr txBox="1"/>
          <p:nvPr/>
        </p:nvSpPr>
        <p:spPr>
          <a:xfrm>
            <a:off x="1945398" y="2860777"/>
            <a:ext cx="6665202" cy="1177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en-US" sz="11500" b="1" u="none" strike="noStrike" dirty="0" smtClean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rPr>
              <a:t>Content</a:t>
            </a:r>
            <a:endParaRPr lang="en-US" sz="11500" b="1" u="none" strike="noStrike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Bold"/>
              <a:sym typeface="프리텐다드 Bold"/>
            </a:endParaRPr>
          </a:p>
        </p:txBody>
      </p:sp>
    </p:spTree>
    <p:extLst>
      <p:ext uri="{BB962C8B-B14F-4D97-AF65-F5344CB8AC3E}">
        <p14:creationId xmlns:p14="http://schemas.microsoft.com/office/powerpoint/2010/main" val="353470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0261600" y="3312123"/>
            <a:ext cx="12750800" cy="9032277"/>
            <a:chOff x="0" y="0"/>
            <a:chExt cx="2518677" cy="15180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18676" cy="1518007"/>
            </a:xfrm>
            <a:custGeom>
              <a:avLst/>
              <a:gdLst/>
              <a:ahLst/>
              <a:cxnLst/>
              <a:rect l="l" t="t" r="r" b="b"/>
              <a:pathLst>
                <a:path w="2518676" h="1518007">
                  <a:moveTo>
                    <a:pt x="0" y="0"/>
                  </a:moveTo>
                  <a:lnTo>
                    <a:pt x="2518676" y="0"/>
                  </a:lnTo>
                  <a:lnTo>
                    <a:pt x="2518676" y="1518007"/>
                  </a:lnTo>
                  <a:lnTo>
                    <a:pt x="0" y="1518007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518677" cy="1565632"/>
            </a:xfrm>
            <a:prstGeom prst="rect">
              <a:avLst/>
            </a:prstGeom>
          </p:spPr>
          <p:txBody>
            <a:bodyPr lIns="67733" tIns="67733" rIns="67733" bIns="67733" rtlCol="0" anchor="ctr"/>
            <a:lstStyle/>
            <a:p>
              <a:pPr algn="ctr">
                <a:lnSpc>
                  <a:spcPts val="4208"/>
                </a:lnSpc>
              </a:pPr>
              <a:endParaRPr sz="2400"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1256659" y="4133177"/>
            <a:ext cx="440764" cy="440764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256659" y="6668934"/>
            <a:ext cx="440764" cy="440764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256659" y="9171774"/>
            <a:ext cx="440764" cy="440764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11215605" y="6324600"/>
            <a:ext cx="10801737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1256660" y="8839200"/>
            <a:ext cx="10801737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1215605" y="4724400"/>
            <a:ext cx="10577756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ko-KR" altLang="en-US" sz="2400" dirty="0" err="1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드론과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 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CCTV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를 활용해 실시간 영상을 수집하고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, AI 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객체 탐지 및 얼굴 인식 기술로 실종자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·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수배자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·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관심 인물을 식별하는 지능형 관제 시스템을 개발한다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. 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또한 대상의 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위치를 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추적하여 신속한 대응을 지원한다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.</a:t>
            </a:r>
            <a:endParaRPr lang="en-US" sz="2400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942853" y="4038600"/>
            <a:ext cx="4754732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프로젝트 개요</a:t>
            </a:r>
            <a:endParaRPr lang="en-US" sz="32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Semi-Bold"/>
              <a:sym typeface="프리텐다드 Semi-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215605" y="7280477"/>
            <a:ext cx="10577756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기존 관제 시스템은 인력 의존도가 높아 대상 식별과 추적에 한계가 있다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. 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이에 따라 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AI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와 </a:t>
            </a:r>
            <a:r>
              <a:rPr lang="ko-KR" altLang="en-US" sz="2400" dirty="0" err="1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드론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 기술을 활용한 효율적인 실시간 감시 및 대응 시스템의 필요성이 증가하고 있다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.</a:t>
            </a:r>
            <a:endParaRPr lang="en-US" sz="2400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942853" y="6574357"/>
            <a:ext cx="4754732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프로젝트 배경</a:t>
            </a:r>
            <a:endParaRPr lang="en-US" sz="32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Semi-Bold"/>
              <a:sym typeface="프리텐다드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215605" y="9783316"/>
            <a:ext cx="10577756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실시간 영상 수집 및 통합 관제</a:t>
            </a:r>
          </a:p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AI 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기반 대상 탐지 및 얼굴 인식</a:t>
            </a:r>
          </a:p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실종자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·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수배자</a:t>
            </a:r>
            <a:r>
              <a:rPr lang="en-US" altLang="ko-KR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·</a:t>
            </a: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관심 인물 식별</a:t>
            </a:r>
          </a:p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위치 및 이동 경로 추적</a:t>
            </a:r>
          </a:p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신속한 대응 및 공공 안전 강화</a:t>
            </a:r>
            <a:endParaRPr lang="en-US" sz="2400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942853" y="9077197"/>
            <a:ext cx="4754732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프로젝트 목표</a:t>
            </a:r>
            <a:endParaRPr lang="en-US" sz="32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Semi-Bold"/>
              <a:sym typeface="프리텐다드 Semi-Bold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56" y="3312123"/>
            <a:ext cx="9158283" cy="9032277"/>
          </a:xfrm>
          <a:prstGeom prst="rect">
            <a:avLst/>
          </a:prstGeom>
        </p:spPr>
      </p:pic>
      <p:grpSp>
        <p:nvGrpSpPr>
          <p:cNvPr id="53" name="그룹 52"/>
          <p:cNvGrpSpPr/>
          <p:nvPr/>
        </p:nvGrpSpPr>
        <p:grpSpPr>
          <a:xfrm>
            <a:off x="1028700" y="1028700"/>
            <a:ext cx="7219001" cy="1204431"/>
            <a:chOff x="1028700" y="1028700"/>
            <a:chExt cx="7219001" cy="1204431"/>
          </a:xfrm>
        </p:grpSpPr>
        <p:sp>
          <p:nvSpPr>
            <p:cNvPr id="54" name="TextBox 6"/>
            <p:cNvSpPr txBox="1"/>
            <p:nvPr/>
          </p:nvSpPr>
          <p:spPr>
            <a:xfrm>
              <a:off x="1439582" y="1028700"/>
              <a:ext cx="6808119" cy="9825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979"/>
                </a:lnSpc>
                <a:spcBef>
                  <a:spcPct val="0"/>
                </a:spcBef>
              </a:pP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프로젝트</a:t>
              </a: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 소개</a:t>
              </a:r>
              <a:endParaRPr lang="en-US" sz="6000" b="1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endParaRPr>
            </a:p>
          </p:txBody>
        </p:sp>
        <p:grpSp>
          <p:nvGrpSpPr>
            <p:cNvPr id="55" name="Group 7"/>
            <p:cNvGrpSpPr/>
            <p:nvPr/>
          </p:nvGrpSpPr>
          <p:grpSpPr>
            <a:xfrm>
              <a:off x="1028700" y="1028700"/>
              <a:ext cx="132273" cy="1204431"/>
              <a:chOff x="0" y="0"/>
              <a:chExt cx="40474" cy="368545"/>
            </a:xfrm>
          </p:grpSpPr>
          <p:sp>
            <p:nvSpPr>
              <p:cNvPr id="56" name="Freeform 8"/>
              <p:cNvSpPr/>
              <p:nvPr/>
            </p:nvSpPr>
            <p:spPr>
              <a:xfrm>
                <a:off x="0" y="0"/>
                <a:ext cx="40474" cy="368545"/>
              </a:xfrm>
              <a:custGeom>
                <a:avLst/>
                <a:gdLst/>
                <a:ahLst/>
                <a:cxnLst/>
                <a:rect l="l" t="t" r="r" b="b"/>
                <a:pathLst>
                  <a:path w="40474" h="368545">
                    <a:moveTo>
                      <a:pt x="0" y="0"/>
                    </a:moveTo>
                    <a:lnTo>
                      <a:pt x="40474" y="0"/>
                    </a:lnTo>
                    <a:lnTo>
                      <a:pt x="40474" y="368545"/>
                    </a:lnTo>
                    <a:lnTo>
                      <a:pt x="0" y="368545"/>
                    </a:lnTo>
                    <a:close/>
                  </a:path>
                </a:pathLst>
              </a:custGeom>
              <a:solidFill>
                <a:srgbClr val="2A59C5"/>
              </a:solidFill>
            </p:spPr>
          </p:sp>
          <p:sp>
            <p:nvSpPr>
              <p:cNvPr id="57" name="TextBox 9"/>
              <p:cNvSpPr txBox="1"/>
              <p:nvPr/>
            </p:nvSpPr>
            <p:spPr>
              <a:xfrm>
                <a:off x="0" y="-38100"/>
                <a:ext cx="40474" cy="4066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pic>
        <p:nvPicPr>
          <p:cNvPr id="58" name="Picture 24"/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6200" y="13138150"/>
            <a:ext cx="245364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32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10261600" y="4659489"/>
            <a:ext cx="12750795" cy="7555093"/>
          </a:xfrm>
          <a:custGeom>
            <a:avLst/>
            <a:gdLst/>
            <a:ahLst/>
            <a:cxnLst/>
            <a:rect l="l" t="t" r="r" b="b"/>
            <a:pathLst>
              <a:path w="2518676" h="1518007">
                <a:moveTo>
                  <a:pt x="0" y="0"/>
                </a:moveTo>
                <a:lnTo>
                  <a:pt x="2518676" y="0"/>
                </a:lnTo>
                <a:lnTo>
                  <a:pt x="2518676" y="1518007"/>
                </a:lnTo>
                <a:lnTo>
                  <a:pt x="0" y="1518007"/>
                </a:lnTo>
                <a:close/>
              </a:path>
            </a:pathLst>
          </a:custGeom>
          <a:ln w="9525" cap="sq">
            <a:solidFill>
              <a:srgbClr val="737373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1256659" y="5305821"/>
            <a:ext cx="440764" cy="440764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1942852" y="5211243"/>
            <a:ext cx="9545547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9"/>
              </a:lnSpc>
              <a:spcBef>
                <a:spcPct val="0"/>
              </a:spcBef>
            </a:pPr>
            <a:r>
              <a:rPr lang="ko-KR" altLang="en-US" sz="40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지능형 영상 분석 기반 </a:t>
            </a:r>
            <a:r>
              <a:rPr lang="en-US" altLang="ko-KR" sz="40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AI </a:t>
            </a:r>
            <a:r>
              <a:rPr lang="ko-KR" altLang="en-US" sz="40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관제 시스템</a:t>
            </a:r>
            <a:endParaRPr lang="en-US" sz="40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Semi-Bold"/>
              <a:sym typeface="프리텐다드 Semi-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215587" y="6197798"/>
            <a:ext cx="10577756" cy="523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ko-KR" altLang="en-US" sz="3200" b="1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드론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및 </a:t>
            </a: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CCTV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영상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수집</a:t>
            </a:r>
            <a:endParaRPr lang="en-US" altLang="ko-KR" sz="3200" b="1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AI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기반 객체 탐지 및 얼굴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인식</a:t>
            </a:r>
            <a:endParaRPr lang="en-US" altLang="ko-KR" sz="3200" b="1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실종자</a:t>
            </a: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·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수배자</a:t>
            </a: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·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관심 인물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식별</a:t>
            </a:r>
            <a:endParaRPr lang="en-US" altLang="ko-KR" sz="3200" b="1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위치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및 이동 경로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추적</a:t>
            </a:r>
            <a:endParaRPr lang="en-US" altLang="ko-KR" sz="3200" b="1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실시간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관제 및 대응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지원</a:t>
            </a:r>
            <a:endParaRPr lang="en-US" altLang="ko-KR" sz="3200" b="1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380990" indent="-380990">
              <a:lnSpc>
                <a:spcPts val="3360"/>
              </a:lnSpc>
              <a:buFont typeface="Arial" panose="020B0604020202020204" pitchFamily="34" charset="0"/>
              <a:buChar char="•"/>
            </a:pPr>
            <a:endParaRPr lang="en-US" altLang="ko-KR" sz="3200" b="1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>
              <a:lnSpc>
                <a:spcPts val="3360"/>
              </a:lnSpc>
            </a:pP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→ 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 </a:t>
            </a:r>
            <a:r>
              <a:rPr lang="ko-KR" altLang="en-US" sz="3200" b="1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드론과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CCTV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를 활용하여 실시간 영상을 수집하고</a:t>
            </a: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, </a:t>
            </a:r>
            <a:endParaRPr lang="en-US" altLang="ko-KR" sz="3200" b="1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>
              <a:lnSpc>
                <a:spcPts val="3360"/>
              </a:lnSpc>
            </a:pP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3200" b="1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    AI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기반 객체 탐지 및 </a:t>
            </a:r>
            <a:r>
              <a:rPr lang="ko-KR" altLang="en-US" sz="3200" b="1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얼굴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인식 기술을 통해 실종자</a:t>
            </a: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, </a:t>
            </a:r>
            <a:endParaRPr lang="en-US" altLang="ko-KR" sz="3200" b="1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>
              <a:lnSpc>
                <a:spcPts val="3360"/>
              </a:lnSpc>
            </a:pP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3200" b="1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    </a:t>
            </a:r>
            <a:r>
              <a:rPr lang="ko-KR" altLang="en-US" sz="3200" b="1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수배자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및 관심 인물을 식별한다</a:t>
            </a: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.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또한 </a:t>
            </a:r>
            <a:endParaRPr lang="en-US" altLang="ko-KR" sz="3200" b="1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>
              <a:lnSpc>
                <a:spcPts val="3360"/>
              </a:lnSpc>
            </a:pP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    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대상의 위치를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추적</a:t>
            </a: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·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기록하여 공공 안전 향상 및 신속한 </a:t>
            </a:r>
            <a:endParaRPr lang="en-US" altLang="ko-KR" sz="3200" b="1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>
              <a:lnSpc>
                <a:spcPts val="3360"/>
              </a:lnSpc>
            </a:pP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3200" b="1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    </a:t>
            </a:r>
            <a:r>
              <a:rPr lang="ko-KR" altLang="en-US" sz="3200" b="1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대응을 지원하는 지능형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관제 시스템을 구축하는 것을 </a:t>
            </a:r>
            <a:endParaRPr lang="en-US" altLang="ko-KR" sz="3200" b="1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>
              <a:lnSpc>
                <a:spcPts val="3360"/>
              </a:lnSpc>
            </a:pP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3200" b="1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    </a:t>
            </a:r>
            <a:r>
              <a:rPr lang="ko-KR" altLang="en-US" sz="3200" b="1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목표로 </a:t>
            </a:r>
            <a:r>
              <a:rPr lang="ko-KR" altLang="en-US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한다</a:t>
            </a:r>
            <a:r>
              <a:rPr lang="en-US" altLang="ko-KR" sz="32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.</a:t>
            </a:r>
            <a:endParaRPr lang="ko-KR" altLang="en-US" sz="3200" b="1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rcRect l="19695" r="17593"/>
          <a:stretch/>
        </p:blipFill>
        <p:spPr>
          <a:xfrm>
            <a:off x="1338825" y="4766443"/>
            <a:ext cx="8288155" cy="7448139"/>
          </a:xfrm>
          <a:prstGeom prst="rect">
            <a:avLst/>
          </a:prstGeom>
          <a:effectLst>
            <a:outerShdw blurRad="63500" dist="38100" dir="2700000" sx="101000" sy="101000" algn="tl" rotWithShape="0">
              <a:prstClr val="black">
                <a:alpha val="25000"/>
              </a:prstClr>
            </a:outerShdw>
          </a:effectLst>
        </p:spPr>
      </p:pic>
      <p:grpSp>
        <p:nvGrpSpPr>
          <p:cNvPr id="45" name="그룹 44"/>
          <p:cNvGrpSpPr/>
          <p:nvPr/>
        </p:nvGrpSpPr>
        <p:grpSpPr>
          <a:xfrm>
            <a:off x="1028700" y="1028700"/>
            <a:ext cx="7219001" cy="1204431"/>
            <a:chOff x="1028700" y="1028700"/>
            <a:chExt cx="7219001" cy="1204431"/>
          </a:xfrm>
        </p:grpSpPr>
        <p:sp>
          <p:nvSpPr>
            <p:cNvPr id="46" name="TextBox 6"/>
            <p:cNvSpPr txBox="1"/>
            <p:nvPr/>
          </p:nvSpPr>
          <p:spPr>
            <a:xfrm>
              <a:off x="1439582" y="1028700"/>
              <a:ext cx="6808119" cy="102592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979"/>
                </a:lnSpc>
                <a:spcBef>
                  <a:spcPct val="0"/>
                </a:spcBef>
              </a:pP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아이디어</a:t>
              </a: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 소개</a:t>
              </a:r>
              <a:endParaRPr lang="en-US" sz="6000" b="1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endParaRPr>
            </a:p>
          </p:txBody>
        </p:sp>
        <p:grpSp>
          <p:nvGrpSpPr>
            <p:cNvPr id="47" name="Group 7"/>
            <p:cNvGrpSpPr/>
            <p:nvPr/>
          </p:nvGrpSpPr>
          <p:grpSpPr>
            <a:xfrm>
              <a:off x="1028700" y="1028700"/>
              <a:ext cx="132273" cy="1204431"/>
              <a:chOff x="0" y="0"/>
              <a:chExt cx="40474" cy="368545"/>
            </a:xfrm>
          </p:grpSpPr>
          <p:sp>
            <p:nvSpPr>
              <p:cNvPr id="48" name="Freeform 8"/>
              <p:cNvSpPr/>
              <p:nvPr/>
            </p:nvSpPr>
            <p:spPr>
              <a:xfrm>
                <a:off x="0" y="0"/>
                <a:ext cx="40474" cy="368545"/>
              </a:xfrm>
              <a:custGeom>
                <a:avLst/>
                <a:gdLst/>
                <a:ahLst/>
                <a:cxnLst/>
                <a:rect l="l" t="t" r="r" b="b"/>
                <a:pathLst>
                  <a:path w="40474" h="368545">
                    <a:moveTo>
                      <a:pt x="0" y="0"/>
                    </a:moveTo>
                    <a:lnTo>
                      <a:pt x="40474" y="0"/>
                    </a:lnTo>
                    <a:lnTo>
                      <a:pt x="40474" y="368545"/>
                    </a:lnTo>
                    <a:lnTo>
                      <a:pt x="0" y="368545"/>
                    </a:lnTo>
                    <a:close/>
                  </a:path>
                </a:pathLst>
              </a:custGeom>
              <a:solidFill>
                <a:srgbClr val="2A59C5"/>
              </a:solidFill>
            </p:spPr>
          </p:sp>
          <p:sp>
            <p:nvSpPr>
              <p:cNvPr id="49" name="TextBox 9"/>
              <p:cNvSpPr txBox="1"/>
              <p:nvPr/>
            </p:nvSpPr>
            <p:spPr>
              <a:xfrm>
                <a:off x="0" y="-38100"/>
                <a:ext cx="40474" cy="4066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pic>
        <p:nvPicPr>
          <p:cNvPr id="50" name="Picture 24"/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6200" y="13138150"/>
            <a:ext cx="245364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6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 flipV="1">
            <a:off x="8455915" y="4676421"/>
            <a:ext cx="0" cy="811200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15927232" y="4676421"/>
            <a:ext cx="0" cy="811200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1230960" y="8991973"/>
            <a:ext cx="6981011" cy="3052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CCTV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와 </a:t>
            </a:r>
            <a:r>
              <a:rPr lang="ko-KR" altLang="en-US" sz="3200" dirty="0" err="1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드론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 연계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,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군 부대 외곽 침입자 감지 및 해안선 경계 시스템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.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endParaRPr lang="en-US" altLang="ko-KR" sz="3200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→ 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CCTV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기반 시스템의 공통적인 한계로 인해 사람이 카메라를 벗어나면 추적이 어려워진다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.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이 과정에서 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ID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가 바뀌거나 추적이 끊길 수 있다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.</a:t>
            </a:r>
            <a:endParaRPr lang="en-US" sz="3200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342463" y="7489299"/>
            <a:ext cx="4754732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ko-KR" altLang="en-US" sz="4800" b="1" dirty="0" err="1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인텔리빅스</a:t>
            </a:r>
            <a:endParaRPr lang="en-US" altLang="ko-KR" sz="4800" b="1" dirty="0" smtClean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Semi-Bold"/>
              <a:sym typeface="프리텐다드 Semi-Bold"/>
            </a:endParaRP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altLang="ko-KR" sz="32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(</a:t>
            </a:r>
            <a:r>
              <a:rPr lang="en-US" altLang="ko-KR" sz="3200" b="1" dirty="0" err="1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Intellivix</a:t>
            </a:r>
            <a:r>
              <a:rPr lang="en-US" altLang="ko-KR" sz="32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, </a:t>
            </a:r>
            <a:r>
              <a:rPr lang="ko-KR" altLang="en-US" sz="32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한국</a:t>
            </a:r>
            <a:r>
              <a:rPr lang="en-US" altLang="ko-KR" sz="3200" b="1" dirty="0" smtClean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)</a:t>
            </a:r>
            <a:endParaRPr lang="en-US" sz="32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Semi-Bold"/>
              <a:sym typeface="프리텐다드 Semi-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703132" y="8991974"/>
            <a:ext cx="6981011" cy="3052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 센서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, CCTV, </a:t>
            </a:r>
            <a:r>
              <a:rPr lang="ko-KR" altLang="en-US" sz="3200" dirty="0" err="1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드론을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 하나의 네트워크로 묶어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용의자나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무단 침입자를 자동으로 감지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,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추적하는 시스템 개발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.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endParaRPr lang="en-US" altLang="ko-KR" sz="3200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→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공개된 보도자료들에 따르면 일부 자율 시스템이 시험 중 오작동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, </a:t>
            </a:r>
            <a:r>
              <a:rPr lang="ko-KR" altLang="en-US" sz="3200" dirty="0" err="1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드론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 추락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,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목표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미 명중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등의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문제를 겪었다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.</a:t>
            </a:r>
            <a:endParaRPr lang="en-US" sz="3200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814635" y="7489299"/>
            <a:ext cx="4754732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ko-KR" altLang="en-US" sz="4800" b="1" dirty="0" err="1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안두릴</a:t>
            </a:r>
            <a:r>
              <a:rPr lang="ko-KR" altLang="en-US" sz="48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 </a:t>
            </a:r>
            <a:r>
              <a:rPr lang="ko-KR" altLang="en-US" sz="4800" b="1" dirty="0" err="1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인더스트리</a:t>
            </a:r>
            <a:endParaRPr lang="en-US" altLang="ko-KR" sz="48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Semi-Bold"/>
              <a:sym typeface="프리텐다드 Semi-Bold"/>
            </a:endParaRP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(</a:t>
            </a:r>
            <a:r>
              <a:rPr lang="en-US" altLang="ko-KR" sz="3200" b="1" dirty="0" err="1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Anduril</a:t>
            </a:r>
            <a:r>
              <a:rPr lang="en-US" altLang="ko-KR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 </a:t>
            </a:r>
            <a:r>
              <a:rPr lang="en-US" altLang="ko-KR" sz="3200" b="1" dirty="0" err="1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Indusries</a:t>
            </a:r>
            <a:r>
              <a:rPr lang="en-US" altLang="ko-KR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, </a:t>
            </a:r>
            <a:r>
              <a:rPr lang="ko-KR" altLang="en-US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미국</a:t>
            </a:r>
            <a:r>
              <a:rPr lang="en-US" altLang="ko-KR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)</a:t>
            </a:r>
            <a:endParaRPr lang="en-US" sz="32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Semi-Bold"/>
              <a:sym typeface="프리텐다드 Semi-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6175304" y="8991973"/>
            <a:ext cx="6981011" cy="3488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 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AI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기반 영상 분석 플랫폼으로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,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경찰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·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공항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·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도시 관제센터 등에서 활용되는 대표적인 스마트 관제 시스템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endParaRPr lang="en-US" altLang="ko-KR" sz="3200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→ 서비스 설계가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주로 고정형 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CCTV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환경을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기반으로 하기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때문에 대상이 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CCTV </a:t>
            </a:r>
            <a:r>
              <a:rPr lang="ko-KR" altLang="en-US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사각지대로 이동할 경우 추적이 중단될 가능성이 존재한다</a:t>
            </a:r>
            <a:r>
              <a:rPr lang="en-US" altLang="ko-KR" sz="3200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"/>
                <a:sym typeface="프리텐다드"/>
              </a:rPr>
              <a:t>.</a:t>
            </a:r>
            <a:endParaRPr lang="en-US" sz="3200" dirty="0">
              <a:solidFill>
                <a:srgbClr val="282828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"/>
              <a:sym typeface="프리텐다드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7286807" y="7489299"/>
            <a:ext cx="4754732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ko-KR" altLang="en-US" sz="4800" b="1" dirty="0" err="1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브리프</a:t>
            </a:r>
            <a:r>
              <a:rPr lang="ko-KR" altLang="en-US" sz="48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 캠</a:t>
            </a:r>
            <a:endParaRPr lang="en-US" altLang="ko-KR" sz="48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Semi-Bold"/>
              <a:sym typeface="프리텐다드 Semi-Bold"/>
            </a:endParaRP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(Brief Cam, </a:t>
            </a:r>
            <a:r>
              <a:rPr lang="ko-KR" altLang="en-US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이스라엘</a:t>
            </a:r>
            <a:r>
              <a:rPr lang="en-US" sz="3200" b="1" dirty="0">
                <a:solidFill>
                  <a:srgbClr val="2A59C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Semi-Bold"/>
                <a:sym typeface="프리텐다드 Semi-Bold"/>
              </a:rPr>
              <a:t>)</a:t>
            </a:r>
            <a:endParaRPr lang="en-US" sz="3200" b="1" dirty="0">
              <a:solidFill>
                <a:srgbClr val="2A59C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프리텐다드 Semi-Bold"/>
              <a:sym typeface="프리텐다드 Semi-Bold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35" y="3005045"/>
            <a:ext cx="6509846" cy="3758351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474" y="2979802"/>
            <a:ext cx="5703509" cy="380234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7541" y="2765156"/>
            <a:ext cx="4878758" cy="3965100"/>
          </a:xfrm>
          <a:prstGeom prst="rect">
            <a:avLst/>
          </a:prstGeom>
        </p:spPr>
      </p:pic>
      <p:grpSp>
        <p:nvGrpSpPr>
          <p:cNvPr id="38" name="그룹 37"/>
          <p:cNvGrpSpPr/>
          <p:nvPr/>
        </p:nvGrpSpPr>
        <p:grpSpPr>
          <a:xfrm>
            <a:off x="1028700" y="1028700"/>
            <a:ext cx="9258300" cy="1204431"/>
            <a:chOff x="1028700" y="1028700"/>
            <a:chExt cx="9258300" cy="1204431"/>
          </a:xfrm>
        </p:grpSpPr>
        <p:sp>
          <p:nvSpPr>
            <p:cNvPr id="39" name="TextBox 6"/>
            <p:cNvSpPr txBox="1"/>
            <p:nvPr/>
          </p:nvSpPr>
          <p:spPr>
            <a:xfrm>
              <a:off x="1439582" y="1028700"/>
              <a:ext cx="8847418" cy="102592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979"/>
                </a:lnSpc>
                <a:spcBef>
                  <a:spcPct val="0"/>
                </a:spcBef>
              </a:pPr>
              <a:r>
                <a:rPr lang="ko-KR" altLang="en-US" sz="6000" b="1" dirty="0" err="1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유사사이트</a:t>
              </a: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 분석</a:t>
              </a:r>
              <a:r>
                <a:rPr lang="en-US" altLang="ko-KR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(</a:t>
              </a: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벤치마킹</a:t>
              </a:r>
              <a:r>
                <a:rPr lang="en-US" altLang="ko-KR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)</a:t>
              </a:r>
              <a:endParaRPr lang="en-US" sz="6000" b="1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endParaRPr>
            </a:p>
          </p:txBody>
        </p:sp>
        <p:grpSp>
          <p:nvGrpSpPr>
            <p:cNvPr id="40" name="Group 7"/>
            <p:cNvGrpSpPr/>
            <p:nvPr/>
          </p:nvGrpSpPr>
          <p:grpSpPr>
            <a:xfrm>
              <a:off x="1028700" y="1028700"/>
              <a:ext cx="132273" cy="1204431"/>
              <a:chOff x="0" y="0"/>
              <a:chExt cx="40474" cy="368545"/>
            </a:xfrm>
          </p:grpSpPr>
          <p:sp>
            <p:nvSpPr>
              <p:cNvPr id="41" name="Freeform 8"/>
              <p:cNvSpPr/>
              <p:nvPr/>
            </p:nvSpPr>
            <p:spPr>
              <a:xfrm>
                <a:off x="0" y="0"/>
                <a:ext cx="40474" cy="368545"/>
              </a:xfrm>
              <a:custGeom>
                <a:avLst/>
                <a:gdLst/>
                <a:ahLst/>
                <a:cxnLst/>
                <a:rect l="l" t="t" r="r" b="b"/>
                <a:pathLst>
                  <a:path w="40474" h="368545">
                    <a:moveTo>
                      <a:pt x="0" y="0"/>
                    </a:moveTo>
                    <a:lnTo>
                      <a:pt x="40474" y="0"/>
                    </a:lnTo>
                    <a:lnTo>
                      <a:pt x="40474" y="368545"/>
                    </a:lnTo>
                    <a:lnTo>
                      <a:pt x="0" y="368545"/>
                    </a:lnTo>
                    <a:close/>
                  </a:path>
                </a:pathLst>
              </a:custGeom>
              <a:solidFill>
                <a:srgbClr val="2A59C5"/>
              </a:solidFill>
            </p:spPr>
          </p:sp>
          <p:sp>
            <p:nvSpPr>
              <p:cNvPr id="42" name="TextBox 9"/>
              <p:cNvSpPr txBox="1"/>
              <p:nvPr/>
            </p:nvSpPr>
            <p:spPr>
              <a:xfrm>
                <a:off x="0" y="-38100"/>
                <a:ext cx="40474" cy="4066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pic>
        <p:nvPicPr>
          <p:cNvPr id="43" name="Picture 24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6200" y="13138150"/>
            <a:ext cx="245364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45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8" t="17813" r="18437" b="71875"/>
          <a:stretch/>
        </p:blipFill>
        <p:spPr>
          <a:xfrm>
            <a:off x="19964400" y="8786182"/>
            <a:ext cx="2160000" cy="2160000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25" t="17813" r="2500" b="71875"/>
          <a:stretch/>
        </p:blipFill>
        <p:spPr>
          <a:xfrm>
            <a:off x="13792200" y="8777782"/>
            <a:ext cx="2160000" cy="2160000"/>
          </a:xfrm>
          <a:prstGeom prst="rect">
            <a:avLst/>
          </a:prstGeom>
        </p:spPr>
      </p:pic>
      <p:grpSp>
        <p:nvGrpSpPr>
          <p:cNvPr id="35" name="그룹 34"/>
          <p:cNvGrpSpPr/>
          <p:nvPr/>
        </p:nvGrpSpPr>
        <p:grpSpPr>
          <a:xfrm>
            <a:off x="1028700" y="1028700"/>
            <a:ext cx="7219001" cy="1204431"/>
            <a:chOff x="1028700" y="1028700"/>
            <a:chExt cx="7219001" cy="1204431"/>
          </a:xfrm>
        </p:grpSpPr>
        <p:sp>
          <p:nvSpPr>
            <p:cNvPr id="36" name="TextBox 6"/>
            <p:cNvSpPr txBox="1"/>
            <p:nvPr/>
          </p:nvSpPr>
          <p:spPr>
            <a:xfrm>
              <a:off x="1439582" y="1028700"/>
              <a:ext cx="6808119" cy="9825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979"/>
                </a:lnSpc>
                <a:spcBef>
                  <a:spcPct val="0"/>
                </a:spcBef>
              </a:pP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활용방안 및 기대효과</a:t>
              </a:r>
              <a:endParaRPr lang="en-US" sz="6000" b="1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endParaRPr>
            </a:p>
          </p:txBody>
        </p:sp>
        <p:grpSp>
          <p:nvGrpSpPr>
            <p:cNvPr id="37" name="Group 7"/>
            <p:cNvGrpSpPr/>
            <p:nvPr/>
          </p:nvGrpSpPr>
          <p:grpSpPr>
            <a:xfrm>
              <a:off x="1028700" y="1028700"/>
              <a:ext cx="132273" cy="1204431"/>
              <a:chOff x="0" y="0"/>
              <a:chExt cx="40474" cy="368545"/>
            </a:xfrm>
          </p:grpSpPr>
          <p:sp>
            <p:nvSpPr>
              <p:cNvPr id="38" name="Freeform 8"/>
              <p:cNvSpPr/>
              <p:nvPr/>
            </p:nvSpPr>
            <p:spPr>
              <a:xfrm>
                <a:off x="0" y="0"/>
                <a:ext cx="40474" cy="368545"/>
              </a:xfrm>
              <a:custGeom>
                <a:avLst/>
                <a:gdLst/>
                <a:ahLst/>
                <a:cxnLst/>
                <a:rect l="l" t="t" r="r" b="b"/>
                <a:pathLst>
                  <a:path w="40474" h="368545">
                    <a:moveTo>
                      <a:pt x="0" y="0"/>
                    </a:moveTo>
                    <a:lnTo>
                      <a:pt x="40474" y="0"/>
                    </a:lnTo>
                    <a:lnTo>
                      <a:pt x="40474" y="368545"/>
                    </a:lnTo>
                    <a:lnTo>
                      <a:pt x="0" y="368545"/>
                    </a:lnTo>
                    <a:close/>
                  </a:path>
                </a:pathLst>
              </a:custGeom>
              <a:solidFill>
                <a:srgbClr val="2A59C5"/>
              </a:solidFill>
            </p:spPr>
          </p:sp>
          <p:sp>
            <p:nvSpPr>
              <p:cNvPr id="39" name="TextBox 9"/>
              <p:cNvSpPr txBox="1"/>
              <p:nvPr/>
            </p:nvSpPr>
            <p:spPr>
              <a:xfrm>
                <a:off x="0" y="-38100"/>
                <a:ext cx="40474" cy="4066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pic>
        <p:nvPicPr>
          <p:cNvPr id="40" name="Picture 24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6200" y="13138150"/>
            <a:ext cx="24536400" cy="7810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" t="23906" r="89688" b="65313"/>
          <a:stretch/>
        </p:blipFill>
        <p:spPr>
          <a:xfrm>
            <a:off x="1752600" y="4132800"/>
            <a:ext cx="2366609" cy="2268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8" t="24844" r="79374" b="65312"/>
          <a:stretch/>
        </p:blipFill>
        <p:spPr>
          <a:xfrm>
            <a:off x="4554573" y="4132800"/>
            <a:ext cx="2916005" cy="226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7" t="23906" r="70625" b="65781"/>
          <a:stretch/>
        </p:blipFill>
        <p:spPr>
          <a:xfrm>
            <a:off x="7905943" y="4132800"/>
            <a:ext cx="2371091" cy="2268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t="24844" r="61875" b="66250"/>
          <a:stretch/>
        </p:blipFill>
        <p:spPr>
          <a:xfrm>
            <a:off x="3045506" y="8628600"/>
            <a:ext cx="2626105" cy="22680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13" t="23906" r="52812" b="65781"/>
          <a:stretch/>
        </p:blipFill>
        <p:spPr>
          <a:xfrm>
            <a:off x="6606524" y="8704800"/>
            <a:ext cx="2268000" cy="2268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4" t="17813" r="42500" b="71973"/>
          <a:stretch/>
        </p:blipFill>
        <p:spPr>
          <a:xfrm>
            <a:off x="13890464" y="5535982"/>
            <a:ext cx="2108074" cy="2160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86" t="17716" r="34651" b="71874"/>
          <a:stretch/>
        </p:blipFill>
        <p:spPr>
          <a:xfrm>
            <a:off x="16950453" y="5535982"/>
            <a:ext cx="2042477" cy="21600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19" t="18073" r="26406" b="71614"/>
          <a:stretch/>
        </p:blipFill>
        <p:spPr>
          <a:xfrm>
            <a:off x="20014200" y="5535982"/>
            <a:ext cx="2160000" cy="21600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12" t="17813" r="10625" b="71875"/>
          <a:stretch/>
        </p:blipFill>
        <p:spPr>
          <a:xfrm>
            <a:off x="16900655" y="8777782"/>
            <a:ext cx="2061820" cy="2160000"/>
          </a:xfrm>
          <a:prstGeom prst="rect">
            <a:avLst/>
          </a:prstGeom>
        </p:spPr>
      </p:pic>
      <p:cxnSp>
        <p:nvCxnSpPr>
          <p:cNvPr id="41" name="직선 연결선 40"/>
          <p:cNvCxnSpPr/>
          <p:nvPr/>
        </p:nvCxnSpPr>
        <p:spPr>
          <a:xfrm>
            <a:off x="12192000" y="2493000"/>
            <a:ext cx="0" cy="10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549146" y="6400800"/>
            <a:ext cx="27735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실시간 관제 </a:t>
            </a:r>
            <a:endParaRPr lang="en-US" altLang="ko-KR" sz="40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시스템</a:t>
            </a:r>
            <a:endParaRPr lang="ko-KR" altLang="en-US" sz="40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89938" y="6400800"/>
            <a:ext cx="264527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재난</a:t>
            </a:r>
            <a:r>
              <a:rPr lang="en-US" altLang="ko-KR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·</a:t>
            </a:r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재해</a:t>
            </a:r>
            <a:endParaRPr lang="en-US" altLang="ko-KR" sz="40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실종자 수</a:t>
            </a:r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색</a:t>
            </a:r>
            <a:endParaRPr lang="ko-KR" altLang="en-US" sz="40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32970" y="6400800"/>
            <a:ext cx="25170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스마트시티</a:t>
            </a:r>
            <a:endParaRPr lang="en-US" altLang="ko-KR" sz="40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통합 관제</a:t>
            </a:r>
            <a:endParaRPr lang="ko-KR" altLang="en-US" sz="40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971800" y="10902753"/>
            <a:ext cx="27735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대규모 행사</a:t>
            </a:r>
            <a:endParaRPr lang="en-US" altLang="ko-KR" sz="40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및 시설 보안</a:t>
            </a:r>
            <a:endParaRPr lang="ko-KR" altLang="en-US" sz="40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184650" y="10902753"/>
            <a:ext cx="31117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국가 및 국방</a:t>
            </a:r>
            <a:endParaRPr lang="en-US" altLang="ko-KR" sz="40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40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중요시설 보안</a:t>
            </a:r>
            <a:endParaRPr lang="ko-KR" altLang="en-US" sz="40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5" name="직선 화살표 연결선 4"/>
          <p:cNvCxnSpPr>
            <a:stCxn id="16" idx="3"/>
            <a:endCxn id="17" idx="1"/>
          </p:cNvCxnSpPr>
          <p:nvPr/>
        </p:nvCxnSpPr>
        <p:spPr>
          <a:xfrm>
            <a:off x="15998538" y="6615982"/>
            <a:ext cx="951915" cy="0"/>
          </a:xfrm>
          <a:prstGeom prst="straightConnector1">
            <a:avLst/>
          </a:prstGeom>
          <a:ln w="1111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17" idx="3"/>
            <a:endCxn id="18" idx="1"/>
          </p:cNvCxnSpPr>
          <p:nvPr/>
        </p:nvCxnSpPr>
        <p:spPr>
          <a:xfrm>
            <a:off x="18992930" y="6615982"/>
            <a:ext cx="1021270" cy="0"/>
          </a:xfrm>
          <a:prstGeom prst="straightConnector1">
            <a:avLst/>
          </a:prstGeom>
          <a:ln w="1111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19" idx="1"/>
            <a:endCxn id="20" idx="3"/>
          </p:cNvCxnSpPr>
          <p:nvPr/>
        </p:nvCxnSpPr>
        <p:spPr>
          <a:xfrm flipH="1" flipV="1">
            <a:off x="18962475" y="9857782"/>
            <a:ext cx="1001925" cy="8400"/>
          </a:xfrm>
          <a:prstGeom prst="straightConnector1">
            <a:avLst/>
          </a:prstGeom>
          <a:ln w="1111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20" idx="1"/>
            <a:endCxn id="48" idx="3"/>
          </p:cNvCxnSpPr>
          <p:nvPr/>
        </p:nvCxnSpPr>
        <p:spPr>
          <a:xfrm flipH="1">
            <a:off x="15952200" y="9857782"/>
            <a:ext cx="948455" cy="0"/>
          </a:xfrm>
          <a:prstGeom prst="straightConnector1">
            <a:avLst/>
          </a:prstGeom>
          <a:ln w="1111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18" idx="2"/>
            <a:endCxn id="19" idx="0"/>
          </p:cNvCxnSpPr>
          <p:nvPr/>
        </p:nvCxnSpPr>
        <p:spPr>
          <a:xfrm flipH="1">
            <a:off x="21044400" y="7695982"/>
            <a:ext cx="49800" cy="1090200"/>
          </a:xfrm>
          <a:prstGeom prst="straightConnector1">
            <a:avLst/>
          </a:prstGeom>
          <a:ln w="1111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3712267" y="4314184"/>
            <a:ext cx="231986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신속한 대상</a:t>
            </a:r>
            <a:endParaRPr lang="en-US" altLang="ko-KR" sz="33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식별 및 대응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7016892" y="4314184"/>
            <a:ext cx="182934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관제 업무</a:t>
            </a:r>
            <a:endParaRPr lang="en-US" altLang="ko-KR" sz="33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자동화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9962267" y="4314184"/>
            <a:ext cx="221406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수색 효율성</a:t>
            </a:r>
            <a:endParaRPr lang="en-US" altLang="ko-KR" sz="33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강화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572806" y="10931604"/>
            <a:ext cx="25987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데이터 기반</a:t>
            </a:r>
            <a:endParaRPr lang="en-US" altLang="ko-KR" sz="33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의사결정 지원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7109916" y="10931604"/>
            <a:ext cx="172354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운영비용</a:t>
            </a:r>
            <a:endParaRPr lang="en-US" altLang="ko-KR" sz="33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절감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0182275" y="10928386"/>
            <a:ext cx="172354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공공안전</a:t>
            </a:r>
            <a:endParaRPr lang="en-US" altLang="ko-KR" sz="3300" dirty="0" smtClean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강화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1013460" y="2838470"/>
            <a:ext cx="2603790" cy="76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1. </a:t>
            </a:r>
            <a:r>
              <a:rPr lang="ko-KR" altLang="en-US" sz="36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활용방안</a:t>
            </a:r>
            <a:endParaRPr lang="ko-KR" altLang="en-US" sz="3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3106400" y="2838470"/>
            <a:ext cx="2603790" cy="76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2. </a:t>
            </a:r>
            <a:r>
              <a:rPr lang="ko-KR" altLang="en-US" sz="36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기대효과</a:t>
            </a:r>
            <a:endParaRPr lang="ko-KR" altLang="en-US" sz="3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68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82" t="55313" r="20156" b="34375"/>
          <a:stretch/>
        </p:blipFill>
        <p:spPr>
          <a:xfrm>
            <a:off x="20038392" y="8839200"/>
            <a:ext cx="2061816" cy="216000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4" t="55313" r="12344" b="34375"/>
          <a:stretch/>
        </p:blipFill>
        <p:spPr>
          <a:xfrm>
            <a:off x="16931114" y="8839200"/>
            <a:ext cx="2061816" cy="216000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9" t="55313" r="4375" b="34375"/>
          <a:stretch/>
        </p:blipFill>
        <p:spPr>
          <a:xfrm>
            <a:off x="13875224" y="8839200"/>
            <a:ext cx="2012729" cy="216000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32" t="55313" r="43594" b="34375"/>
          <a:stretch/>
        </p:blipFill>
        <p:spPr>
          <a:xfrm>
            <a:off x="13897300" y="5525400"/>
            <a:ext cx="2160000" cy="216000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44" t="55313" r="36094" b="34375"/>
          <a:stretch/>
        </p:blipFill>
        <p:spPr>
          <a:xfrm>
            <a:off x="17028738" y="5535982"/>
            <a:ext cx="2061816" cy="2160000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57" t="55313" r="28281" b="34375"/>
          <a:stretch/>
        </p:blipFill>
        <p:spPr>
          <a:xfrm>
            <a:off x="20006102" y="5530373"/>
            <a:ext cx="2061816" cy="2160000"/>
          </a:xfrm>
          <a:prstGeom prst="rect">
            <a:avLst/>
          </a:prstGeom>
        </p:spPr>
      </p:pic>
      <p:cxnSp>
        <p:nvCxnSpPr>
          <p:cNvPr id="59" name="직선 화살표 연결선 58"/>
          <p:cNvCxnSpPr/>
          <p:nvPr/>
        </p:nvCxnSpPr>
        <p:spPr>
          <a:xfrm>
            <a:off x="15998538" y="6615982"/>
            <a:ext cx="951915" cy="0"/>
          </a:xfrm>
          <a:prstGeom prst="straightConnector1">
            <a:avLst/>
          </a:prstGeom>
          <a:ln w="1111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>
            <a:off x="18992930" y="6615982"/>
            <a:ext cx="1021270" cy="0"/>
          </a:xfrm>
          <a:prstGeom prst="straightConnector1">
            <a:avLst/>
          </a:prstGeom>
          <a:ln w="1111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H="1" flipV="1">
            <a:off x="18962475" y="9857782"/>
            <a:ext cx="1001925" cy="8400"/>
          </a:xfrm>
          <a:prstGeom prst="straightConnector1">
            <a:avLst/>
          </a:prstGeom>
          <a:ln w="1111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 flipH="1">
            <a:off x="15952200" y="9857782"/>
            <a:ext cx="948455" cy="0"/>
          </a:xfrm>
          <a:prstGeom prst="straightConnector1">
            <a:avLst/>
          </a:prstGeom>
          <a:ln w="1111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 flipH="1">
            <a:off x="21044400" y="7695982"/>
            <a:ext cx="49800" cy="1090200"/>
          </a:xfrm>
          <a:prstGeom prst="straightConnector1">
            <a:avLst/>
          </a:prstGeom>
          <a:ln w="1111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3957526" y="4800600"/>
            <a:ext cx="182934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통합 관제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806146" y="4800600"/>
            <a:ext cx="233108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30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AI </a:t>
            </a:r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자동 탐지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0154626" y="4800600"/>
            <a:ext cx="182934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얼굴 인식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202786" y="10931604"/>
            <a:ext cx="133882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확장성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864657" y="10931604"/>
            <a:ext cx="221406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실시간 알림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0129377" y="10928386"/>
            <a:ext cx="182934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3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위치 추적</a:t>
            </a:r>
            <a:endParaRPr lang="ko-KR" altLang="en-US" sz="33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1028700" y="1028700"/>
            <a:ext cx="7219001" cy="1204431"/>
            <a:chOff x="1028700" y="1028700"/>
            <a:chExt cx="7219001" cy="1204431"/>
          </a:xfrm>
        </p:grpSpPr>
        <p:sp>
          <p:nvSpPr>
            <p:cNvPr id="36" name="TextBox 6"/>
            <p:cNvSpPr txBox="1"/>
            <p:nvPr/>
          </p:nvSpPr>
          <p:spPr>
            <a:xfrm>
              <a:off x="1439582" y="1028700"/>
              <a:ext cx="6808119" cy="9825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979"/>
                </a:lnSpc>
                <a:spcBef>
                  <a:spcPct val="0"/>
                </a:spcBef>
              </a:pP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활용방안 및 기대효과</a:t>
              </a:r>
              <a:endParaRPr lang="en-US" sz="6000" b="1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endParaRPr>
            </a:p>
          </p:txBody>
        </p:sp>
        <p:grpSp>
          <p:nvGrpSpPr>
            <p:cNvPr id="37" name="Group 7"/>
            <p:cNvGrpSpPr/>
            <p:nvPr/>
          </p:nvGrpSpPr>
          <p:grpSpPr>
            <a:xfrm>
              <a:off x="1028700" y="1028700"/>
              <a:ext cx="132273" cy="1204431"/>
              <a:chOff x="0" y="0"/>
              <a:chExt cx="40474" cy="368545"/>
            </a:xfrm>
          </p:grpSpPr>
          <p:sp>
            <p:nvSpPr>
              <p:cNvPr id="38" name="Freeform 8"/>
              <p:cNvSpPr/>
              <p:nvPr/>
            </p:nvSpPr>
            <p:spPr>
              <a:xfrm>
                <a:off x="0" y="0"/>
                <a:ext cx="40474" cy="368545"/>
              </a:xfrm>
              <a:custGeom>
                <a:avLst/>
                <a:gdLst/>
                <a:ahLst/>
                <a:cxnLst/>
                <a:rect l="l" t="t" r="r" b="b"/>
                <a:pathLst>
                  <a:path w="40474" h="368545">
                    <a:moveTo>
                      <a:pt x="0" y="0"/>
                    </a:moveTo>
                    <a:lnTo>
                      <a:pt x="40474" y="0"/>
                    </a:lnTo>
                    <a:lnTo>
                      <a:pt x="40474" y="368545"/>
                    </a:lnTo>
                    <a:lnTo>
                      <a:pt x="0" y="368545"/>
                    </a:lnTo>
                    <a:close/>
                  </a:path>
                </a:pathLst>
              </a:custGeom>
              <a:solidFill>
                <a:srgbClr val="2A59C5"/>
              </a:solidFill>
            </p:spPr>
          </p:sp>
          <p:sp>
            <p:nvSpPr>
              <p:cNvPr id="39" name="TextBox 9"/>
              <p:cNvSpPr txBox="1"/>
              <p:nvPr/>
            </p:nvSpPr>
            <p:spPr>
              <a:xfrm>
                <a:off x="0" y="-38100"/>
                <a:ext cx="40474" cy="4066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pic>
        <p:nvPicPr>
          <p:cNvPr id="40" name="Picture 24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6200" y="13138150"/>
            <a:ext cx="24536400" cy="78105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55449" r="91719" b="39395"/>
          <a:stretch/>
        </p:blipFill>
        <p:spPr>
          <a:xfrm>
            <a:off x="1407028" y="4933800"/>
            <a:ext cx="1178181" cy="129600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19" t="55449" r="65156" b="39863"/>
          <a:stretch/>
        </p:blipFill>
        <p:spPr>
          <a:xfrm>
            <a:off x="8048404" y="4933800"/>
            <a:ext cx="1295998" cy="12960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3" t="64356" r="62657" b="30488"/>
          <a:stretch/>
        </p:blipFill>
        <p:spPr>
          <a:xfrm>
            <a:off x="8888387" y="7078026"/>
            <a:ext cx="1413818" cy="12960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" t="63887" r="93282" b="30488"/>
          <a:stretch/>
        </p:blipFill>
        <p:spPr>
          <a:xfrm>
            <a:off x="735811" y="7078026"/>
            <a:ext cx="1295999" cy="12960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4" t="72324" r="91719" b="21582"/>
          <a:stretch/>
        </p:blipFill>
        <p:spPr>
          <a:xfrm>
            <a:off x="1496442" y="9121506"/>
            <a:ext cx="1096614" cy="12960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4" t="73262" r="64844" b="22050"/>
          <a:stretch/>
        </p:blipFill>
        <p:spPr>
          <a:xfrm>
            <a:off x="8077200" y="9119989"/>
            <a:ext cx="1166400" cy="12960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4" t="79356" r="78593" b="17363"/>
          <a:stretch/>
        </p:blipFill>
        <p:spPr>
          <a:xfrm>
            <a:off x="4723800" y="10917600"/>
            <a:ext cx="1296000" cy="1008000"/>
          </a:xfrm>
          <a:prstGeom prst="rect">
            <a:avLst/>
          </a:prstGeom>
        </p:spPr>
      </p:pic>
      <p:sp>
        <p:nvSpPr>
          <p:cNvPr id="3" name="타원 2"/>
          <p:cNvSpPr>
            <a:spLocks noChangeAspect="1"/>
          </p:cNvSpPr>
          <p:nvPr/>
        </p:nvSpPr>
        <p:spPr>
          <a:xfrm>
            <a:off x="4503496" y="5908268"/>
            <a:ext cx="3168000" cy="3168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AI</a:t>
            </a:r>
          </a:p>
          <a:p>
            <a:pPr algn="ctr"/>
            <a:r>
              <a:rPr lang="ko-KR" altLang="en-US" sz="32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관제  시스템</a:t>
            </a:r>
            <a:endParaRPr lang="ko-KR" altLang="en-US" sz="32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1284523" y="4800600"/>
            <a:ext cx="2892052" cy="1562400"/>
          </a:xfrm>
          <a:prstGeom prst="roundRect">
            <a:avLst/>
          </a:prstGeom>
          <a:noFill/>
          <a:ln>
            <a:solidFill>
              <a:srgbClr val="7796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경찰청</a:t>
            </a:r>
            <a:endParaRPr lang="en-US" altLang="ko-KR" sz="2800" dirty="0" smtClean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지자체</a:t>
            </a:r>
            <a:endParaRPr lang="ko-KR" altLang="en-US" sz="28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98723" y="6921024"/>
            <a:ext cx="2892052" cy="1562400"/>
          </a:xfrm>
          <a:prstGeom prst="roundRect">
            <a:avLst/>
          </a:prstGeom>
          <a:noFill/>
          <a:ln>
            <a:solidFill>
              <a:srgbClr val="7796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스마트</a:t>
            </a:r>
            <a:endParaRPr lang="en-US" altLang="ko-KR" sz="2800" dirty="0" smtClean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시티</a:t>
            </a:r>
            <a:endParaRPr lang="ko-KR" altLang="en-US" sz="28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8763000" y="6921024"/>
            <a:ext cx="2892052" cy="1562400"/>
          </a:xfrm>
          <a:prstGeom prst="roundRect">
            <a:avLst/>
          </a:prstGeom>
          <a:noFill/>
          <a:ln>
            <a:solidFill>
              <a:srgbClr val="7796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공항</a:t>
            </a:r>
            <a:r>
              <a:rPr lang="en-US" altLang="ko-KR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, </a:t>
            </a:r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항만</a:t>
            </a:r>
            <a:endParaRPr lang="ko-KR" altLang="en-US" sz="28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12192000" y="2493000"/>
            <a:ext cx="0" cy="10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모서리가 둥근 직사각형 48"/>
          <p:cNvSpPr/>
          <p:nvPr/>
        </p:nvSpPr>
        <p:spPr>
          <a:xfrm>
            <a:off x="7965112" y="4800600"/>
            <a:ext cx="2892052" cy="1562400"/>
          </a:xfrm>
          <a:prstGeom prst="roundRect">
            <a:avLst/>
          </a:prstGeom>
          <a:noFill/>
          <a:ln>
            <a:solidFill>
              <a:srgbClr val="7796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재난안전</a:t>
            </a:r>
            <a:endParaRPr lang="en-US" altLang="ko-KR" sz="2800" dirty="0" smtClean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본부</a:t>
            </a:r>
            <a:endParaRPr lang="ko-KR" altLang="en-US" sz="28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1298948" y="8950059"/>
            <a:ext cx="2892052" cy="1562400"/>
          </a:xfrm>
          <a:prstGeom prst="roundRect">
            <a:avLst/>
          </a:prstGeom>
          <a:noFill/>
          <a:ln>
            <a:solidFill>
              <a:srgbClr val="7796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군부대</a:t>
            </a:r>
            <a:endParaRPr lang="ko-KR" altLang="en-US" sz="28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987180" y="8951752"/>
            <a:ext cx="2892052" cy="1562400"/>
          </a:xfrm>
          <a:prstGeom prst="roundRect">
            <a:avLst/>
          </a:prstGeom>
          <a:noFill/>
          <a:ln>
            <a:solidFill>
              <a:srgbClr val="7796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민간</a:t>
            </a:r>
            <a:endParaRPr lang="en-US" altLang="ko-KR" sz="2800" dirty="0" smtClean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보안업체</a:t>
            </a:r>
            <a:endParaRPr lang="ko-KR" altLang="en-US" sz="28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641470" y="10553822"/>
            <a:ext cx="2892052" cy="1562400"/>
          </a:xfrm>
          <a:prstGeom prst="roundRect">
            <a:avLst/>
          </a:prstGeom>
          <a:noFill/>
          <a:ln>
            <a:solidFill>
              <a:srgbClr val="7796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800" dirty="0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행사</a:t>
            </a:r>
            <a:endParaRPr lang="en-US" altLang="ko-KR" sz="2800" dirty="0" smtClean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algn="r"/>
            <a:r>
              <a:rPr lang="ko-KR" altLang="en-US" sz="2800" dirty="0" err="1" smtClean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운영사</a:t>
            </a:r>
            <a:endParaRPr lang="ko-KR" altLang="en-US" sz="28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6" name="직선 연결선 5"/>
          <p:cNvCxnSpPr>
            <a:stCxn id="4" idx="3"/>
            <a:endCxn id="3" idx="1"/>
          </p:cNvCxnSpPr>
          <p:nvPr/>
        </p:nvCxnSpPr>
        <p:spPr>
          <a:xfrm>
            <a:off x="4176575" y="5581800"/>
            <a:ext cx="790864" cy="790411"/>
          </a:xfrm>
          <a:prstGeom prst="line">
            <a:avLst/>
          </a:prstGeom>
          <a:ln w="825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>
            <a:stCxn id="46" idx="3"/>
            <a:endCxn id="3" idx="2"/>
          </p:cNvCxnSpPr>
          <p:nvPr/>
        </p:nvCxnSpPr>
        <p:spPr>
          <a:xfrm flipV="1">
            <a:off x="3490775" y="7492268"/>
            <a:ext cx="1012721" cy="209956"/>
          </a:xfrm>
          <a:prstGeom prst="line">
            <a:avLst/>
          </a:prstGeom>
          <a:ln w="825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>
            <a:stCxn id="50" idx="3"/>
            <a:endCxn id="3" idx="3"/>
          </p:cNvCxnSpPr>
          <p:nvPr/>
        </p:nvCxnSpPr>
        <p:spPr>
          <a:xfrm flipV="1">
            <a:off x="4191000" y="8612325"/>
            <a:ext cx="776439" cy="1118934"/>
          </a:xfrm>
          <a:prstGeom prst="line">
            <a:avLst/>
          </a:prstGeom>
          <a:ln w="825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>
            <a:stCxn id="3" idx="5"/>
            <a:endCxn id="51" idx="1"/>
          </p:cNvCxnSpPr>
          <p:nvPr/>
        </p:nvCxnSpPr>
        <p:spPr>
          <a:xfrm>
            <a:off x="7207553" y="8612325"/>
            <a:ext cx="779627" cy="1120627"/>
          </a:xfrm>
          <a:prstGeom prst="line">
            <a:avLst/>
          </a:prstGeom>
          <a:ln w="825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>
            <a:stCxn id="3" idx="6"/>
            <a:endCxn id="47" idx="1"/>
          </p:cNvCxnSpPr>
          <p:nvPr/>
        </p:nvCxnSpPr>
        <p:spPr>
          <a:xfrm>
            <a:off x="7671496" y="7492268"/>
            <a:ext cx="1091504" cy="209956"/>
          </a:xfrm>
          <a:prstGeom prst="line">
            <a:avLst/>
          </a:prstGeom>
          <a:ln w="825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>
            <a:stCxn id="3" idx="4"/>
            <a:endCxn id="52" idx="0"/>
          </p:cNvCxnSpPr>
          <p:nvPr/>
        </p:nvCxnSpPr>
        <p:spPr>
          <a:xfrm>
            <a:off x="6087496" y="9076268"/>
            <a:ext cx="0" cy="1477554"/>
          </a:xfrm>
          <a:prstGeom prst="line">
            <a:avLst/>
          </a:prstGeom>
          <a:ln w="825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>
            <a:endCxn id="3" idx="7"/>
          </p:cNvCxnSpPr>
          <p:nvPr/>
        </p:nvCxnSpPr>
        <p:spPr>
          <a:xfrm flipH="1">
            <a:off x="7207553" y="5581800"/>
            <a:ext cx="757559" cy="790411"/>
          </a:xfrm>
          <a:prstGeom prst="line">
            <a:avLst/>
          </a:prstGeom>
          <a:ln w="825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모서리가 둥근 직사각형 86"/>
          <p:cNvSpPr/>
          <p:nvPr/>
        </p:nvSpPr>
        <p:spPr>
          <a:xfrm>
            <a:off x="1013460" y="2838470"/>
            <a:ext cx="4777740" cy="76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3. </a:t>
            </a:r>
            <a:r>
              <a:rPr lang="ko-KR" altLang="en-US" sz="36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비즈니스 실무 확장성</a:t>
            </a:r>
            <a:endParaRPr lang="ko-KR" altLang="en-US" sz="3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13106400" y="2838470"/>
            <a:ext cx="4343400" cy="76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4. </a:t>
            </a:r>
            <a:r>
              <a:rPr lang="ko-KR" altLang="en-US" sz="3600" dirty="0" smtClean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산출물의 기대 효용</a:t>
            </a:r>
            <a:endParaRPr lang="ko-KR" altLang="en-US" sz="3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776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그룹 34"/>
          <p:cNvGrpSpPr/>
          <p:nvPr/>
        </p:nvGrpSpPr>
        <p:grpSpPr>
          <a:xfrm>
            <a:off x="1028700" y="1028700"/>
            <a:ext cx="7219001" cy="1204431"/>
            <a:chOff x="1028700" y="1028700"/>
            <a:chExt cx="7219001" cy="1204431"/>
          </a:xfrm>
        </p:grpSpPr>
        <p:sp>
          <p:nvSpPr>
            <p:cNvPr id="36" name="TextBox 6"/>
            <p:cNvSpPr txBox="1"/>
            <p:nvPr/>
          </p:nvSpPr>
          <p:spPr>
            <a:xfrm>
              <a:off x="1439582" y="1028700"/>
              <a:ext cx="6808119" cy="9825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979"/>
                </a:lnSpc>
                <a:spcBef>
                  <a:spcPct val="0"/>
                </a:spcBef>
              </a:pP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요구사항 명세서</a:t>
              </a:r>
              <a:endParaRPr lang="en-US" sz="6000" b="1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endParaRPr>
            </a:p>
          </p:txBody>
        </p:sp>
        <p:grpSp>
          <p:nvGrpSpPr>
            <p:cNvPr id="37" name="Group 7"/>
            <p:cNvGrpSpPr/>
            <p:nvPr/>
          </p:nvGrpSpPr>
          <p:grpSpPr>
            <a:xfrm>
              <a:off x="1028700" y="1028700"/>
              <a:ext cx="132273" cy="1204431"/>
              <a:chOff x="0" y="0"/>
              <a:chExt cx="40474" cy="368545"/>
            </a:xfrm>
          </p:grpSpPr>
          <p:sp>
            <p:nvSpPr>
              <p:cNvPr id="38" name="Freeform 8"/>
              <p:cNvSpPr/>
              <p:nvPr/>
            </p:nvSpPr>
            <p:spPr>
              <a:xfrm>
                <a:off x="0" y="0"/>
                <a:ext cx="40474" cy="368545"/>
              </a:xfrm>
              <a:custGeom>
                <a:avLst/>
                <a:gdLst/>
                <a:ahLst/>
                <a:cxnLst/>
                <a:rect l="l" t="t" r="r" b="b"/>
                <a:pathLst>
                  <a:path w="40474" h="368545">
                    <a:moveTo>
                      <a:pt x="0" y="0"/>
                    </a:moveTo>
                    <a:lnTo>
                      <a:pt x="40474" y="0"/>
                    </a:lnTo>
                    <a:lnTo>
                      <a:pt x="40474" y="368545"/>
                    </a:lnTo>
                    <a:lnTo>
                      <a:pt x="0" y="368545"/>
                    </a:lnTo>
                    <a:close/>
                  </a:path>
                </a:pathLst>
              </a:custGeom>
              <a:solidFill>
                <a:srgbClr val="2A59C5"/>
              </a:solidFill>
            </p:spPr>
          </p:sp>
          <p:sp>
            <p:nvSpPr>
              <p:cNvPr id="39" name="TextBox 9"/>
              <p:cNvSpPr txBox="1"/>
              <p:nvPr/>
            </p:nvSpPr>
            <p:spPr>
              <a:xfrm>
                <a:off x="0" y="-38100"/>
                <a:ext cx="40474" cy="4066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sp>
        <p:nvSpPr>
          <p:cNvPr id="3" name="모서리가 둥근 직사각형 2"/>
          <p:cNvSpPr/>
          <p:nvPr/>
        </p:nvSpPr>
        <p:spPr>
          <a:xfrm>
            <a:off x="520700" y="2667000"/>
            <a:ext cx="23355300" cy="10045701"/>
          </a:xfrm>
          <a:prstGeom prst="roundRect">
            <a:avLst>
              <a:gd name="adj" fmla="val 4579"/>
            </a:avLst>
          </a:prstGeom>
          <a:noFill/>
          <a:ln w="38100"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Picture 2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6200" y="13138150"/>
            <a:ext cx="245364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84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그룹 34"/>
          <p:cNvGrpSpPr/>
          <p:nvPr/>
        </p:nvGrpSpPr>
        <p:grpSpPr>
          <a:xfrm>
            <a:off x="1028700" y="1028700"/>
            <a:ext cx="7219001" cy="1204431"/>
            <a:chOff x="1028700" y="1028700"/>
            <a:chExt cx="7219001" cy="1204431"/>
          </a:xfrm>
        </p:grpSpPr>
        <p:sp>
          <p:nvSpPr>
            <p:cNvPr id="36" name="TextBox 6"/>
            <p:cNvSpPr txBox="1"/>
            <p:nvPr/>
          </p:nvSpPr>
          <p:spPr>
            <a:xfrm>
              <a:off x="1439582" y="1028700"/>
              <a:ext cx="6808119" cy="102592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979"/>
                </a:lnSpc>
                <a:spcBef>
                  <a:spcPct val="0"/>
                </a:spcBef>
              </a:pP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기능 명세서</a:t>
              </a:r>
              <a:endParaRPr lang="en-US" sz="6000" b="1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endParaRPr>
            </a:p>
          </p:txBody>
        </p:sp>
        <p:grpSp>
          <p:nvGrpSpPr>
            <p:cNvPr id="37" name="Group 7"/>
            <p:cNvGrpSpPr/>
            <p:nvPr/>
          </p:nvGrpSpPr>
          <p:grpSpPr>
            <a:xfrm>
              <a:off x="1028700" y="1028700"/>
              <a:ext cx="132273" cy="1204431"/>
              <a:chOff x="0" y="0"/>
              <a:chExt cx="40474" cy="368545"/>
            </a:xfrm>
          </p:grpSpPr>
          <p:sp>
            <p:nvSpPr>
              <p:cNvPr id="38" name="Freeform 8"/>
              <p:cNvSpPr/>
              <p:nvPr/>
            </p:nvSpPr>
            <p:spPr>
              <a:xfrm>
                <a:off x="0" y="0"/>
                <a:ext cx="40474" cy="368545"/>
              </a:xfrm>
              <a:custGeom>
                <a:avLst/>
                <a:gdLst/>
                <a:ahLst/>
                <a:cxnLst/>
                <a:rect l="l" t="t" r="r" b="b"/>
                <a:pathLst>
                  <a:path w="40474" h="368545">
                    <a:moveTo>
                      <a:pt x="0" y="0"/>
                    </a:moveTo>
                    <a:lnTo>
                      <a:pt x="40474" y="0"/>
                    </a:lnTo>
                    <a:lnTo>
                      <a:pt x="40474" y="368545"/>
                    </a:lnTo>
                    <a:lnTo>
                      <a:pt x="0" y="368545"/>
                    </a:lnTo>
                    <a:close/>
                  </a:path>
                </a:pathLst>
              </a:custGeom>
              <a:solidFill>
                <a:srgbClr val="2A59C5"/>
              </a:solidFill>
            </p:spPr>
          </p:sp>
          <p:sp>
            <p:nvSpPr>
              <p:cNvPr id="39" name="TextBox 9"/>
              <p:cNvSpPr txBox="1"/>
              <p:nvPr/>
            </p:nvSpPr>
            <p:spPr>
              <a:xfrm>
                <a:off x="0" y="-38100"/>
                <a:ext cx="40474" cy="4066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pic>
        <p:nvPicPr>
          <p:cNvPr id="10" name="Picture 2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6200" y="13138150"/>
            <a:ext cx="24536400" cy="78105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/>
        </p:nvSpPr>
        <p:spPr>
          <a:xfrm>
            <a:off x="520700" y="2667000"/>
            <a:ext cx="23355300" cy="10045701"/>
          </a:xfrm>
          <a:prstGeom prst="roundRect">
            <a:avLst>
              <a:gd name="adj" fmla="val 4579"/>
            </a:avLst>
          </a:prstGeom>
          <a:noFill/>
          <a:ln w="38100"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75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478473" y="3297936"/>
            <a:ext cx="3803904" cy="9046464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63500">
            <a:solidFill>
              <a:srgbClr val="F25577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19600" y="3276600"/>
            <a:ext cx="862777" cy="351670"/>
          </a:xfrm>
          <a:prstGeom prst="rect">
            <a:avLst/>
          </a:prstGeom>
          <a:solidFill>
            <a:srgbClr val="F25577"/>
          </a:solidFill>
          <a:ln w="12700">
            <a:solidFill>
              <a:srgbClr val="F255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8507" y="4111065"/>
            <a:ext cx="2527911" cy="266808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F255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91452" y="7490634"/>
            <a:ext cx="3177945" cy="60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400" b="1" dirty="0" smtClean="0">
                <a:solidFill>
                  <a:srgbClr val="222A36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팀장</a:t>
            </a:r>
            <a:endParaRPr lang="en-US" sz="44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791452" y="8252942"/>
            <a:ext cx="3177945" cy="55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6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박정호</a:t>
            </a:r>
            <a:endParaRPr lang="en-US" sz="3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67377" y="9574277"/>
            <a:ext cx="3226096" cy="635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25577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기획·PM</a:t>
            </a:r>
            <a:endParaRPr lang="en-US" sz="40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911829" y="10666920"/>
            <a:ext cx="2937192" cy="147379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프로젝트 리드</a:t>
            </a:r>
            <a:endParaRPr lang="en-US" altLang="ko-KR" sz="3200" dirty="0" smtClean="0">
              <a:solidFill>
                <a:srgbClr val="66708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Noto Sans CJK KR" pitchFamily="34" charset="-120"/>
            </a:endParaRPr>
          </a:p>
          <a:p>
            <a:pPr algn="ctr"/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영상 분석</a:t>
            </a:r>
            <a:endParaRPr lang="en-US" sz="32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884261" y="3297936"/>
            <a:ext cx="3803904" cy="9046464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63500">
            <a:solidFill>
              <a:srgbClr val="FF9D3F">
                <a:alpha val="8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45528" y="3276600"/>
            <a:ext cx="842637" cy="330334"/>
          </a:xfrm>
          <a:prstGeom prst="rect">
            <a:avLst/>
          </a:prstGeom>
          <a:solidFill>
            <a:srgbClr val="FF9D3F"/>
          </a:solidFill>
          <a:ln w="12700">
            <a:solidFill>
              <a:srgbClr val="FF9D3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34295" y="4111065"/>
            <a:ext cx="2527911" cy="266808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FF9D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97240" y="7490634"/>
            <a:ext cx="3177945" cy="60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 err="1" smtClean="0">
                <a:solidFill>
                  <a:srgbClr val="222A36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팀원</a:t>
            </a:r>
            <a:endParaRPr lang="en-US" sz="44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97240" y="8252942"/>
            <a:ext cx="3177945" cy="55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6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김태준</a:t>
            </a:r>
            <a:endParaRPr lang="en-US" sz="3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173165" y="9574277"/>
            <a:ext cx="3226096" cy="635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9D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프론트/UI</a:t>
            </a:r>
            <a:endParaRPr lang="en-US" sz="40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317617" y="10666920"/>
            <a:ext cx="2937192" cy="147379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지도</a:t>
            </a:r>
            <a:endParaRPr lang="en-US" altLang="ko-KR" sz="3200" dirty="0" smtClean="0">
              <a:solidFill>
                <a:srgbClr val="66708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Noto Sans CJK KR" pitchFamily="34" charset="-120"/>
            </a:endParaRPr>
          </a:p>
          <a:p>
            <a:pPr algn="ctr"/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동선 추적</a:t>
            </a:r>
            <a:endParaRPr lang="en-US" altLang="ko-KR" sz="3200" dirty="0" smtClean="0">
              <a:solidFill>
                <a:srgbClr val="66708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Noto Sans CJK KR" pitchFamily="34" charset="-12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10290048" y="3297936"/>
            <a:ext cx="3803904" cy="9046464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63500">
            <a:solidFill>
              <a:srgbClr val="46C96D">
                <a:alpha val="88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3251315" y="3276600"/>
            <a:ext cx="842637" cy="330334"/>
          </a:xfrm>
          <a:prstGeom prst="rect">
            <a:avLst/>
          </a:prstGeom>
          <a:solidFill>
            <a:srgbClr val="46C96D"/>
          </a:solidFill>
          <a:ln w="12700">
            <a:solidFill>
              <a:srgbClr val="46C96D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940082" y="4111065"/>
            <a:ext cx="2527911" cy="266808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46C96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603027" y="7490634"/>
            <a:ext cx="3177945" cy="60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 err="1" smtClean="0">
                <a:solidFill>
                  <a:srgbClr val="222A36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팀원</a:t>
            </a:r>
            <a:endParaRPr lang="en-US" sz="44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10603027" y="8252942"/>
            <a:ext cx="3177945" cy="55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600" dirty="0" err="1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이규찬</a:t>
            </a:r>
            <a:endParaRPr lang="en-US" sz="3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10578952" y="9574277"/>
            <a:ext cx="3226096" cy="635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46C96D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백엔드</a:t>
            </a:r>
            <a:endParaRPr lang="en-US" sz="40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10723404" y="10666920"/>
            <a:ext cx="2937192" cy="147379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회원 </a:t>
            </a:r>
            <a:endParaRPr lang="en-US" altLang="ko-KR" sz="3200" dirty="0" smtClean="0">
              <a:solidFill>
                <a:srgbClr val="66708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Noto Sans CJK KR" pitchFamily="34" charset="-120"/>
            </a:endParaRPr>
          </a:p>
          <a:p>
            <a:pPr algn="ctr"/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계정 관리</a:t>
            </a:r>
            <a:r>
              <a:rPr 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, </a:t>
            </a:r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검증</a:t>
            </a:r>
            <a:endParaRPr lang="en-US" sz="32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14695836" y="3297936"/>
            <a:ext cx="3803904" cy="9046464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63500">
            <a:solidFill>
              <a:srgbClr val="2F66E8">
                <a:alpha val="8800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7657103" y="3276600"/>
            <a:ext cx="842637" cy="330334"/>
          </a:xfrm>
          <a:prstGeom prst="rect">
            <a:avLst/>
          </a:prstGeom>
          <a:solidFill>
            <a:srgbClr val="2F66E8"/>
          </a:solidFill>
          <a:ln w="12700">
            <a:solidFill>
              <a:srgbClr val="2F66E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5345870" y="4111065"/>
            <a:ext cx="2527911" cy="2668080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 w="12700">
            <a:solidFill>
              <a:srgbClr val="2F66E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5008815" y="7490634"/>
            <a:ext cx="3177945" cy="60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 err="1" smtClean="0">
                <a:solidFill>
                  <a:srgbClr val="222A36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팀원</a:t>
            </a:r>
            <a:endParaRPr lang="en-US" sz="44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15008815" y="8252942"/>
            <a:ext cx="3177945" cy="55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6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이윤호</a:t>
            </a:r>
            <a:endParaRPr lang="en-US" sz="3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14984740" y="9574277"/>
            <a:ext cx="3226096" cy="635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2F66E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AI·영상</a:t>
            </a:r>
            <a:endParaRPr lang="en-US" sz="40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15129192" y="10666920"/>
            <a:ext cx="2937192" cy="147379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로그 </a:t>
            </a:r>
            <a:endParaRPr lang="en-US" altLang="ko-KR" sz="3200" dirty="0" smtClean="0">
              <a:solidFill>
                <a:srgbClr val="66708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Noto Sans CJK KR" pitchFamily="34" charset="-120"/>
            </a:endParaRPr>
          </a:p>
          <a:p>
            <a:pPr algn="ctr"/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분석</a:t>
            </a:r>
            <a:r>
              <a:rPr lang="en-US" altLang="ko-KR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,</a:t>
            </a:r>
            <a:r>
              <a:rPr lang="en-US" altLang="ko-KR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 </a:t>
            </a:r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가공</a:t>
            </a:r>
            <a:endParaRPr lang="en-US" sz="32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3" name="Shape 37"/>
          <p:cNvSpPr/>
          <p:nvPr/>
        </p:nvSpPr>
        <p:spPr>
          <a:xfrm>
            <a:off x="19101623" y="3297936"/>
            <a:ext cx="3803904" cy="9046464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63500">
            <a:solidFill>
              <a:srgbClr val="865CFF">
                <a:alpha val="8800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22062890" y="3276600"/>
            <a:ext cx="842637" cy="330334"/>
          </a:xfrm>
          <a:prstGeom prst="rect">
            <a:avLst/>
          </a:prstGeom>
          <a:solidFill>
            <a:srgbClr val="865CFF"/>
          </a:solidFill>
          <a:ln w="12700">
            <a:solidFill>
              <a:srgbClr val="865CFF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9751657" y="4111065"/>
            <a:ext cx="2527911" cy="266808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12700">
            <a:solidFill>
              <a:srgbClr val="865CFF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19414602" y="7490634"/>
            <a:ext cx="3177945" cy="60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 err="1" smtClean="0">
                <a:solidFill>
                  <a:srgbClr val="222A36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팀원</a:t>
            </a:r>
            <a:endParaRPr lang="en-US" sz="44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8" name="Text 41"/>
          <p:cNvSpPr/>
          <p:nvPr/>
        </p:nvSpPr>
        <p:spPr>
          <a:xfrm>
            <a:off x="19414602" y="8252942"/>
            <a:ext cx="3177945" cy="55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600" dirty="0" err="1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장동근</a:t>
            </a:r>
            <a:endParaRPr lang="en-US" sz="3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9" name="Text 42"/>
          <p:cNvSpPr/>
          <p:nvPr/>
        </p:nvSpPr>
        <p:spPr>
          <a:xfrm>
            <a:off x="19390527" y="9574277"/>
            <a:ext cx="3226096" cy="635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865CF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문서·통합</a:t>
            </a:r>
            <a:endParaRPr lang="en-US" sz="40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50" name="Text 43"/>
          <p:cNvSpPr/>
          <p:nvPr/>
        </p:nvSpPr>
        <p:spPr>
          <a:xfrm>
            <a:off x="19534979" y="10666920"/>
            <a:ext cx="2937192" cy="147379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endParaRPr lang="en-US" sz="32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28700" y="1028700"/>
            <a:ext cx="7219001" cy="1204431"/>
            <a:chOff x="1028700" y="1028700"/>
            <a:chExt cx="7219001" cy="1204431"/>
          </a:xfrm>
        </p:grpSpPr>
        <p:sp>
          <p:nvSpPr>
            <p:cNvPr id="53" name="TextBox 6"/>
            <p:cNvSpPr txBox="1"/>
            <p:nvPr/>
          </p:nvSpPr>
          <p:spPr>
            <a:xfrm>
              <a:off x="1439582" y="1028700"/>
              <a:ext cx="6808119" cy="9825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979"/>
                </a:lnSpc>
                <a:spcBef>
                  <a:spcPct val="0"/>
                </a:spcBef>
              </a:pPr>
              <a:r>
                <a:rPr lang="ko-KR" altLang="en-US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팀 소개</a:t>
              </a:r>
              <a:r>
                <a:rPr lang="en-US" altLang="ko-KR" sz="6000" b="1" dirty="0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: </a:t>
              </a:r>
              <a:r>
                <a:rPr lang="ko-KR" altLang="en-US" sz="6000" b="1" dirty="0" err="1" smtClean="0">
                  <a:solidFill>
                    <a:srgbClr val="282828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  <a:cs typeface="프리텐다드 Bold"/>
                  <a:sym typeface="프리텐다드 Bold"/>
                </a:rPr>
                <a:t>딱코</a:t>
              </a:r>
              <a:endParaRPr lang="en-US" sz="6000" b="1" dirty="0">
                <a:solidFill>
                  <a:srgbClr val="282828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프리텐다드 Bold"/>
                <a:sym typeface="프리텐다드 Bold"/>
              </a:endParaRPr>
            </a:p>
          </p:txBody>
        </p:sp>
        <p:grpSp>
          <p:nvGrpSpPr>
            <p:cNvPr id="54" name="Group 7"/>
            <p:cNvGrpSpPr/>
            <p:nvPr/>
          </p:nvGrpSpPr>
          <p:grpSpPr>
            <a:xfrm>
              <a:off x="1028700" y="1028700"/>
              <a:ext cx="132273" cy="1204431"/>
              <a:chOff x="0" y="0"/>
              <a:chExt cx="40474" cy="368545"/>
            </a:xfrm>
          </p:grpSpPr>
          <p:sp>
            <p:nvSpPr>
              <p:cNvPr id="55" name="Freeform 8"/>
              <p:cNvSpPr/>
              <p:nvPr/>
            </p:nvSpPr>
            <p:spPr>
              <a:xfrm>
                <a:off x="0" y="0"/>
                <a:ext cx="40474" cy="368545"/>
              </a:xfrm>
              <a:custGeom>
                <a:avLst/>
                <a:gdLst/>
                <a:ahLst/>
                <a:cxnLst/>
                <a:rect l="l" t="t" r="r" b="b"/>
                <a:pathLst>
                  <a:path w="40474" h="368545">
                    <a:moveTo>
                      <a:pt x="0" y="0"/>
                    </a:moveTo>
                    <a:lnTo>
                      <a:pt x="40474" y="0"/>
                    </a:lnTo>
                    <a:lnTo>
                      <a:pt x="40474" y="368545"/>
                    </a:lnTo>
                    <a:lnTo>
                      <a:pt x="0" y="368545"/>
                    </a:lnTo>
                    <a:close/>
                  </a:path>
                </a:pathLst>
              </a:custGeom>
              <a:solidFill>
                <a:srgbClr val="2A59C5"/>
              </a:solidFill>
            </p:spPr>
          </p:sp>
          <p:sp>
            <p:nvSpPr>
              <p:cNvPr id="56" name="TextBox 9"/>
              <p:cNvSpPr txBox="1"/>
              <p:nvPr/>
            </p:nvSpPr>
            <p:spPr>
              <a:xfrm>
                <a:off x="0" y="-38100"/>
                <a:ext cx="40474" cy="4066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나눔스퀘어OTF Bold" panose="020B0600000101010101" pitchFamily="34" charset="-127"/>
                  <a:ea typeface="나눔스퀘어OTF Bold" panose="020B0600000101010101" pitchFamily="34" charset="-127"/>
                </a:endParaRPr>
              </a:p>
            </p:txBody>
          </p:sp>
        </p:grpSp>
      </p:grpSp>
      <p:sp>
        <p:nvSpPr>
          <p:cNvPr id="62" name="Text 35"/>
          <p:cNvSpPr/>
          <p:nvPr/>
        </p:nvSpPr>
        <p:spPr>
          <a:xfrm>
            <a:off x="19537128" y="10690366"/>
            <a:ext cx="2937192" cy="147379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공통 모듈 </a:t>
            </a:r>
            <a:endParaRPr lang="en-US" altLang="ko-KR" sz="3200" dirty="0" smtClean="0">
              <a:solidFill>
                <a:srgbClr val="667085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Noto Sans CJK KR" pitchFamily="34" charset="-120"/>
            </a:endParaRPr>
          </a:p>
          <a:p>
            <a:pPr algn="ctr"/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작성</a:t>
            </a:r>
            <a:r>
              <a:rPr lang="en-US" altLang="ko-KR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, </a:t>
            </a:r>
            <a:r>
              <a:rPr lang="ko-KR" altLang="en-US" sz="3200" dirty="0" smtClean="0">
                <a:solidFill>
                  <a:srgbClr val="667085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Noto Sans CJK KR" pitchFamily="34" charset="-120"/>
              </a:rPr>
              <a:t>정리</a:t>
            </a:r>
            <a:endParaRPr lang="en-US" altLang="ko-KR" sz="32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pic>
        <p:nvPicPr>
          <p:cNvPr id="63" name="Picture 24"/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6200" y="13138150"/>
            <a:ext cx="245364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538</Words>
  <Application>Microsoft Office PowerPoint</Application>
  <PresentationFormat>사용자 지정</PresentationFormat>
  <Paragraphs>153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나눔스퀘어OTF Bold</vt:lpstr>
      <vt:lpstr>Arial</vt:lpstr>
      <vt:lpstr>프리텐다드 Semi-Bold</vt:lpstr>
      <vt:lpstr>Noto Sans CJK KR</vt:lpstr>
      <vt:lpstr>프리텐다드 Medium</vt:lpstr>
      <vt:lpstr>Calibri</vt:lpstr>
      <vt:lpstr>프리텐다드</vt:lpstr>
      <vt:lpstr>프리텐다드 Bold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24</cp:revision>
  <dcterms:created xsi:type="dcterms:W3CDTF">2006-08-16T00:00:00Z</dcterms:created>
  <dcterms:modified xsi:type="dcterms:W3CDTF">2026-07-14T08:13:03Z</dcterms:modified>
</cp:coreProperties>
</file>